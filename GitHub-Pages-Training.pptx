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D111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Rectangle 2"/>
          <p:cNvSpPr/>
          <p:nvPr/>
        </p:nvSpPr>
        <p:spPr>
          <a:xfrm>
            <a:off x="-1" y="0"/>
            <a:ext cx="12188954" cy="762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6" name="Rectangle 3"/>
          <p:cNvSpPr/>
          <p:nvPr/>
        </p:nvSpPr>
        <p:spPr>
          <a:xfrm>
            <a:off x="-1" y="6781800"/>
            <a:ext cx="12188954" cy="762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7" name="TextBox 4"/>
          <p:cNvSpPr txBox="1"/>
          <p:nvPr/>
        </p:nvSpPr>
        <p:spPr>
          <a:xfrm>
            <a:off x="822960" y="1920239"/>
            <a:ext cx="7223761" cy="277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2DD4B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TRAINING SESSION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822960" y="2377439"/>
            <a:ext cx="9509761" cy="1767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58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Deploy Your First Website</a:t>
            </a:r>
          </a:p>
          <a:p>
            <a:pPr>
              <a:defRPr sz="58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to GitHub Pages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822960" y="4480559"/>
            <a:ext cx="9052561" cy="389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>
                <a:solidFill>
                  <a:srgbClr val="A8A098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Manual deployment → automated with a Claude Code skill</a:t>
            </a:r>
          </a:p>
        </p:txBody>
      </p:sp>
      <p:sp>
        <p:nvSpPr>
          <p:cNvPr id="100" name="TextBox 7"/>
          <p:cNvSpPr txBox="1"/>
          <p:nvPr/>
        </p:nvSpPr>
        <p:spPr>
          <a:xfrm>
            <a:off x="822960" y="6126479"/>
            <a:ext cx="5394961" cy="277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DDDDDD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Louis Roehrs   ·  TeleTrex  ·  Mountain View, CA</a:t>
            </a:r>
          </a:p>
        </p:txBody>
      </p:sp>
      <p:sp>
        <p:nvSpPr>
          <p:cNvPr id="101" name="TextBox 8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4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5" name="TextBox 3"/>
          <p:cNvSpPr txBox="1"/>
          <p:nvPr/>
        </p:nvSpPr>
        <p:spPr>
          <a:xfrm>
            <a:off x="777239" y="384047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What we'll cover today</a:t>
            </a:r>
          </a:p>
        </p:txBody>
      </p:sp>
      <p:sp>
        <p:nvSpPr>
          <p:cNvPr id="106" name="Rectangle 4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7" name="TextBox 5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08" name="Rectangle 6"/>
          <p:cNvSpPr/>
          <p:nvPr/>
        </p:nvSpPr>
        <p:spPr>
          <a:xfrm>
            <a:off x="731519" y="1371600"/>
            <a:ext cx="457201" cy="4572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9" name="TextBox 7"/>
          <p:cNvSpPr txBox="1"/>
          <p:nvPr/>
        </p:nvSpPr>
        <p:spPr>
          <a:xfrm>
            <a:off x="777239" y="1380744"/>
            <a:ext cx="3657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10" name="TextBox 8"/>
          <p:cNvSpPr txBox="1"/>
          <p:nvPr/>
        </p:nvSpPr>
        <p:spPr>
          <a:xfrm>
            <a:off x="1417319" y="1371599"/>
            <a:ext cx="9509762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Part 1 — Manual deployment</a:t>
            </a:r>
          </a:p>
        </p:txBody>
      </p:sp>
      <p:sp>
        <p:nvSpPr>
          <p:cNvPr id="111" name="TextBox 9"/>
          <p:cNvSpPr txBox="1"/>
          <p:nvPr/>
        </p:nvSpPr>
        <p:spPr>
          <a:xfrm>
            <a:off x="1417319" y="1792223"/>
            <a:ext cx="950976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Create a repo, push your code, enable GitHub Pages step by step</a:t>
            </a:r>
          </a:p>
        </p:txBody>
      </p:sp>
      <p:sp>
        <p:nvSpPr>
          <p:cNvPr id="112" name="Rectangle 10"/>
          <p:cNvSpPr/>
          <p:nvPr/>
        </p:nvSpPr>
        <p:spPr>
          <a:xfrm>
            <a:off x="731519" y="2331720"/>
            <a:ext cx="457201" cy="457201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3" name="TextBox 11"/>
          <p:cNvSpPr txBox="1"/>
          <p:nvPr/>
        </p:nvSpPr>
        <p:spPr>
          <a:xfrm>
            <a:off x="777239" y="2340864"/>
            <a:ext cx="36576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 sz="2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14" name="TextBox 12"/>
          <p:cNvSpPr txBox="1"/>
          <p:nvPr/>
        </p:nvSpPr>
        <p:spPr>
          <a:xfrm>
            <a:off x="1417319" y="2331720"/>
            <a:ext cx="9509762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Part 2 — Automate it</a:t>
            </a:r>
          </a:p>
        </p:txBody>
      </p:sp>
      <p:sp>
        <p:nvSpPr>
          <p:cNvPr id="115" name="TextBox 13"/>
          <p:cNvSpPr txBox="1"/>
          <p:nvPr/>
        </p:nvSpPr>
        <p:spPr>
          <a:xfrm>
            <a:off x="1417319" y="2752344"/>
            <a:ext cx="9509762" cy="314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Build a /deploy-github-pages Claude Code skill that does all of Part 1 in one command</a:t>
            </a:r>
          </a:p>
        </p:txBody>
      </p:sp>
      <p:sp>
        <p:nvSpPr>
          <p:cNvPr id="116" name="TextBox 14"/>
          <p:cNvSpPr txBox="1"/>
          <p:nvPr/>
        </p:nvSpPr>
        <p:spPr>
          <a:xfrm>
            <a:off x="777239" y="6035040"/>
            <a:ext cx="9966961" cy="289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4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Prerequisites: a GitHub account, Git installed, and a text editor.</a:t>
            </a:r>
          </a:p>
        </p:txBody>
      </p:sp>
      <p:sp>
        <p:nvSpPr>
          <p:cNvPr id="117" name="TextBox 15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3"/>
          <p:cNvSpPr txBox="1"/>
          <p:nvPr/>
        </p:nvSpPr>
        <p:spPr>
          <a:xfrm>
            <a:off x="822960" y="2011679"/>
            <a:ext cx="3566161" cy="1132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7200">
                <a:solidFill>
                  <a:srgbClr val="0A4A45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PART 1</a:t>
            </a:r>
          </a:p>
        </p:txBody>
      </p:sp>
      <p:sp>
        <p:nvSpPr>
          <p:cNvPr id="121" name="TextBox 4"/>
          <p:cNvSpPr txBox="1"/>
          <p:nvPr/>
        </p:nvSpPr>
        <p:spPr>
          <a:xfrm>
            <a:off x="822960" y="2926079"/>
            <a:ext cx="9052561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56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The Manual Way</a:t>
            </a:r>
          </a:p>
        </p:txBody>
      </p:sp>
      <p:sp>
        <p:nvSpPr>
          <p:cNvPr id="122" name="TextBox 5"/>
          <p:cNvSpPr txBox="1"/>
          <p:nvPr/>
        </p:nvSpPr>
        <p:spPr>
          <a:xfrm>
            <a:off x="822960" y="4114799"/>
            <a:ext cx="8138161" cy="426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solidFill>
                  <a:srgbClr val="2DD4B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Six steps from zero to a live website</a:t>
            </a:r>
          </a:p>
        </p:txBody>
      </p:sp>
      <p:sp>
        <p:nvSpPr>
          <p:cNvPr id="123" name="TextBox 6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  <p:sp>
        <p:nvSpPr>
          <p:cNvPr id="124" name="TextBox 27"/>
          <p:cNvSpPr txBox="1"/>
          <p:nvPr/>
        </p:nvSpPr>
        <p:spPr>
          <a:xfrm>
            <a:off x="274320" y="6492240"/>
            <a:ext cx="1540663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BACKGROUND</a:t>
            </a:r>
          </a:p>
        </p:txBody>
      </p:sp>
      <p:sp>
        <p:nvSpPr>
          <p:cNvPr id="129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What is GitHub Pages?</a:t>
            </a:r>
          </a:p>
        </p:txBody>
      </p:sp>
      <p:sp>
        <p:nvSpPr>
          <p:cNvPr id="130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2" name="TextBox 7"/>
          <p:cNvSpPr txBox="1"/>
          <p:nvPr/>
        </p:nvSpPr>
        <p:spPr>
          <a:xfrm>
            <a:off x="700398" y="1421931"/>
            <a:ext cx="7150622" cy="2548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Free static website hosting provided by GitHub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Serves HTML, CSS, JS and images directly from a repository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Instant HTTPS — no configuration needed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Custom domains supported (CNAME file)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Deploys automatically on every push to your chosen branch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Free for public repos; private repos need GitHub Pro or Team</a:t>
            </a:r>
          </a:p>
        </p:txBody>
      </p:sp>
      <p:sp>
        <p:nvSpPr>
          <p:cNvPr id="133" name="Rectangle 8"/>
          <p:cNvSpPr/>
          <p:nvPr/>
        </p:nvSpPr>
        <p:spPr>
          <a:xfrm>
            <a:off x="761264" y="4942277"/>
            <a:ext cx="10799107" cy="1388609"/>
          </a:xfrm>
          <a:prstGeom prst="rect">
            <a:avLst/>
          </a:prstGeom>
          <a:solidFill>
            <a:srgbClr val="F0FDFA"/>
          </a:solidFill>
          <a:ln>
            <a:solidFill>
              <a:srgbClr val="E7E5E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4" name="Rectangle 9"/>
          <p:cNvSpPr/>
          <p:nvPr/>
        </p:nvSpPr>
        <p:spPr>
          <a:xfrm>
            <a:off x="731611" y="4923067"/>
            <a:ext cx="45400" cy="142703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10"/>
          <p:cNvSpPr txBox="1"/>
          <p:nvPr/>
        </p:nvSpPr>
        <p:spPr>
          <a:xfrm>
            <a:off x="850940" y="4983510"/>
            <a:ext cx="2743201" cy="289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Your URL will be</a:t>
            </a:r>
          </a:p>
        </p:txBody>
      </p:sp>
      <p:sp>
        <p:nvSpPr>
          <p:cNvPr id="136" name="TextBox 11"/>
          <p:cNvSpPr txBox="1"/>
          <p:nvPr/>
        </p:nvSpPr>
        <p:spPr>
          <a:xfrm>
            <a:off x="870150" y="5311461"/>
            <a:ext cx="6296224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https://username.github.io/repo-name</a:t>
            </a:r>
          </a:p>
        </p:txBody>
      </p:sp>
      <p:sp>
        <p:nvSpPr>
          <p:cNvPr id="137" name="TextBox 12"/>
          <p:cNvSpPr txBox="1"/>
          <p:nvPr/>
        </p:nvSpPr>
        <p:spPr>
          <a:xfrm>
            <a:off x="901740" y="5922104"/>
            <a:ext cx="2743201" cy="277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3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https://acme.github.io/landing</a:t>
            </a:r>
          </a:p>
        </p:txBody>
      </p:sp>
      <p:sp>
        <p:nvSpPr>
          <p:cNvPr id="138" name="TextBox 13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1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2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PREREQUISITES</a:t>
            </a:r>
          </a:p>
        </p:txBody>
      </p:sp>
      <p:sp>
        <p:nvSpPr>
          <p:cNvPr id="143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Before you start</a:t>
            </a:r>
          </a:p>
        </p:txBody>
      </p:sp>
      <p:sp>
        <p:nvSpPr>
          <p:cNvPr id="144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5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46" name="Rectangle 7"/>
          <p:cNvSpPr/>
          <p:nvPr/>
        </p:nvSpPr>
        <p:spPr>
          <a:xfrm>
            <a:off x="731519" y="1377174"/>
            <a:ext cx="54865" cy="274321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7" name="TextBox 8"/>
          <p:cNvSpPr txBox="1"/>
          <p:nvPr/>
        </p:nvSpPr>
        <p:spPr>
          <a:xfrm>
            <a:off x="1005840" y="1325880"/>
            <a:ext cx="3749040" cy="376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GitHub account</a:t>
            </a:r>
          </a:p>
        </p:txBody>
      </p:sp>
      <p:sp>
        <p:nvSpPr>
          <p:cNvPr id="148" name="TextBox 9"/>
          <p:cNvSpPr txBox="1"/>
          <p:nvPr/>
        </p:nvSpPr>
        <p:spPr>
          <a:xfrm>
            <a:off x="4378356" y="1419098"/>
            <a:ext cx="65836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57534E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github.com/signup — free</a:t>
            </a:r>
          </a:p>
        </p:txBody>
      </p:sp>
      <p:sp>
        <p:nvSpPr>
          <p:cNvPr id="149" name="Rectangle 10"/>
          <p:cNvSpPr/>
          <p:nvPr/>
        </p:nvSpPr>
        <p:spPr>
          <a:xfrm>
            <a:off x="731519" y="1764792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0" name="Rectangle 11"/>
          <p:cNvSpPr/>
          <p:nvPr/>
        </p:nvSpPr>
        <p:spPr>
          <a:xfrm>
            <a:off x="731519" y="2200134"/>
            <a:ext cx="54865" cy="274321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1" name="TextBox 12"/>
          <p:cNvSpPr txBox="1"/>
          <p:nvPr/>
        </p:nvSpPr>
        <p:spPr>
          <a:xfrm>
            <a:off x="1005840" y="2148839"/>
            <a:ext cx="3749040" cy="376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</a:t>
            </a:r>
          </a:p>
        </p:txBody>
      </p:sp>
      <p:sp>
        <p:nvSpPr>
          <p:cNvPr id="152" name="TextBox 13"/>
          <p:cNvSpPr txBox="1"/>
          <p:nvPr/>
        </p:nvSpPr>
        <p:spPr>
          <a:xfrm>
            <a:off x="4378356" y="2183624"/>
            <a:ext cx="65836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57534E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git-scm.com  or  brew install git</a:t>
            </a:r>
          </a:p>
        </p:txBody>
      </p:sp>
      <p:sp>
        <p:nvSpPr>
          <p:cNvPr id="153" name="Rectangle 14"/>
          <p:cNvSpPr/>
          <p:nvPr/>
        </p:nvSpPr>
        <p:spPr>
          <a:xfrm>
            <a:off x="731519" y="258775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4" name="Rectangle 15"/>
          <p:cNvSpPr/>
          <p:nvPr/>
        </p:nvSpPr>
        <p:spPr>
          <a:xfrm>
            <a:off x="731519" y="3023094"/>
            <a:ext cx="54865" cy="274321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5" name="TextBox 16"/>
          <p:cNvSpPr txBox="1"/>
          <p:nvPr/>
        </p:nvSpPr>
        <p:spPr>
          <a:xfrm>
            <a:off x="1005840" y="2971800"/>
            <a:ext cx="3749040" cy="376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GitHub CLI (gh)</a:t>
            </a:r>
          </a:p>
        </p:txBody>
      </p:sp>
      <p:sp>
        <p:nvSpPr>
          <p:cNvPr id="156" name="TextBox 17"/>
          <p:cNvSpPr txBox="1"/>
          <p:nvPr/>
        </p:nvSpPr>
        <p:spPr>
          <a:xfrm>
            <a:off x="4332561" y="3006584"/>
            <a:ext cx="7224993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57534E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cli.github.com  or  brew install gh  — optional but handy</a:t>
            </a:r>
          </a:p>
        </p:txBody>
      </p:sp>
      <p:sp>
        <p:nvSpPr>
          <p:cNvPr id="157" name="Rectangle 18"/>
          <p:cNvSpPr/>
          <p:nvPr/>
        </p:nvSpPr>
        <p:spPr>
          <a:xfrm>
            <a:off x="731519" y="341071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8" name="Rectangle 19"/>
          <p:cNvSpPr/>
          <p:nvPr/>
        </p:nvSpPr>
        <p:spPr>
          <a:xfrm>
            <a:off x="731519" y="3846054"/>
            <a:ext cx="54865" cy="274321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TextBox 20"/>
          <p:cNvSpPr txBox="1"/>
          <p:nvPr/>
        </p:nvSpPr>
        <p:spPr>
          <a:xfrm>
            <a:off x="1005840" y="3794759"/>
            <a:ext cx="3749040" cy="376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 text editor</a:t>
            </a:r>
          </a:p>
        </p:txBody>
      </p:sp>
      <p:sp>
        <p:nvSpPr>
          <p:cNvPr id="160" name="TextBox 21"/>
          <p:cNvSpPr txBox="1"/>
          <p:nvPr/>
        </p:nvSpPr>
        <p:spPr>
          <a:xfrm>
            <a:off x="4378356" y="3829544"/>
            <a:ext cx="65836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57534E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VS Code, Cursor, Notepad — anything works</a:t>
            </a:r>
          </a:p>
        </p:txBody>
      </p:sp>
      <p:sp>
        <p:nvSpPr>
          <p:cNvPr id="161" name="Rectangle 22"/>
          <p:cNvSpPr/>
          <p:nvPr/>
        </p:nvSpPr>
        <p:spPr>
          <a:xfrm>
            <a:off x="731519" y="423367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2" name="Rectangle 23"/>
          <p:cNvSpPr/>
          <p:nvPr/>
        </p:nvSpPr>
        <p:spPr>
          <a:xfrm>
            <a:off x="731519" y="4669014"/>
            <a:ext cx="54865" cy="274321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3" name="TextBox 24"/>
          <p:cNvSpPr txBox="1"/>
          <p:nvPr/>
        </p:nvSpPr>
        <p:spPr>
          <a:xfrm>
            <a:off x="1005840" y="4617720"/>
            <a:ext cx="3749040" cy="3769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 terminal</a:t>
            </a:r>
          </a:p>
        </p:txBody>
      </p:sp>
      <p:sp>
        <p:nvSpPr>
          <p:cNvPr id="164" name="TextBox 25"/>
          <p:cNvSpPr txBox="1"/>
          <p:nvPr/>
        </p:nvSpPr>
        <p:spPr>
          <a:xfrm>
            <a:off x="4378356" y="4652504"/>
            <a:ext cx="65836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500">
                <a:solidFill>
                  <a:srgbClr val="57534E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Terminal.app, iTerm, Windows Terminal</a:t>
            </a:r>
          </a:p>
        </p:txBody>
      </p:sp>
      <p:sp>
        <p:nvSpPr>
          <p:cNvPr id="165" name="Rectangle 26"/>
          <p:cNvSpPr/>
          <p:nvPr/>
        </p:nvSpPr>
        <p:spPr>
          <a:xfrm>
            <a:off x="731519" y="5056632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6" name="TextBox 27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1 OF 6</a:t>
            </a:r>
          </a:p>
        </p:txBody>
      </p:sp>
      <p:sp>
        <p:nvSpPr>
          <p:cNvPr id="171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Create your HTML file</a:t>
            </a:r>
          </a:p>
        </p:txBody>
      </p:sp>
      <p:sp>
        <p:nvSpPr>
          <p:cNvPr id="172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74" name="TextBox 7"/>
          <p:cNvSpPr txBox="1"/>
          <p:nvPr/>
        </p:nvSpPr>
        <p:spPr>
          <a:xfrm>
            <a:off x="777239" y="1234439"/>
            <a:ext cx="10607042" cy="593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Create a folder for your project and add a file named index.html — GitHub Pages serves this as your homepage.</a:t>
            </a:r>
          </a:p>
        </p:txBody>
      </p:sp>
      <p:sp>
        <p:nvSpPr>
          <p:cNvPr id="175" name="Rectangle 8"/>
          <p:cNvSpPr/>
          <p:nvPr/>
        </p:nvSpPr>
        <p:spPr>
          <a:xfrm>
            <a:off x="731519" y="1965959"/>
            <a:ext cx="10698482" cy="438912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9"/>
          <p:cNvSpPr txBox="1"/>
          <p:nvPr/>
        </p:nvSpPr>
        <p:spPr>
          <a:xfrm>
            <a:off x="1051559" y="2148839"/>
            <a:ext cx="5972496" cy="390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200">
                <a:solidFill>
                  <a:schemeClr val="accent3">
                    <a:lumOff val="11470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&lt;!-- index.html --&gt;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&lt;!DOCTYPE html&gt;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&lt;html lang="en"&gt;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&lt;head&gt;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&lt;meta charset="UTF-8" /&gt;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&lt;title&gt;My First Site&lt;/title&gt;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&lt;/head&gt;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&lt;body&gt;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&lt;h1&gt;Hello from GitHub Pages!&lt;/h1&gt;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&lt;p&gt;My first live website.&lt;/p&gt;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&lt;/body&gt;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&lt;/html&gt;</a:t>
            </a:r>
          </a:p>
        </p:txBody>
      </p:sp>
      <p:sp>
        <p:nvSpPr>
          <p:cNvPr id="177" name="TextBox 10"/>
          <p:cNvSpPr txBox="1"/>
          <p:nvPr/>
        </p:nvSpPr>
        <p:spPr>
          <a:xfrm>
            <a:off x="2016301" y="6477406"/>
            <a:ext cx="99669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D97A1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⚠  </a:t>
            </a:r>
            <a:r>
              <a:t>The file must be named exactly index.html (all lowercase). Any other name won't be served automatically.</a:t>
            </a:r>
          </a:p>
        </p:txBody>
      </p:sp>
      <p:sp>
        <p:nvSpPr>
          <p:cNvPr id="178" name="TextBox 11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1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2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2 OF 6</a:t>
            </a:r>
          </a:p>
        </p:txBody>
      </p:sp>
      <p:sp>
        <p:nvSpPr>
          <p:cNvPr id="183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Initialize a Git repository</a:t>
            </a:r>
          </a:p>
        </p:txBody>
      </p:sp>
      <p:sp>
        <p:nvSpPr>
          <p:cNvPr id="184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5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86" name="TextBox 7"/>
          <p:cNvSpPr txBox="1"/>
          <p:nvPr/>
        </p:nvSpPr>
        <p:spPr>
          <a:xfrm>
            <a:off x="777239" y="1234439"/>
            <a:ext cx="10607042" cy="339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In your terminal, navigate to your project folder and run:</a:t>
            </a:r>
          </a:p>
        </p:txBody>
      </p:sp>
      <p:sp>
        <p:nvSpPr>
          <p:cNvPr id="187" name="Rectangle 8"/>
          <p:cNvSpPr/>
          <p:nvPr/>
        </p:nvSpPr>
        <p:spPr>
          <a:xfrm>
            <a:off x="731519" y="1828799"/>
            <a:ext cx="6858001" cy="466344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8" name="TextBox 9"/>
          <p:cNvSpPr txBox="1"/>
          <p:nvPr/>
        </p:nvSpPr>
        <p:spPr>
          <a:xfrm>
            <a:off x="1051559" y="2011679"/>
            <a:ext cx="6465931" cy="414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Navigate to your project folder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~/projects/my-site</a:t>
            </a:r>
          </a:p>
          <a:p>
            <a:pPr>
              <a:defRPr sz="2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Initialise a new git repository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init</a:t>
            </a:r>
          </a:p>
          <a:p>
            <a:pPr>
              <a:defRPr sz="2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Stage all files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add .</a:t>
            </a:r>
          </a:p>
          <a:p>
            <a:pPr>
              <a:defRPr sz="2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Create your first commit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commit -m "Initial commit"</a:t>
            </a:r>
          </a:p>
        </p:txBody>
      </p:sp>
      <p:sp>
        <p:nvSpPr>
          <p:cNvPr id="189" name="Rectangle 10"/>
          <p:cNvSpPr/>
          <p:nvPr/>
        </p:nvSpPr>
        <p:spPr>
          <a:xfrm>
            <a:off x="7932419" y="1828799"/>
            <a:ext cx="3520441" cy="4663442"/>
          </a:xfrm>
          <a:prstGeom prst="rect">
            <a:avLst/>
          </a:prstGeom>
          <a:solidFill>
            <a:srgbClr val="F0FDFA"/>
          </a:solidFill>
          <a:ln>
            <a:solidFill>
              <a:srgbClr val="E7E5E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0" name="Rectangle 11"/>
          <p:cNvSpPr/>
          <p:nvPr/>
        </p:nvSpPr>
        <p:spPr>
          <a:xfrm>
            <a:off x="7926463" y="1828799"/>
            <a:ext cx="47526" cy="4663442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1" name="TextBox 12"/>
          <p:cNvSpPr txBox="1"/>
          <p:nvPr/>
        </p:nvSpPr>
        <p:spPr>
          <a:xfrm>
            <a:off x="8183879" y="2057399"/>
            <a:ext cx="3017521" cy="302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4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What this does</a:t>
            </a:r>
          </a:p>
        </p:txBody>
      </p:sp>
      <p:sp>
        <p:nvSpPr>
          <p:cNvPr id="192" name="TextBox 13"/>
          <p:cNvSpPr txBox="1"/>
          <p:nvPr/>
        </p:nvSpPr>
        <p:spPr>
          <a:xfrm>
            <a:off x="8183879" y="2468879"/>
            <a:ext cx="3017521" cy="3743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git init — creates a hidden .git folder that tracks changes on your machine</a:t>
            </a:r>
          </a:p>
          <a:p>
            <a:pPr>
              <a:spcBef>
                <a:spcPts val="6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git add . — stages every file in the folder</a:t>
            </a:r>
          </a:p>
          <a:p>
            <a:pPr>
              <a:spcBef>
                <a:spcPts val="6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git commit — saves a snapshot you can push</a:t>
            </a:r>
          </a:p>
        </p:txBody>
      </p:sp>
      <p:sp>
        <p:nvSpPr>
          <p:cNvPr id="193" name="TextBox 14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6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7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3 OF 6</a:t>
            </a:r>
          </a:p>
        </p:txBody>
      </p:sp>
      <p:sp>
        <p:nvSpPr>
          <p:cNvPr id="198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Create a GitHub repository</a:t>
            </a:r>
          </a:p>
        </p:txBody>
      </p:sp>
      <p:sp>
        <p:nvSpPr>
          <p:cNvPr id="199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0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201" name="TextBox 7"/>
          <p:cNvSpPr txBox="1"/>
          <p:nvPr/>
        </p:nvSpPr>
        <p:spPr>
          <a:xfrm>
            <a:off x="777239" y="1261872"/>
            <a:ext cx="521208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Option A — GitHub website (UI)</a:t>
            </a:r>
          </a:p>
        </p:txBody>
      </p:sp>
      <p:sp>
        <p:nvSpPr>
          <p:cNvPr id="202" name="TextBox 8"/>
          <p:cNvSpPr txBox="1"/>
          <p:nvPr/>
        </p:nvSpPr>
        <p:spPr>
          <a:xfrm>
            <a:off x="777239" y="1737359"/>
            <a:ext cx="4937761" cy="1806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Go to github.com and sign in</a:t>
            </a:r>
          </a:p>
          <a:p>
            <a:pPr>
              <a:spcBef>
                <a:spcPts val="5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Click  +  →  New repository</a:t>
            </a:r>
          </a:p>
          <a:p>
            <a:pPr>
              <a:spcBef>
                <a:spcPts val="5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Name it  </a:t>
            </a:r>
            <a:r>
              <a:rPr b="1"/>
              <a:t>my-site </a:t>
            </a:r>
            <a:r>
              <a:t> (or anything you like)</a:t>
            </a:r>
          </a:p>
          <a:p>
            <a:pPr>
              <a:spcBef>
                <a:spcPts val="5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Set visibility to Public</a:t>
            </a:r>
          </a:p>
          <a:p>
            <a:pPr>
              <a:spcBef>
                <a:spcPts val="5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Do NOT initialise with a README</a:t>
            </a:r>
          </a:p>
          <a:p>
            <a:pPr>
              <a:spcBef>
                <a:spcPts val="500"/>
              </a:spcBef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Click  </a:t>
            </a:r>
            <a:r>
              <a:rPr b="1"/>
              <a:t>Create repository</a:t>
            </a:r>
          </a:p>
        </p:txBody>
      </p:sp>
      <p:sp>
        <p:nvSpPr>
          <p:cNvPr id="203" name="Rectangle 9"/>
          <p:cNvSpPr/>
          <p:nvPr/>
        </p:nvSpPr>
        <p:spPr>
          <a:xfrm>
            <a:off x="6263640" y="1234439"/>
            <a:ext cx="12701" cy="530352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4" name="TextBox 10"/>
          <p:cNvSpPr txBox="1"/>
          <p:nvPr/>
        </p:nvSpPr>
        <p:spPr>
          <a:xfrm>
            <a:off x="6537960" y="1261872"/>
            <a:ext cx="521208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0F766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Option B — GitHub CLI (faster)</a:t>
            </a:r>
          </a:p>
        </p:txBody>
      </p:sp>
      <p:sp>
        <p:nvSpPr>
          <p:cNvPr id="205" name="TextBox 11"/>
          <p:cNvSpPr txBox="1"/>
          <p:nvPr/>
        </p:nvSpPr>
        <p:spPr>
          <a:xfrm>
            <a:off x="6537960" y="1737360"/>
            <a:ext cx="493776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If you have gh installed and authenticated:</a:t>
            </a:r>
          </a:p>
        </p:txBody>
      </p:sp>
      <p:sp>
        <p:nvSpPr>
          <p:cNvPr id="206" name="Rectangle 12"/>
          <p:cNvSpPr/>
          <p:nvPr/>
        </p:nvSpPr>
        <p:spPr>
          <a:xfrm>
            <a:off x="6492240" y="2194560"/>
            <a:ext cx="5349241" cy="3840480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7" name="TextBox 13"/>
          <p:cNvSpPr txBox="1"/>
          <p:nvPr/>
        </p:nvSpPr>
        <p:spPr>
          <a:xfrm>
            <a:off x="6812279" y="2377439"/>
            <a:ext cx="4905523" cy="301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gh auth login</a:t>
            </a:r>
          </a:p>
          <a:p>
            <a:pPr>
              <a:defRPr sz="21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1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One command creates the repo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gh repo create my-site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--public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--source=.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--remote=origin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--push</a:t>
            </a:r>
          </a:p>
          <a:p>
            <a:pPr>
              <a:defRPr sz="21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100">
                <a:solidFill>
                  <a:srgbClr val="EDEDE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Then skip to slide 10!</a:t>
            </a:r>
          </a:p>
        </p:txBody>
      </p:sp>
      <p:sp>
        <p:nvSpPr>
          <p:cNvPr id="208" name="TextBox 14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1"/>
          <p:cNvSpPr/>
          <p:nvPr/>
        </p:nvSpPr>
        <p:spPr>
          <a:xfrm>
            <a:off x="-4827" y="0"/>
            <a:ext cx="12188954" cy="6858001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1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2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2 OF 6</a:t>
            </a:r>
          </a:p>
        </p:txBody>
      </p:sp>
      <p:sp>
        <p:nvSpPr>
          <p:cNvPr id="213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Install gh</a:t>
            </a:r>
          </a:p>
        </p:txBody>
      </p:sp>
      <p:sp>
        <p:nvSpPr>
          <p:cNvPr id="214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5" name="TextBox 6"/>
          <p:cNvSpPr txBox="1"/>
          <p:nvPr/>
        </p:nvSpPr>
        <p:spPr>
          <a:xfrm>
            <a:off x="11567159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216" name="Rectangle 8"/>
          <p:cNvSpPr/>
          <p:nvPr/>
        </p:nvSpPr>
        <p:spPr>
          <a:xfrm>
            <a:off x="755261" y="1828799"/>
            <a:ext cx="3379986" cy="466344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7" name="TextBox 9"/>
          <p:cNvSpPr txBox="1"/>
          <p:nvPr/>
        </p:nvSpPr>
        <p:spPr>
          <a:xfrm>
            <a:off x="869543" y="2011679"/>
            <a:ext cx="3151422" cy="2669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brew install gh</a:t>
            </a:r>
          </a:p>
          <a:p>
            <a:pPr>
              <a:defRPr sz="2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verify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gh —-version</a:t>
            </a:r>
          </a:p>
          <a:p>
            <a:pPr>
              <a:defRPr sz="2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</p:txBody>
      </p:sp>
      <p:sp>
        <p:nvSpPr>
          <p:cNvPr id="218" name="TextBox 14"/>
          <p:cNvSpPr txBox="1"/>
          <p:nvPr/>
        </p:nvSpPr>
        <p:spPr>
          <a:xfrm>
            <a:off x="274320" y="6492240"/>
            <a:ext cx="1540663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  <p:sp>
        <p:nvSpPr>
          <p:cNvPr id="219" name="Rectangle 10"/>
          <p:cNvSpPr/>
          <p:nvPr/>
        </p:nvSpPr>
        <p:spPr>
          <a:xfrm>
            <a:off x="4380161" y="1155302"/>
            <a:ext cx="12701" cy="530352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0" name="Macintosh"/>
          <p:cNvSpPr txBox="1"/>
          <p:nvPr/>
        </p:nvSpPr>
        <p:spPr>
          <a:xfrm>
            <a:off x="848000" y="1224383"/>
            <a:ext cx="1171127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Macintosh</a:t>
            </a:r>
          </a:p>
        </p:txBody>
      </p:sp>
      <p:sp>
        <p:nvSpPr>
          <p:cNvPr id="221" name="Windows"/>
          <p:cNvSpPr txBox="1"/>
          <p:nvPr/>
        </p:nvSpPr>
        <p:spPr>
          <a:xfrm>
            <a:off x="4773612" y="1224383"/>
            <a:ext cx="105102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Windows</a:t>
            </a:r>
          </a:p>
        </p:txBody>
      </p:sp>
      <p:sp>
        <p:nvSpPr>
          <p:cNvPr id="222" name="Rectangle 8"/>
          <p:cNvSpPr/>
          <p:nvPr/>
        </p:nvSpPr>
        <p:spPr>
          <a:xfrm>
            <a:off x="4625476" y="1828800"/>
            <a:ext cx="3280405" cy="466344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3" name="TextBox 9"/>
          <p:cNvSpPr txBox="1"/>
          <p:nvPr/>
        </p:nvSpPr>
        <p:spPr>
          <a:xfrm>
            <a:off x="4821530" y="2011679"/>
            <a:ext cx="3151422" cy="4142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winget install --id GitHub.cli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500">
                <a:solidFill>
                  <a:srgbClr val="DDDDDD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chocolatey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choco install gh</a:t>
            </a:r>
          </a:p>
        </p:txBody>
      </p:sp>
      <p:sp>
        <p:nvSpPr>
          <p:cNvPr id="224" name="Linux"/>
          <p:cNvSpPr txBox="1"/>
          <p:nvPr/>
        </p:nvSpPr>
        <p:spPr>
          <a:xfrm>
            <a:off x="8287708" y="1224383"/>
            <a:ext cx="691045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Linux</a:t>
            </a:r>
          </a:p>
        </p:txBody>
      </p:sp>
      <p:sp>
        <p:nvSpPr>
          <p:cNvPr id="225" name="Rectangle 8"/>
          <p:cNvSpPr/>
          <p:nvPr/>
        </p:nvSpPr>
        <p:spPr>
          <a:xfrm>
            <a:off x="8337417" y="1828799"/>
            <a:ext cx="3543529" cy="466344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6" name="TextBox 9"/>
          <p:cNvSpPr txBox="1"/>
          <p:nvPr/>
        </p:nvSpPr>
        <p:spPr>
          <a:xfrm>
            <a:off x="8657456" y="2011679"/>
            <a:ext cx="3151423" cy="3406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b="1" sz="25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25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https://github.com/cli/cli/blob/trunk/docs/install_linux.md</a:t>
            </a:r>
          </a:p>
          <a:p>
            <a:pPr>
              <a:defRPr b="1" sz="2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</p:txBody>
      </p:sp>
      <p:sp>
        <p:nvSpPr>
          <p:cNvPr id="227" name="Rectangle 10"/>
          <p:cNvSpPr/>
          <p:nvPr/>
        </p:nvSpPr>
        <p:spPr>
          <a:xfrm>
            <a:off x="8123756" y="1155302"/>
            <a:ext cx="12701" cy="530352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0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1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4 OF 6</a:t>
            </a:r>
          </a:p>
        </p:txBody>
      </p:sp>
      <p:sp>
        <p:nvSpPr>
          <p:cNvPr id="232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Push your code to GitHub</a:t>
            </a:r>
          </a:p>
        </p:txBody>
      </p:sp>
      <p:sp>
        <p:nvSpPr>
          <p:cNvPr id="233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4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235" name="TextBox 7"/>
          <p:cNvSpPr txBox="1"/>
          <p:nvPr/>
        </p:nvSpPr>
        <p:spPr>
          <a:xfrm>
            <a:off x="777239" y="1234439"/>
            <a:ext cx="10607042" cy="339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Connect your local repo to GitHub, then push. Copy the URL from the repo page you just created.</a:t>
            </a:r>
          </a:p>
        </p:txBody>
      </p:sp>
      <p:sp>
        <p:nvSpPr>
          <p:cNvPr id="236" name="Rectangle 8"/>
          <p:cNvSpPr/>
          <p:nvPr/>
        </p:nvSpPr>
        <p:spPr>
          <a:xfrm>
            <a:off x="731520" y="1874518"/>
            <a:ext cx="8046719" cy="448056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7" name="TextBox 9"/>
          <p:cNvSpPr txBox="1"/>
          <p:nvPr/>
        </p:nvSpPr>
        <p:spPr>
          <a:xfrm>
            <a:off x="1051559" y="2057399"/>
            <a:ext cx="7359562" cy="3228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7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Add GitHub as the remote named 'origin'</a:t>
            </a:r>
          </a:p>
          <a:p>
            <a:pPr>
              <a:defRPr b="1" sz="17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remote add origin https://github.com/YOU/my-site.git</a:t>
            </a:r>
          </a:p>
          <a:p>
            <a:pPr>
              <a:defRPr sz="17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17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Rename the default branch to 'main' (GitHub's default)</a:t>
            </a:r>
          </a:p>
          <a:p>
            <a:pPr>
              <a:defRPr b="1" sz="17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branch -M main</a:t>
            </a:r>
          </a:p>
          <a:p>
            <a:pPr>
              <a:defRPr sz="17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17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Push and set upstream tracking</a:t>
            </a:r>
          </a:p>
          <a:p>
            <a:pPr>
              <a:defRPr b="1" sz="17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push -u origin main</a:t>
            </a:r>
          </a:p>
          <a:p>
            <a:pPr>
              <a:defRPr sz="17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17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Future pushes are just:</a:t>
            </a:r>
          </a:p>
          <a:p>
            <a:pPr>
              <a:defRPr b="1" sz="17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push</a:t>
            </a:r>
          </a:p>
          <a:p>
            <a:pPr>
              <a:defRPr b="1" sz="17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b="1" sz="17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b="0">
                <a:solidFill>
                  <a:srgbClr val="FAF8F5"/>
                </a:solidFill>
              </a:rPr>
              <a:t># after doing a</a:t>
            </a:r>
            <a:r>
              <a:rPr b="0"/>
              <a:t> </a:t>
            </a:r>
            <a:r>
              <a:t>git add  </a:t>
            </a:r>
            <a:r>
              <a:rPr b="0">
                <a:solidFill>
                  <a:srgbClr val="FAF8F5"/>
                </a:solidFill>
              </a:rPr>
              <a:t>and</a:t>
            </a:r>
            <a:r>
              <a:t>  git commit </a:t>
            </a:r>
          </a:p>
        </p:txBody>
      </p:sp>
      <p:sp>
        <p:nvSpPr>
          <p:cNvPr id="238" name="Rectangle 10"/>
          <p:cNvSpPr/>
          <p:nvPr/>
        </p:nvSpPr>
        <p:spPr>
          <a:xfrm>
            <a:off x="9052559" y="1874518"/>
            <a:ext cx="2514601" cy="2011680"/>
          </a:xfrm>
          <a:prstGeom prst="rect">
            <a:avLst/>
          </a:prstGeom>
          <a:solidFill>
            <a:srgbClr val="F0FDFA"/>
          </a:solidFill>
          <a:ln>
            <a:solidFill>
              <a:srgbClr val="E7E5E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9" name="Rectangle 11"/>
          <p:cNvSpPr/>
          <p:nvPr/>
        </p:nvSpPr>
        <p:spPr>
          <a:xfrm>
            <a:off x="9052559" y="1874518"/>
            <a:ext cx="50801" cy="201168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0" name="TextBox 12"/>
          <p:cNvSpPr txBox="1"/>
          <p:nvPr/>
        </p:nvSpPr>
        <p:spPr>
          <a:xfrm>
            <a:off x="9281160" y="2103120"/>
            <a:ext cx="2057401" cy="4928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4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Replace YOU with</a:t>
            </a:r>
          </a:p>
          <a:p>
            <a:pPr>
              <a:defRPr sz="14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your GitHub username</a:t>
            </a:r>
          </a:p>
        </p:txBody>
      </p:sp>
      <p:sp>
        <p:nvSpPr>
          <p:cNvPr id="241" name="TextBox 13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4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5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5 OF 6</a:t>
            </a:r>
          </a:p>
        </p:txBody>
      </p:sp>
      <p:sp>
        <p:nvSpPr>
          <p:cNvPr id="246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Enable GitHub Pages</a:t>
            </a:r>
          </a:p>
        </p:txBody>
      </p:sp>
      <p:sp>
        <p:nvSpPr>
          <p:cNvPr id="247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48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249" name="TextBox 7"/>
          <p:cNvSpPr txBox="1"/>
          <p:nvPr/>
        </p:nvSpPr>
        <p:spPr>
          <a:xfrm>
            <a:off x="777239" y="1261872"/>
            <a:ext cx="521208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Option A — GitHub website (UI)</a:t>
            </a:r>
          </a:p>
        </p:txBody>
      </p:sp>
      <p:sp>
        <p:nvSpPr>
          <p:cNvPr id="250" name="Oval 8"/>
          <p:cNvSpPr/>
          <p:nvPr/>
        </p:nvSpPr>
        <p:spPr>
          <a:xfrm>
            <a:off x="731519" y="1719071"/>
            <a:ext cx="502921" cy="502922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1" name="TextBox 9"/>
          <p:cNvSpPr txBox="1"/>
          <p:nvPr/>
        </p:nvSpPr>
        <p:spPr>
          <a:xfrm>
            <a:off x="786383" y="1746504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252" name="TextBox 10"/>
          <p:cNvSpPr txBox="1"/>
          <p:nvPr/>
        </p:nvSpPr>
        <p:spPr>
          <a:xfrm>
            <a:off x="1417319" y="1813356"/>
            <a:ext cx="457200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Open your repo on github.com</a:t>
            </a:r>
          </a:p>
        </p:txBody>
      </p:sp>
      <p:sp>
        <p:nvSpPr>
          <p:cNvPr id="253" name="Oval 11"/>
          <p:cNvSpPr/>
          <p:nvPr/>
        </p:nvSpPr>
        <p:spPr>
          <a:xfrm>
            <a:off x="731519" y="2359151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4" name="TextBox 12"/>
          <p:cNvSpPr txBox="1"/>
          <p:nvPr/>
        </p:nvSpPr>
        <p:spPr>
          <a:xfrm>
            <a:off x="786383" y="2386583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255" name="TextBox 13"/>
          <p:cNvSpPr txBox="1"/>
          <p:nvPr/>
        </p:nvSpPr>
        <p:spPr>
          <a:xfrm>
            <a:off x="1417319" y="2453436"/>
            <a:ext cx="457200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Click  Settings  (top tab row)</a:t>
            </a:r>
          </a:p>
        </p:txBody>
      </p:sp>
      <p:sp>
        <p:nvSpPr>
          <p:cNvPr id="256" name="Oval 14"/>
          <p:cNvSpPr/>
          <p:nvPr/>
        </p:nvSpPr>
        <p:spPr>
          <a:xfrm>
            <a:off x="731519" y="2999232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7" name="TextBox 15"/>
          <p:cNvSpPr txBox="1"/>
          <p:nvPr/>
        </p:nvSpPr>
        <p:spPr>
          <a:xfrm>
            <a:off x="786383" y="3026664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258" name="TextBox 16"/>
          <p:cNvSpPr txBox="1"/>
          <p:nvPr/>
        </p:nvSpPr>
        <p:spPr>
          <a:xfrm>
            <a:off x="1417319" y="3093516"/>
            <a:ext cx="457200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Scroll to  Pages  in the left sidebar</a:t>
            </a:r>
          </a:p>
        </p:txBody>
      </p:sp>
      <p:sp>
        <p:nvSpPr>
          <p:cNvPr id="259" name="Oval 17"/>
          <p:cNvSpPr/>
          <p:nvPr/>
        </p:nvSpPr>
        <p:spPr>
          <a:xfrm>
            <a:off x="731519" y="3639311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0" name="TextBox 18"/>
          <p:cNvSpPr txBox="1"/>
          <p:nvPr/>
        </p:nvSpPr>
        <p:spPr>
          <a:xfrm>
            <a:off x="786383" y="3666744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261" name="TextBox 19"/>
          <p:cNvSpPr txBox="1"/>
          <p:nvPr/>
        </p:nvSpPr>
        <p:spPr>
          <a:xfrm>
            <a:off x="1417319" y="3733596"/>
            <a:ext cx="457200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Under Source, select  "Deploy from a branch"</a:t>
            </a:r>
          </a:p>
        </p:txBody>
      </p:sp>
      <p:sp>
        <p:nvSpPr>
          <p:cNvPr id="262" name="Oval 20"/>
          <p:cNvSpPr/>
          <p:nvPr/>
        </p:nvSpPr>
        <p:spPr>
          <a:xfrm>
            <a:off x="731519" y="4279391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3" name="TextBox 21"/>
          <p:cNvSpPr txBox="1"/>
          <p:nvPr/>
        </p:nvSpPr>
        <p:spPr>
          <a:xfrm>
            <a:off x="786383" y="4306823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264" name="TextBox 22"/>
          <p:cNvSpPr txBox="1"/>
          <p:nvPr/>
        </p:nvSpPr>
        <p:spPr>
          <a:xfrm>
            <a:off x="1417319" y="4373676"/>
            <a:ext cx="457200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Branch: main  /  Folder: / (root)</a:t>
            </a:r>
          </a:p>
        </p:txBody>
      </p:sp>
      <p:sp>
        <p:nvSpPr>
          <p:cNvPr id="265" name="Oval 23"/>
          <p:cNvSpPr/>
          <p:nvPr/>
        </p:nvSpPr>
        <p:spPr>
          <a:xfrm>
            <a:off x="731519" y="4919471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6" name="TextBox 24"/>
          <p:cNvSpPr txBox="1"/>
          <p:nvPr/>
        </p:nvSpPr>
        <p:spPr>
          <a:xfrm>
            <a:off x="786383" y="4946903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267" name="TextBox 25"/>
          <p:cNvSpPr txBox="1"/>
          <p:nvPr/>
        </p:nvSpPr>
        <p:spPr>
          <a:xfrm>
            <a:off x="1417319" y="5013756"/>
            <a:ext cx="457200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Click  Save</a:t>
            </a:r>
          </a:p>
        </p:txBody>
      </p:sp>
      <p:sp>
        <p:nvSpPr>
          <p:cNvPr id="268" name="Rectangle 26"/>
          <p:cNvSpPr/>
          <p:nvPr/>
        </p:nvSpPr>
        <p:spPr>
          <a:xfrm>
            <a:off x="5802594" y="1194053"/>
            <a:ext cx="12701" cy="5303522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9" name="TextBox 27"/>
          <p:cNvSpPr txBox="1"/>
          <p:nvPr/>
        </p:nvSpPr>
        <p:spPr>
          <a:xfrm>
            <a:off x="6023564" y="1261872"/>
            <a:ext cx="521208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0F766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Option B — GitHub CLI</a:t>
            </a:r>
          </a:p>
        </p:txBody>
      </p:sp>
      <p:sp>
        <p:nvSpPr>
          <p:cNvPr id="270" name="Rectangle 28"/>
          <p:cNvSpPr/>
          <p:nvPr/>
        </p:nvSpPr>
        <p:spPr>
          <a:xfrm>
            <a:off x="6013036" y="1783079"/>
            <a:ext cx="5828445" cy="457200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1" name="TextBox 29"/>
          <p:cNvSpPr txBox="1"/>
          <p:nvPr/>
        </p:nvSpPr>
        <p:spPr>
          <a:xfrm>
            <a:off x="6159579" y="1965959"/>
            <a:ext cx="5535359" cy="3012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Enable Pages via the gh CLI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gh api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-X POST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/repos/YOU/my-site/pages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-f source[branch]=main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-f source[path]=/</a:t>
            </a:r>
          </a:p>
          <a:p>
            <a:pPr>
              <a:defRPr sz="21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21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Check deployment status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gh api /repos/YOU/my-site/pages \</a:t>
            </a:r>
          </a:p>
          <a:p>
            <a:pPr>
              <a:defRPr b="1" sz="21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--jq '.html_url'</a:t>
            </a:r>
          </a:p>
        </p:txBody>
      </p:sp>
      <p:sp>
        <p:nvSpPr>
          <p:cNvPr id="272" name="TextBox 30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D1117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5" name="Rectangle 2"/>
          <p:cNvSpPr/>
          <p:nvPr/>
        </p:nvSpPr>
        <p:spPr>
          <a:xfrm>
            <a:off x="-1" y="6781800"/>
            <a:ext cx="12188954" cy="762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6" name="TextBox 3"/>
          <p:cNvSpPr txBox="1"/>
          <p:nvPr/>
        </p:nvSpPr>
        <p:spPr>
          <a:xfrm>
            <a:off x="822960" y="1645920"/>
            <a:ext cx="5394961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200">
                <a:solidFill>
                  <a:srgbClr val="2DD4B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6 OF 6</a:t>
            </a:r>
          </a:p>
        </p:txBody>
      </p:sp>
      <p:sp>
        <p:nvSpPr>
          <p:cNvPr id="277" name="TextBox 4"/>
          <p:cNvSpPr txBox="1"/>
          <p:nvPr/>
        </p:nvSpPr>
        <p:spPr>
          <a:xfrm>
            <a:off x="822960" y="2011679"/>
            <a:ext cx="9966961" cy="10947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60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Your site is live. </a:t>
            </a:r>
            <a:r>
              <a:rPr>
                <a:latin typeface="+mn-lt"/>
                <a:ea typeface="+mn-ea"/>
                <a:cs typeface="+mn-cs"/>
                <a:sym typeface="Helvetica"/>
              </a:rPr>
              <a:t>🎉</a:t>
            </a:r>
          </a:p>
        </p:txBody>
      </p:sp>
      <p:sp>
        <p:nvSpPr>
          <p:cNvPr id="278" name="TextBox 5"/>
          <p:cNvSpPr txBox="1"/>
          <p:nvPr/>
        </p:nvSpPr>
        <p:spPr>
          <a:xfrm>
            <a:off x="822960" y="3520440"/>
            <a:ext cx="3566161" cy="364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solidFill>
                  <a:srgbClr val="FAF8F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Visit it at:</a:t>
            </a:r>
          </a:p>
        </p:txBody>
      </p:sp>
      <p:sp>
        <p:nvSpPr>
          <p:cNvPr id="279" name="TextBox 6"/>
          <p:cNvSpPr txBox="1"/>
          <p:nvPr/>
        </p:nvSpPr>
        <p:spPr>
          <a:xfrm>
            <a:off x="822960" y="3977638"/>
            <a:ext cx="9052561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4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https://YOUR-USERNAME.github.io/my-site</a:t>
            </a:r>
          </a:p>
        </p:txBody>
      </p:sp>
      <p:sp>
        <p:nvSpPr>
          <p:cNvPr id="280" name="TextBox 7"/>
          <p:cNvSpPr txBox="1"/>
          <p:nvPr/>
        </p:nvSpPr>
        <p:spPr>
          <a:xfrm>
            <a:off x="633029" y="4800599"/>
            <a:ext cx="9052561" cy="11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FAF8F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It takes ~60 seconds for the first deployment to go live</a:t>
            </a:r>
          </a:p>
          <a:p>
            <a:pPr>
              <a:spcBef>
                <a:spcPts val="800"/>
              </a:spcBef>
              <a:defRPr>
                <a:solidFill>
                  <a:srgbClr val="FAF8F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Check the  </a:t>
            </a:r>
            <a:r>
              <a:rPr b="1"/>
              <a:t>Actions</a:t>
            </a:r>
            <a:r>
              <a:t>  tab in your repo to watch the deploy progress</a:t>
            </a:r>
          </a:p>
          <a:p>
            <a:pPr>
              <a:spcBef>
                <a:spcPts val="800"/>
              </a:spcBef>
              <a:defRPr>
                <a:solidFill>
                  <a:srgbClr val="FAF8F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Every git push to main will auto-redeploy</a:t>
            </a:r>
          </a:p>
        </p:txBody>
      </p:sp>
      <p:sp>
        <p:nvSpPr>
          <p:cNvPr id="281" name="TextBox 8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  <p:sp>
        <p:nvSpPr>
          <p:cNvPr id="282" name="Rectangle 2"/>
          <p:cNvSpPr/>
          <p:nvPr/>
        </p:nvSpPr>
        <p:spPr>
          <a:xfrm>
            <a:off x="-4827" y="-9025"/>
            <a:ext cx="12188954" cy="76201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5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6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TROUBLESHOOTING</a:t>
            </a:r>
          </a:p>
        </p:txBody>
      </p:sp>
      <p:sp>
        <p:nvSpPr>
          <p:cNvPr id="287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Common gotchas</a:t>
            </a:r>
          </a:p>
        </p:txBody>
      </p:sp>
      <p:sp>
        <p:nvSpPr>
          <p:cNvPr id="288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89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90" name="Rectangle 7"/>
          <p:cNvSpPr/>
          <p:nvPr/>
        </p:nvSpPr>
        <p:spPr>
          <a:xfrm>
            <a:off x="731519" y="1309794"/>
            <a:ext cx="54865" cy="292609"/>
          </a:xfrm>
          <a:prstGeom prst="rect">
            <a:avLst/>
          </a:prstGeom>
          <a:solidFill>
            <a:srgbClr val="D97A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1" name="TextBox 8"/>
          <p:cNvSpPr txBox="1"/>
          <p:nvPr/>
        </p:nvSpPr>
        <p:spPr>
          <a:xfrm>
            <a:off x="1005839" y="1280160"/>
            <a:ext cx="3383282" cy="351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File named wrong</a:t>
            </a:r>
          </a:p>
        </p:txBody>
      </p:sp>
      <p:sp>
        <p:nvSpPr>
          <p:cNvPr id="292" name="TextBox 9"/>
          <p:cNvSpPr txBox="1"/>
          <p:nvPr/>
        </p:nvSpPr>
        <p:spPr>
          <a:xfrm>
            <a:off x="4195094" y="1305095"/>
            <a:ext cx="685800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Must be exactly  index.html  — not  Index.html,  home.html,  or  index.htm</a:t>
            </a:r>
          </a:p>
        </p:txBody>
      </p:sp>
      <p:sp>
        <p:nvSpPr>
          <p:cNvPr id="293" name="Rectangle 10"/>
          <p:cNvSpPr/>
          <p:nvPr/>
        </p:nvSpPr>
        <p:spPr>
          <a:xfrm>
            <a:off x="731519" y="1737360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4" name="Rectangle 11"/>
          <p:cNvSpPr/>
          <p:nvPr/>
        </p:nvSpPr>
        <p:spPr>
          <a:xfrm>
            <a:off x="731519" y="2089531"/>
            <a:ext cx="54865" cy="292609"/>
          </a:xfrm>
          <a:prstGeom prst="rect">
            <a:avLst/>
          </a:prstGeom>
          <a:solidFill>
            <a:srgbClr val="D97A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5" name="TextBox 12"/>
          <p:cNvSpPr txBox="1"/>
          <p:nvPr/>
        </p:nvSpPr>
        <p:spPr>
          <a:xfrm>
            <a:off x="1005839" y="2084832"/>
            <a:ext cx="3383282" cy="351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Repo is private</a:t>
            </a:r>
          </a:p>
        </p:txBody>
      </p:sp>
      <p:sp>
        <p:nvSpPr>
          <p:cNvPr id="296" name="TextBox 13"/>
          <p:cNvSpPr txBox="1"/>
          <p:nvPr/>
        </p:nvSpPr>
        <p:spPr>
          <a:xfrm>
            <a:off x="4195094" y="2109767"/>
            <a:ext cx="685800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GitHub Pages on private repos requires GitHub Pro, Team, or Enterprise</a:t>
            </a:r>
          </a:p>
        </p:txBody>
      </p:sp>
      <p:sp>
        <p:nvSpPr>
          <p:cNvPr id="297" name="Rectangle 14"/>
          <p:cNvSpPr/>
          <p:nvPr/>
        </p:nvSpPr>
        <p:spPr>
          <a:xfrm>
            <a:off x="731519" y="2542032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8" name="Rectangle 15"/>
          <p:cNvSpPr/>
          <p:nvPr/>
        </p:nvSpPr>
        <p:spPr>
          <a:xfrm>
            <a:off x="731519" y="2919138"/>
            <a:ext cx="54865" cy="292609"/>
          </a:xfrm>
          <a:prstGeom prst="rect">
            <a:avLst/>
          </a:prstGeom>
          <a:solidFill>
            <a:srgbClr val="D97A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9" name="TextBox 16"/>
          <p:cNvSpPr txBox="1"/>
          <p:nvPr/>
        </p:nvSpPr>
        <p:spPr>
          <a:xfrm>
            <a:off x="1005839" y="2889504"/>
            <a:ext cx="3383282" cy="351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Site not updated yet</a:t>
            </a:r>
          </a:p>
        </p:txBody>
      </p:sp>
      <p:sp>
        <p:nvSpPr>
          <p:cNvPr id="300" name="TextBox 17"/>
          <p:cNvSpPr txBox="1"/>
          <p:nvPr/>
        </p:nvSpPr>
        <p:spPr>
          <a:xfrm>
            <a:off x="4195094" y="2914439"/>
            <a:ext cx="685800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First deploy takes ~60 s. After that, changes propagate in 1–2 minutes</a:t>
            </a:r>
          </a:p>
        </p:txBody>
      </p:sp>
      <p:sp>
        <p:nvSpPr>
          <p:cNvPr id="301" name="Rectangle 18"/>
          <p:cNvSpPr/>
          <p:nvPr/>
        </p:nvSpPr>
        <p:spPr>
          <a:xfrm>
            <a:off x="731519" y="3346703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2" name="Rectangle 19"/>
          <p:cNvSpPr/>
          <p:nvPr/>
        </p:nvSpPr>
        <p:spPr>
          <a:xfrm>
            <a:off x="731519" y="3723810"/>
            <a:ext cx="54865" cy="292609"/>
          </a:xfrm>
          <a:prstGeom prst="rect">
            <a:avLst/>
          </a:prstGeom>
          <a:solidFill>
            <a:srgbClr val="D97A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3" name="TextBox 20"/>
          <p:cNvSpPr txBox="1"/>
          <p:nvPr/>
        </p:nvSpPr>
        <p:spPr>
          <a:xfrm>
            <a:off x="1005839" y="3694176"/>
            <a:ext cx="3383282" cy="351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404 on all pages</a:t>
            </a:r>
          </a:p>
        </p:txBody>
      </p:sp>
      <p:sp>
        <p:nvSpPr>
          <p:cNvPr id="304" name="TextBox 21"/>
          <p:cNvSpPr txBox="1"/>
          <p:nvPr/>
        </p:nvSpPr>
        <p:spPr>
          <a:xfrm>
            <a:off x="4155525" y="3709898"/>
            <a:ext cx="8034929" cy="320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Pages is enabled but pointing at the wrong branch or folder — re-check Settings → Pages</a:t>
            </a:r>
          </a:p>
        </p:txBody>
      </p:sp>
      <p:sp>
        <p:nvSpPr>
          <p:cNvPr id="305" name="Rectangle 22"/>
          <p:cNvSpPr/>
          <p:nvPr/>
        </p:nvSpPr>
        <p:spPr>
          <a:xfrm>
            <a:off x="731519" y="4151376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6" name="Rectangle 23"/>
          <p:cNvSpPr/>
          <p:nvPr/>
        </p:nvSpPr>
        <p:spPr>
          <a:xfrm>
            <a:off x="731519" y="4528482"/>
            <a:ext cx="54865" cy="292609"/>
          </a:xfrm>
          <a:prstGeom prst="rect">
            <a:avLst/>
          </a:prstGeom>
          <a:solidFill>
            <a:srgbClr val="D97A16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07" name="TextBox 24"/>
          <p:cNvSpPr txBox="1"/>
          <p:nvPr/>
        </p:nvSpPr>
        <p:spPr>
          <a:xfrm>
            <a:off x="1005839" y="4498847"/>
            <a:ext cx="3383282" cy="3518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7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Authentication error on push</a:t>
            </a:r>
          </a:p>
        </p:txBody>
      </p:sp>
      <p:sp>
        <p:nvSpPr>
          <p:cNvPr id="308" name="TextBox 25"/>
          <p:cNvSpPr txBox="1"/>
          <p:nvPr/>
        </p:nvSpPr>
        <p:spPr>
          <a:xfrm>
            <a:off x="4185489" y="4523783"/>
            <a:ext cx="7522526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Run  gh auth login  or create a Personal Access Token at github.com/settings/tokens</a:t>
            </a:r>
          </a:p>
        </p:txBody>
      </p:sp>
      <p:sp>
        <p:nvSpPr>
          <p:cNvPr id="309" name="Rectangle 26"/>
          <p:cNvSpPr/>
          <p:nvPr/>
        </p:nvSpPr>
        <p:spPr>
          <a:xfrm>
            <a:off x="731519" y="4956047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0" name="TextBox 27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TextBox 3"/>
          <p:cNvSpPr txBox="1"/>
          <p:nvPr/>
        </p:nvSpPr>
        <p:spPr>
          <a:xfrm>
            <a:off x="822960" y="2011679"/>
            <a:ext cx="3566161" cy="1132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7200">
                <a:solidFill>
                  <a:srgbClr val="0A4A45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PART 2</a:t>
            </a:r>
          </a:p>
        </p:txBody>
      </p:sp>
      <p:sp>
        <p:nvSpPr>
          <p:cNvPr id="313" name="TextBox 4"/>
          <p:cNvSpPr txBox="1"/>
          <p:nvPr/>
        </p:nvSpPr>
        <p:spPr>
          <a:xfrm>
            <a:off x="822960" y="2880360"/>
            <a:ext cx="9966961" cy="159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5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Automate It with</a:t>
            </a:r>
          </a:p>
          <a:p>
            <a:pPr>
              <a:defRPr sz="52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pPr>
            <a:r>
              <a:t>a Claude Code Skill</a:t>
            </a:r>
          </a:p>
        </p:txBody>
      </p:sp>
      <p:sp>
        <p:nvSpPr>
          <p:cNvPr id="314" name="TextBox 5"/>
          <p:cNvSpPr txBox="1"/>
          <p:nvPr/>
        </p:nvSpPr>
        <p:spPr>
          <a:xfrm>
            <a:off x="822960" y="4571999"/>
            <a:ext cx="8138161" cy="426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solidFill>
                  <a:srgbClr val="4EC9A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One command. All six steps. Done.</a:t>
            </a:r>
          </a:p>
        </p:txBody>
      </p:sp>
      <p:sp>
        <p:nvSpPr>
          <p:cNvPr id="315" name="TextBox 6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  <p:sp>
        <p:nvSpPr>
          <p:cNvPr id="316" name="TextBox 27"/>
          <p:cNvSpPr txBox="1"/>
          <p:nvPr/>
        </p:nvSpPr>
        <p:spPr>
          <a:xfrm>
            <a:off x="274320" y="6492240"/>
            <a:ext cx="1540663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9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0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CONCEPT</a:t>
            </a:r>
          </a:p>
        </p:txBody>
      </p:sp>
      <p:sp>
        <p:nvSpPr>
          <p:cNvPr id="321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What is a Claude Code skill?</a:t>
            </a:r>
          </a:p>
        </p:txBody>
      </p:sp>
      <p:sp>
        <p:nvSpPr>
          <p:cNvPr id="322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3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324" name="TextBox 7"/>
          <p:cNvSpPr txBox="1"/>
          <p:nvPr/>
        </p:nvSpPr>
        <p:spPr>
          <a:xfrm>
            <a:off x="777239" y="1298447"/>
            <a:ext cx="6766561" cy="34755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9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A custom  /slash-command  you define for Claude Code</a:t>
            </a:r>
          </a:p>
          <a:p>
            <a:pPr>
              <a:spcBef>
                <a:spcPts val="1000"/>
              </a:spcBef>
              <a:defRPr sz="19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Stored as a Markdown file in either:</a:t>
            </a:r>
          </a:p>
          <a:p>
            <a:pPr lvl="1">
              <a:spcBef>
                <a:spcPts val="1000"/>
              </a:spcBef>
              <a:defRPr sz="19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~/.claude/commands/  (user-wide) or </a:t>
            </a:r>
          </a:p>
          <a:p>
            <a:pPr lvl="1">
              <a:spcBef>
                <a:spcPts val="1000"/>
              </a:spcBef>
              <a:defRPr sz="19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.claude/commands/  (per-project)</a:t>
            </a:r>
          </a:p>
          <a:p>
            <a:pPr>
              <a:spcBef>
                <a:spcPts val="1000"/>
              </a:spcBef>
              <a:defRPr sz="19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When invoked, Claude reads the file and follows the instructions — it can run shell commands, edit files, call APIs</a:t>
            </a:r>
          </a:p>
          <a:p>
            <a:pPr>
              <a:spcBef>
                <a:spcPts val="1000"/>
              </a:spcBef>
              <a:defRPr sz="19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Accepts optional  $ARGUMENTS  so you can parameterize the command</a:t>
            </a:r>
          </a:p>
          <a:p>
            <a:pPr>
              <a:spcBef>
                <a:spcPts val="1000"/>
              </a:spcBef>
              <a:defRPr sz="19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No plugin system, no build step — just a .md file</a:t>
            </a:r>
          </a:p>
        </p:txBody>
      </p:sp>
      <p:sp>
        <p:nvSpPr>
          <p:cNvPr id="325" name="Rectangle 8"/>
          <p:cNvSpPr/>
          <p:nvPr/>
        </p:nvSpPr>
        <p:spPr>
          <a:xfrm>
            <a:off x="8138159" y="1261872"/>
            <a:ext cx="3429001" cy="320040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6" name="Rectangle 9"/>
          <p:cNvSpPr/>
          <p:nvPr/>
        </p:nvSpPr>
        <p:spPr>
          <a:xfrm>
            <a:off x="7747748" y="1261872"/>
            <a:ext cx="3819412" cy="320040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27" name="TextBox 10"/>
          <p:cNvSpPr txBox="1"/>
          <p:nvPr/>
        </p:nvSpPr>
        <p:spPr>
          <a:xfrm>
            <a:off x="7890604" y="1406331"/>
            <a:ext cx="3533699" cy="1170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~/.claude/</a:t>
            </a:r>
          </a:p>
          <a:p>
            <a:pPr>
              <a:defRPr sz="15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└── commands/</a:t>
            </a:r>
          </a:p>
          <a:p>
            <a:pPr>
              <a:defRPr sz="1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├── deploy-github-pages.md</a:t>
            </a:r>
          </a:p>
          <a:p>
            <a:pPr>
              <a:defRPr sz="1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├── create-pr.md</a:t>
            </a:r>
          </a:p>
          <a:p>
            <a:pPr>
              <a:defRPr sz="1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 └── run-tests.md</a:t>
            </a:r>
          </a:p>
        </p:txBody>
      </p:sp>
      <p:sp>
        <p:nvSpPr>
          <p:cNvPr id="328" name="TextBox 11"/>
          <p:cNvSpPr txBox="1"/>
          <p:nvPr/>
        </p:nvSpPr>
        <p:spPr>
          <a:xfrm>
            <a:off x="786129" y="5030347"/>
            <a:ext cx="9966962" cy="3143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Invoke it in Claude Code:</a:t>
            </a:r>
          </a:p>
        </p:txBody>
      </p:sp>
      <p:sp>
        <p:nvSpPr>
          <p:cNvPr id="329" name="Rectangle 12"/>
          <p:cNvSpPr/>
          <p:nvPr/>
        </p:nvSpPr>
        <p:spPr>
          <a:xfrm>
            <a:off x="740409" y="5441827"/>
            <a:ext cx="10698482" cy="68580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0" name="TextBox 13"/>
          <p:cNvSpPr txBox="1"/>
          <p:nvPr/>
        </p:nvSpPr>
        <p:spPr>
          <a:xfrm>
            <a:off x="965113" y="5631057"/>
            <a:ext cx="513416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claude$ </a:t>
            </a:r>
            <a:r>
              <a:rPr b="1">
                <a:solidFill>
                  <a:srgbClr val="4EC9A0"/>
                </a:solidFill>
              </a:rPr>
              <a:t>/deploy-github-pages my-landing-page</a:t>
            </a:r>
          </a:p>
        </p:txBody>
      </p:sp>
      <p:sp>
        <p:nvSpPr>
          <p:cNvPr id="331" name="TextBox 14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4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5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UNDER THE HOOD</a:t>
            </a:r>
          </a:p>
        </p:txBody>
      </p:sp>
      <p:sp>
        <p:nvSpPr>
          <p:cNvPr id="336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What the skill does — step by step</a:t>
            </a:r>
          </a:p>
        </p:txBody>
      </p:sp>
      <p:sp>
        <p:nvSpPr>
          <p:cNvPr id="337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8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339" name="Oval 7"/>
          <p:cNvSpPr/>
          <p:nvPr/>
        </p:nvSpPr>
        <p:spPr>
          <a:xfrm>
            <a:off x="731519" y="1289303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0" name="TextBox 8"/>
          <p:cNvSpPr txBox="1"/>
          <p:nvPr/>
        </p:nvSpPr>
        <p:spPr>
          <a:xfrm>
            <a:off x="786383" y="1361693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341" name="TextBox 9"/>
          <p:cNvSpPr txBox="1"/>
          <p:nvPr/>
        </p:nvSpPr>
        <p:spPr>
          <a:xfrm>
            <a:off x="1435608" y="1377341"/>
            <a:ext cx="3108961" cy="326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Check prerequisites</a:t>
            </a:r>
          </a:p>
        </p:txBody>
      </p:sp>
      <p:sp>
        <p:nvSpPr>
          <p:cNvPr id="342" name="TextBox 10"/>
          <p:cNvSpPr txBox="1"/>
          <p:nvPr/>
        </p:nvSpPr>
        <p:spPr>
          <a:xfrm>
            <a:off x="4709160" y="1389760"/>
            <a:ext cx="676656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Verifies git and gh are installed and gh is authenticated</a:t>
            </a:r>
          </a:p>
        </p:txBody>
      </p:sp>
      <p:sp>
        <p:nvSpPr>
          <p:cNvPr id="343" name="Rectangle 11"/>
          <p:cNvSpPr/>
          <p:nvPr/>
        </p:nvSpPr>
        <p:spPr>
          <a:xfrm>
            <a:off x="726694" y="1910252"/>
            <a:ext cx="10725912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4" name="Oval 12"/>
          <p:cNvSpPr/>
          <p:nvPr/>
        </p:nvSpPr>
        <p:spPr>
          <a:xfrm>
            <a:off x="731519" y="2057399"/>
            <a:ext cx="502921" cy="502922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5" name="TextBox 13"/>
          <p:cNvSpPr txBox="1"/>
          <p:nvPr/>
        </p:nvSpPr>
        <p:spPr>
          <a:xfrm>
            <a:off x="786383" y="2129790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346" name="TextBox 14"/>
          <p:cNvSpPr txBox="1"/>
          <p:nvPr/>
        </p:nvSpPr>
        <p:spPr>
          <a:xfrm>
            <a:off x="1435608" y="2145437"/>
            <a:ext cx="3108961" cy="326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 init if needed</a:t>
            </a:r>
          </a:p>
        </p:txBody>
      </p:sp>
      <p:sp>
        <p:nvSpPr>
          <p:cNvPr id="347" name="TextBox 15"/>
          <p:cNvSpPr txBox="1"/>
          <p:nvPr/>
        </p:nvSpPr>
        <p:spPr>
          <a:xfrm>
            <a:off x="4709160" y="2157856"/>
            <a:ext cx="6766561" cy="3020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Runs git init, git add ., git commit if no repo exists yet</a:t>
            </a:r>
          </a:p>
        </p:txBody>
      </p:sp>
      <p:sp>
        <p:nvSpPr>
          <p:cNvPr id="348" name="Rectangle 16"/>
          <p:cNvSpPr/>
          <p:nvPr/>
        </p:nvSpPr>
        <p:spPr>
          <a:xfrm>
            <a:off x="726694" y="2678348"/>
            <a:ext cx="10725912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49" name="Oval 17"/>
          <p:cNvSpPr/>
          <p:nvPr/>
        </p:nvSpPr>
        <p:spPr>
          <a:xfrm>
            <a:off x="731519" y="2825496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0" name="TextBox 18"/>
          <p:cNvSpPr txBox="1"/>
          <p:nvPr/>
        </p:nvSpPr>
        <p:spPr>
          <a:xfrm>
            <a:off x="786383" y="2859785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351" name="TextBox 19"/>
          <p:cNvSpPr txBox="1"/>
          <p:nvPr/>
        </p:nvSpPr>
        <p:spPr>
          <a:xfrm>
            <a:off x="1435608" y="2913533"/>
            <a:ext cx="3108961" cy="326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Create GitHub repo</a:t>
            </a:r>
          </a:p>
        </p:txBody>
      </p:sp>
      <p:sp>
        <p:nvSpPr>
          <p:cNvPr id="352" name="TextBox 20"/>
          <p:cNvSpPr txBox="1"/>
          <p:nvPr/>
        </p:nvSpPr>
        <p:spPr>
          <a:xfrm>
            <a:off x="4709160" y="2887852"/>
            <a:ext cx="676656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gh repo create  — public, no README, sets origin remote</a:t>
            </a:r>
          </a:p>
        </p:txBody>
      </p:sp>
      <p:sp>
        <p:nvSpPr>
          <p:cNvPr id="353" name="Rectangle 21"/>
          <p:cNvSpPr/>
          <p:nvPr/>
        </p:nvSpPr>
        <p:spPr>
          <a:xfrm>
            <a:off x="726694" y="3422649"/>
            <a:ext cx="10725912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4" name="Oval 22"/>
          <p:cNvSpPr/>
          <p:nvPr/>
        </p:nvSpPr>
        <p:spPr>
          <a:xfrm>
            <a:off x="731519" y="3593591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5" name="TextBox 23"/>
          <p:cNvSpPr txBox="1"/>
          <p:nvPr/>
        </p:nvSpPr>
        <p:spPr>
          <a:xfrm>
            <a:off x="786383" y="3627882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356" name="TextBox 24"/>
          <p:cNvSpPr txBox="1"/>
          <p:nvPr/>
        </p:nvSpPr>
        <p:spPr>
          <a:xfrm>
            <a:off x="1435608" y="3681628"/>
            <a:ext cx="3108961" cy="3268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Push code</a:t>
            </a:r>
          </a:p>
        </p:txBody>
      </p:sp>
      <p:sp>
        <p:nvSpPr>
          <p:cNvPr id="357" name="TextBox 25"/>
          <p:cNvSpPr txBox="1"/>
          <p:nvPr/>
        </p:nvSpPr>
        <p:spPr>
          <a:xfrm>
            <a:off x="4709160" y="3655949"/>
            <a:ext cx="676656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 push -u origin main</a:t>
            </a:r>
          </a:p>
        </p:txBody>
      </p:sp>
      <p:sp>
        <p:nvSpPr>
          <p:cNvPr id="358" name="Rectangle 26"/>
          <p:cNvSpPr/>
          <p:nvPr/>
        </p:nvSpPr>
        <p:spPr>
          <a:xfrm>
            <a:off x="726694" y="4204935"/>
            <a:ext cx="10725912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9" name="Oval 27"/>
          <p:cNvSpPr/>
          <p:nvPr/>
        </p:nvSpPr>
        <p:spPr>
          <a:xfrm>
            <a:off x="731519" y="4361688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0" name="TextBox 28"/>
          <p:cNvSpPr txBox="1"/>
          <p:nvPr/>
        </p:nvSpPr>
        <p:spPr>
          <a:xfrm>
            <a:off x="786383" y="4408678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361" name="TextBox 29"/>
          <p:cNvSpPr txBox="1"/>
          <p:nvPr/>
        </p:nvSpPr>
        <p:spPr>
          <a:xfrm>
            <a:off x="1435608" y="4449725"/>
            <a:ext cx="3108961" cy="326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Enable Pages</a:t>
            </a:r>
          </a:p>
        </p:txBody>
      </p:sp>
      <p:sp>
        <p:nvSpPr>
          <p:cNvPr id="362" name="TextBox 30"/>
          <p:cNvSpPr txBox="1"/>
          <p:nvPr/>
        </p:nvSpPr>
        <p:spPr>
          <a:xfrm>
            <a:off x="4709160" y="4436745"/>
            <a:ext cx="676656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GitHub API call via gh api to activate Pages on main /</a:t>
            </a:r>
          </a:p>
        </p:txBody>
      </p:sp>
      <p:sp>
        <p:nvSpPr>
          <p:cNvPr id="363" name="Rectangle 31"/>
          <p:cNvSpPr/>
          <p:nvPr/>
        </p:nvSpPr>
        <p:spPr>
          <a:xfrm>
            <a:off x="726694" y="5011451"/>
            <a:ext cx="10725912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4" name="Oval 32"/>
          <p:cNvSpPr/>
          <p:nvPr/>
        </p:nvSpPr>
        <p:spPr>
          <a:xfrm>
            <a:off x="731519" y="5129784"/>
            <a:ext cx="502921" cy="502921"/>
          </a:xfrm>
          <a:prstGeom prst="ellipse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5" name="TextBox 33"/>
          <p:cNvSpPr txBox="1"/>
          <p:nvPr/>
        </p:nvSpPr>
        <p:spPr>
          <a:xfrm>
            <a:off x="786383" y="5202174"/>
            <a:ext cx="393193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366" name="TextBox 34"/>
          <p:cNvSpPr txBox="1"/>
          <p:nvPr/>
        </p:nvSpPr>
        <p:spPr>
          <a:xfrm>
            <a:off x="1435608" y="5217821"/>
            <a:ext cx="3108961" cy="3268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6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Return live URL</a:t>
            </a:r>
          </a:p>
        </p:txBody>
      </p:sp>
      <p:sp>
        <p:nvSpPr>
          <p:cNvPr id="367" name="TextBox 35"/>
          <p:cNvSpPr txBox="1"/>
          <p:nvPr/>
        </p:nvSpPr>
        <p:spPr>
          <a:xfrm>
            <a:off x="4709160" y="5230241"/>
            <a:ext cx="676656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Polls until the site is live, then prints the URL</a:t>
            </a:r>
          </a:p>
        </p:txBody>
      </p:sp>
      <p:sp>
        <p:nvSpPr>
          <p:cNvPr id="368" name="TextBox 36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1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2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SKILL</a:t>
            </a:r>
          </a:p>
        </p:txBody>
      </p:sp>
      <p:sp>
        <p:nvSpPr>
          <p:cNvPr id="373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deploy-github-pages.md — the skill file</a:t>
            </a:r>
          </a:p>
        </p:txBody>
      </p:sp>
      <p:sp>
        <p:nvSpPr>
          <p:cNvPr id="374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5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16</a:t>
            </a:r>
          </a:p>
        </p:txBody>
      </p:sp>
      <p:sp>
        <p:nvSpPr>
          <p:cNvPr id="376" name="TextBox 7"/>
          <p:cNvSpPr txBox="1"/>
          <p:nvPr/>
        </p:nvSpPr>
        <p:spPr>
          <a:xfrm>
            <a:off x="777239" y="1188719"/>
            <a:ext cx="10607042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0F766E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Saved to  ~/.claude/commands/deploy-github-pages.md</a:t>
            </a:r>
          </a:p>
        </p:txBody>
      </p:sp>
      <p:sp>
        <p:nvSpPr>
          <p:cNvPr id="377" name="Rectangle 8"/>
          <p:cNvSpPr/>
          <p:nvPr/>
        </p:nvSpPr>
        <p:spPr>
          <a:xfrm>
            <a:off x="731519" y="1473027"/>
            <a:ext cx="10698482" cy="502920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8" name="TextBox 9"/>
          <p:cNvSpPr txBox="1"/>
          <p:nvPr/>
        </p:nvSpPr>
        <p:spPr>
          <a:xfrm>
            <a:off x="1621071" y="1427307"/>
            <a:ext cx="8937158" cy="5120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9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---</a:t>
            </a:r>
          </a:p>
          <a:p>
            <a:pPr>
              <a:defRPr sz="19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description: Deploy the current project to GitHub Pages</a:t>
            </a:r>
          </a:p>
          <a:p>
            <a:pPr>
              <a:defRPr sz="19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---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Deploy this project to GitHub Pages.</a:t>
            </a:r>
          </a:p>
          <a:p>
            <a:pPr>
              <a:defRPr sz="1900">
                <a:solidFill>
                  <a:srgbClr val="61AFE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Repo name (optional): $ARGUMENTS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1. Verify git is installed. If not, tell the user and stop.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2. Verify gh is installed and authenticated (gh auth status).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If not authenticated, run gh auth login and wait.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3. If no .git folder exists: git init, git add ., git commit.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4. If no remote 'origin': gh repo create $ARGUMENTS --public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--source=. --remote=origin --push, then skip step 5.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5. Otherwise: git push -u origin main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6. Enable Pages: gh api -X POST /repos/{owner}/{repo}/pages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-f source[branch]=main -f source[path]=/ (ignore 409).</a:t>
            </a:r>
          </a:p>
          <a:p>
            <a:pPr>
              <a:defRPr sz="19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7. Poll gh api /repos/{owner}/{repo}/pages --jq .html_url</a:t>
            </a:r>
          </a:p>
          <a:p>
            <a:pPr>
              <a:defRPr sz="19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</a:t>
            </a:r>
            <a:r>
              <a:rPr>
                <a:solidFill>
                  <a:srgbClr val="FFFFFF"/>
                </a:solidFill>
              </a:rPr>
              <a:t>until it returns a URL. Print: 'Live at &lt;url&gt;'</a:t>
            </a:r>
          </a:p>
        </p:txBody>
      </p:sp>
      <p:sp>
        <p:nvSpPr>
          <p:cNvPr id="379" name="TextBox 10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2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3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USAGE</a:t>
            </a:r>
          </a:p>
        </p:txBody>
      </p:sp>
      <p:sp>
        <p:nvSpPr>
          <p:cNvPr id="384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How to use the skill</a:t>
            </a:r>
          </a:p>
        </p:txBody>
      </p:sp>
      <p:sp>
        <p:nvSpPr>
          <p:cNvPr id="385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6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17</a:t>
            </a:r>
          </a:p>
        </p:txBody>
      </p:sp>
      <p:sp>
        <p:nvSpPr>
          <p:cNvPr id="387" name="TextBox 7"/>
          <p:cNvSpPr txBox="1"/>
          <p:nvPr/>
        </p:nvSpPr>
        <p:spPr>
          <a:xfrm>
            <a:off x="777240" y="1261872"/>
            <a:ext cx="5120640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1. Install the skill (once)</a:t>
            </a:r>
          </a:p>
        </p:txBody>
      </p:sp>
      <p:sp>
        <p:nvSpPr>
          <p:cNvPr id="388" name="Rectangle 8"/>
          <p:cNvSpPr/>
          <p:nvPr/>
        </p:nvSpPr>
        <p:spPr>
          <a:xfrm>
            <a:off x="731520" y="1755648"/>
            <a:ext cx="5212080" cy="2926081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89" name="TextBox 9"/>
          <p:cNvSpPr txBox="1"/>
          <p:nvPr/>
        </p:nvSpPr>
        <p:spPr>
          <a:xfrm>
            <a:off x="1051559" y="1938527"/>
            <a:ext cx="3648018" cy="1386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Create the commands directory</a:t>
            </a:r>
          </a:p>
          <a:p>
            <a:pPr>
              <a:defRPr b="1" sz="1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-p ~/.claude/commands</a:t>
            </a:r>
          </a:p>
          <a:p>
            <a:pPr>
              <a:defRPr sz="1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15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Copy the skill file</a:t>
            </a:r>
          </a:p>
          <a:p>
            <a:pPr>
              <a:defRPr b="1" sz="1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deploy-github-pages.md \</a:t>
            </a:r>
          </a:p>
          <a:p>
            <a:pPr>
              <a:defRPr b="1" sz="1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 ~/.claude/commands/</a:t>
            </a:r>
          </a:p>
        </p:txBody>
      </p:sp>
      <p:sp>
        <p:nvSpPr>
          <p:cNvPr id="390" name="Rectangle 10"/>
          <p:cNvSpPr/>
          <p:nvPr/>
        </p:nvSpPr>
        <p:spPr>
          <a:xfrm>
            <a:off x="6263640" y="1234439"/>
            <a:ext cx="12701" cy="530352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1" name="TextBox 11"/>
          <p:cNvSpPr txBox="1"/>
          <p:nvPr/>
        </p:nvSpPr>
        <p:spPr>
          <a:xfrm>
            <a:off x="6537960" y="1261872"/>
            <a:ext cx="5212081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solidFill>
                  <a:srgbClr val="0F766E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2. Run it from any project</a:t>
            </a:r>
          </a:p>
        </p:txBody>
      </p:sp>
      <p:sp>
        <p:nvSpPr>
          <p:cNvPr id="392" name="TextBox 12"/>
          <p:cNvSpPr txBox="1"/>
          <p:nvPr/>
        </p:nvSpPr>
        <p:spPr>
          <a:xfrm>
            <a:off x="6537960" y="1755648"/>
            <a:ext cx="5029201" cy="314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In Claude Code, just type:</a:t>
            </a:r>
          </a:p>
        </p:txBody>
      </p:sp>
      <p:sp>
        <p:nvSpPr>
          <p:cNvPr id="393" name="Rectangle 13"/>
          <p:cNvSpPr/>
          <p:nvPr/>
        </p:nvSpPr>
        <p:spPr>
          <a:xfrm>
            <a:off x="6492240" y="2176272"/>
            <a:ext cx="5349241" cy="2505456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4" name="TextBox 14"/>
          <p:cNvSpPr txBox="1"/>
          <p:nvPr/>
        </p:nvSpPr>
        <p:spPr>
          <a:xfrm>
            <a:off x="6812279" y="2359151"/>
            <a:ext cx="4219611" cy="1170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With an auto-generated name:</a:t>
            </a:r>
          </a:p>
          <a:p>
            <a:pPr>
              <a:defRPr b="1" sz="1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/deploy-github-pages</a:t>
            </a:r>
          </a:p>
          <a:p>
            <a:pPr>
              <a:defRPr sz="15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</a:p>
          <a:p>
            <a:pPr>
              <a:defRPr sz="1500">
                <a:solidFill>
                  <a:srgbClr val="FAF8F5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Or specify the repo name:</a:t>
            </a:r>
          </a:p>
          <a:p>
            <a:pPr>
              <a:defRPr b="1" sz="1500">
                <a:solidFill>
                  <a:srgbClr val="4EC9A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/deploy-github-pages my-landing-page</a:t>
            </a:r>
          </a:p>
        </p:txBody>
      </p:sp>
      <p:sp>
        <p:nvSpPr>
          <p:cNvPr id="395" name="TextBox 15"/>
          <p:cNvSpPr txBox="1"/>
          <p:nvPr/>
        </p:nvSpPr>
        <p:spPr>
          <a:xfrm>
            <a:off x="6560820" y="3874279"/>
            <a:ext cx="5212081" cy="7715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600">
                <a:solidFill>
                  <a:srgbClr val="FAF8F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Claude will check prerequisites, create the repo,</a:t>
            </a:r>
          </a:p>
          <a:p>
            <a:pPr>
              <a:defRPr sz="1600">
                <a:solidFill>
                  <a:srgbClr val="FAF8F5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push your code, enable Pages, and return your live URL — all without leaving your editor.</a:t>
            </a:r>
          </a:p>
        </p:txBody>
      </p:sp>
      <p:sp>
        <p:nvSpPr>
          <p:cNvPr id="396" name="Rectangle 16"/>
          <p:cNvSpPr/>
          <p:nvPr/>
        </p:nvSpPr>
        <p:spPr>
          <a:xfrm>
            <a:off x="726694" y="4846320"/>
            <a:ext cx="10725912" cy="1485150"/>
          </a:xfrm>
          <a:prstGeom prst="rect">
            <a:avLst/>
          </a:prstGeom>
          <a:solidFill>
            <a:srgbClr val="F0FDFA"/>
          </a:solidFill>
          <a:ln>
            <a:solidFill>
              <a:srgbClr val="E7E5E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7" name="Rectangle 17"/>
          <p:cNvSpPr/>
          <p:nvPr/>
        </p:nvSpPr>
        <p:spPr>
          <a:xfrm>
            <a:off x="731519" y="4846320"/>
            <a:ext cx="54827" cy="148515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8" name="TextBox 18"/>
          <p:cNvSpPr txBox="1"/>
          <p:nvPr/>
        </p:nvSpPr>
        <p:spPr>
          <a:xfrm>
            <a:off x="1005839" y="5036499"/>
            <a:ext cx="9966961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Part 1 in a single command. Part 2 is just /deploy-github-pages.</a:t>
            </a:r>
          </a:p>
        </p:txBody>
      </p:sp>
      <p:sp>
        <p:nvSpPr>
          <p:cNvPr id="399" name="TextBox 19"/>
          <p:cNvSpPr txBox="1"/>
          <p:nvPr/>
        </p:nvSpPr>
        <p:spPr>
          <a:xfrm>
            <a:off x="1005839" y="5839484"/>
            <a:ext cx="9966961" cy="302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5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The skill handles every edge case: no git repo, no remote, Pages already enabled — all gracefully.</a:t>
            </a:r>
          </a:p>
        </p:txBody>
      </p:sp>
      <p:sp>
        <p:nvSpPr>
          <p:cNvPr id="400" name="TextBox 20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Box 3"/>
          <p:cNvSpPr txBox="1"/>
          <p:nvPr/>
        </p:nvSpPr>
        <p:spPr>
          <a:xfrm>
            <a:off x="822960" y="1874518"/>
            <a:ext cx="5394961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4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TeleTrex</a:t>
            </a:r>
          </a:p>
        </p:txBody>
      </p:sp>
      <p:sp>
        <p:nvSpPr>
          <p:cNvPr id="403" name="TextBox 4"/>
          <p:cNvSpPr txBox="1"/>
          <p:nvPr/>
        </p:nvSpPr>
        <p:spPr>
          <a:xfrm>
            <a:off x="822960" y="2560320"/>
            <a:ext cx="9052561" cy="1247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You're live.</a:t>
            </a:r>
          </a:p>
        </p:txBody>
      </p:sp>
      <p:sp>
        <p:nvSpPr>
          <p:cNvPr id="404" name="TextBox 5"/>
          <p:cNvSpPr txBox="1"/>
          <p:nvPr/>
        </p:nvSpPr>
        <p:spPr>
          <a:xfrm>
            <a:off x="822960" y="4160520"/>
            <a:ext cx="9052561" cy="107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2DD4B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Manual: 6 steps, ~5 minutes, zero cost</a:t>
            </a:r>
          </a:p>
          <a:p>
            <a:pPr>
              <a:spcBef>
                <a:spcPts val="600"/>
              </a:spcBef>
              <a:defRPr>
                <a:solidFill>
                  <a:srgbClr val="2DD4B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Automated: /deploy-github-pages, ~30 seconds</a:t>
            </a:r>
          </a:p>
          <a:p>
            <a:pPr>
              <a:spcBef>
                <a:spcPts val="600"/>
              </a:spcBef>
              <a:defRPr>
                <a:solidFill>
                  <a:srgbClr val="2DD4B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   Skill file lives in ~/.claude/commands/ — works in any project</a:t>
            </a:r>
          </a:p>
        </p:txBody>
      </p:sp>
      <p:sp>
        <p:nvSpPr>
          <p:cNvPr id="405" name="TextBox 7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  <p:sp>
        <p:nvSpPr>
          <p:cNvPr id="406" name="TextBox 27"/>
          <p:cNvSpPr txBox="1"/>
          <p:nvPr/>
        </p:nvSpPr>
        <p:spPr>
          <a:xfrm>
            <a:off x="274320" y="6492240"/>
            <a:ext cx="1540663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0" name="TextBox 3"/>
          <p:cNvSpPr txBox="1"/>
          <p:nvPr/>
        </p:nvSpPr>
        <p:spPr>
          <a:xfrm>
            <a:off x="822960" y="2011679"/>
            <a:ext cx="3566161" cy="1132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7200">
                <a:solidFill>
                  <a:srgbClr val="0A4A45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PART 3</a:t>
            </a:r>
          </a:p>
        </p:txBody>
      </p:sp>
      <p:sp>
        <p:nvSpPr>
          <p:cNvPr id="121" name="TextBox 4"/>
          <p:cNvSpPr txBox="1"/>
          <p:nvPr/>
        </p:nvSpPr>
        <p:spPr>
          <a:xfrm>
            <a:off x="822960" y="2926079"/>
            <a:ext cx="9052561" cy="8915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56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Fork, Contribute &amp; PR</a:t>
            </a:r>
          </a:p>
        </p:txBody>
      </p:sp>
      <p:sp>
        <p:nvSpPr>
          <p:cNvPr id="122" name="TextBox 5"/>
          <p:cNvSpPr txBox="1"/>
          <p:nvPr/>
        </p:nvSpPr>
        <p:spPr>
          <a:xfrm>
            <a:off x="822960" y="4114799"/>
            <a:ext cx="8138161" cy="426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200">
                <a:solidFill>
                  <a:srgbClr val="2DD4B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Four steps from idea to merged pull request</a:t>
            </a:r>
          </a:p>
        </p:txBody>
      </p:sp>
      <p:sp>
        <p:nvSpPr>
          <p:cNvPr id="123" name="TextBox 6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  <p:sp>
        <p:nvSpPr>
          <p:cNvPr id="124" name="TextBox 27"/>
          <p:cNvSpPr txBox="1"/>
          <p:nvPr/>
        </p:nvSpPr>
        <p:spPr>
          <a:xfrm>
            <a:off x="274320" y="6492240"/>
            <a:ext cx="1540663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8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CONCEPTS</a:t>
            </a:r>
          </a:p>
        </p:txBody>
      </p:sp>
      <p:sp>
        <p:nvSpPr>
          <p:cNvPr id="129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What is Forking?</a:t>
            </a:r>
          </a:p>
        </p:txBody>
      </p:sp>
      <p:sp>
        <p:nvSpPr>
          <p:cNvPr id="130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1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20</a:t>
            </a:r>
          </a:p>
        </p:txBody>
      </p:sp>
      <p:sp>
        <p:nvSpPr>
          <p:cNvPr id="132" name="TextBox 7"/>
          <p:cNvSpPr txBox="1"/>
          <p:nvPr/>
        </p:nvSpPr>
        <p:spPr>
          <a:xfrm>
            <a:off x="700398" y="1421931"/>
            <a:ext cx="7150622" cy="25481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A fork is your personal copy of someone else's repository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Lives under your GitHub account — you have full write access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The original repo is called the upstream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Changes in your fork don't affect upstream until a PR is merged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Pull Requests propose your changes back to the original project</a:t>
            </a:r>
          </a:p>
          <a:p>
            <a:pPr>
              <a:spcBef>
                <a:spcPts val="1000"/>
              </a:spcBef>
              <a:defRPr sz="2000">
                <a:solidFill>
                  <a:srgbClr val="1C191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Maintainers review, discuss, and merge (or decline) your PR</a:t>
            </a:r>
          </a:p>
        </p:txBody>
      </p:sp>
      <p:sp>
        <p:nvSpPr>
          <p:cNvPr id="133" name="Rectangle 8"/>
          <p:cNvSpPr/>
          <p:nvPr/>
        </p:nvSpPr>
        <p:spPr>
          <a:xfrm>
            <a:off x="761264" y="4942277"/>
            <a:ext cx="10799107" cy="1388609"/>
          </a:xfrm>
          <a:prstGeom prst="rect">
            <a:avLst/>
          </a:prstGeom>
          <a:solidFill>
            <a:srgbClr val="F0FDFA"/>
          </a:solidFill>
          <a:ln>
            <a:solidFill>
              <a:srgbClr val="E7E5E4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4" name="Rectangle 9"/>
          <p:cNvSpPr/>
          <p:nvPr/>
        </p:nvSpPr>
        <p:spPr>
          <a:xfrm>
            <a:off x="731611" y="4923067"/>
            <a:ext cx="45400" cy="142703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TextBox 10"/>
          <p:cNvSpPr txBox="1"/>
          <p:nvPr/>
        </p:nvSpPr>
        <p:spPr>
          <a:xfrm>
            <a:off x="850940" y="4983510"/>
            <a:ext cx="2743201" cy="289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3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Example repo for today</a:t>
            </a:r>
          </a:p>
        </p:txBody>
      </p:sp>
      <p:sp>
        <p:nvSpPr>
          <p:cNvPr id="136" name="TextBox 11"/>
          <p:cNvSpPr txBox="1"/>
          <p:nvPr/>
        </p:nvSpPr>
        <p:spPr>
          <a:xfrm>
            <a:off x="870150" y="5311461"/>
            <a:ext cx="6296224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20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https://github.com/hd-admin/hackerdojo.org</a:t>
            </a:r>
          </a:p>
        </p:txBody>
      </p:sp>
      <p:sp>
        <p:nvSpPr>
          <p:cNvPr id="137" name="TextBox 12"/>
          <p:cNvSpPr txBox="1"/>
          <p:nvPr/>
        </p:nvSpPr>
        <p:spPr>
          <a:xfrm>
            <a:off x="901740" y="5922104"/>
            <a:ext cx="2743201" cy="277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3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Your fork: https://github.com/YOUR-USERNAME/hackerdojo.org</a:t>
            </a:r>
          </a:p>
        </p:txBody>
      </p:sp>
      <p:sp>
        <p:nvSpPr>
          <p:cNvPr id="138" name="TextBox 13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1 OF 4</a:t>
            </a:r>
          </a:p>
        </p:txBody>
      </p:sp>
      <p:sp>
        <p:nvSpPr>
          <p:cNvPr id="171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Fork the repository on GitHub</a:t>
            </a:r>
          </a:p>
        </p:txBody>
      </p:sp>
      <p:sp>
        <p:nvSpPr>
          <p:cNvPr id="172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21</a:t>
            </a:r>
          </a:p>
        </p:txBody>
      </p:sp>
      <p:sp>
        <p:nvSpPr>
          <p:cNvPr id="174" name="TextBox 7"/>
          <p:cNvSpPr txBox="1"/>
          <p:nvPr/>
        </p:nvSpPr>
        <p:spPr>
          <a:xfrm>
            <a:off x="777239" y="1234439"/>
            <a:ext cx="10607042" cy="593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Navigate to the repo on GitHub and click Fork in the top-right corner.</a:t>
            </a:r>
          </a:p>
        </p:txBody>
      </p:sp>
      <p:sp>
        <p:nvSpPr>
          <p:cNvPr id="175" name="Rectangle 8"/>
          <p:cNvSpPr/>
          <p:nvPr/>
        </p:nvSpPr>
        <p:spPr>
          <a:xfrm>
            <a:off x="731519" y="1965959"/>
            <a:ext cx="10698482" cy="438912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9"/>
          <p:cNvSpPr txBox="1"/>
          <p:nvPr/>
        </p:nvSpPr>
        <p:spPr>
          <a:xfrm>
            <a:off x="1051559" y="2148839"/>
            <a:ext cx="5972496" cy="390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200">
                <a:solidFill>
                  <a:schemeClr val="accent3">
                    <a:lumOff val="11470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Open the upstream repo in your browser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https://github.com/hd-admin/hackerdojo.org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Click the Fork button (top-right corner)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GitHub creates your personal copy instantly: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https://github.com/YOUR-USERNAME/hackerdojo.org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  <p:sp>
        <p:nvSpPr>
          <p:cNvPr id="177" name="TextBox 10"/>
          <p:cNvSpPr txBox="1"/>
          <p:nvPr/>
        </p:nvSpPr>
        <p:spPr>
          <a:xfrm>
            <a:off x="2016301" y="6477406"/>
            <a:ext cx="99669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D97A1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💡  </a:t>
            </a:r>
            <a:r>
              <a:t>Your fork is fully independent. Pushes go to YOUR copy only — nothing changes upstream until you open a PR.</a:t>
            </a:r>
          </a:p>
        </p:txBody>
      </p:sp>
      <p:sp>
        <p:nvSpPr>
          <p:cNvPr id="178" name="TextBox 11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2 OF 4</a:t>
            </a:r>
          </a:p>
        </p:txBody>
      </p:sp>
      <p:sp>
        <p:nvSpPr>
          <p:cNvPr id="171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Clone your fork to your machine</a:t>
            </a:r>
          </a:p>
        </p:txBody>
      </p:sp>
      <p:sp>
        <p:nvSpPr>
          <p:cNvPr id="172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22</a:t>
            </a:r>
          </a:p>
        </p:txBody>
      </p:sp>
      <p:sp>
        <p:nvSpPr>
          <p:cNvPr id="174" name="TextBox 7"/>
          <p:cNvSpPr txBox="1"/>
          <p:nvPr/>
        </p:nvSpPr>
        <p:spPr>
          <a:xfrm>
            <a:off x="777239" y="1234439"/>
            <a:ext cx="10607042" cy="593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Clone YOUR fork (not the original), then add upstream so you can pull future updates.</a:t>
            </a:r>
          </a:p>
        </p:txBody>
      </p:sp>
      <p:sp>
        <p:nvSpPr>
          <p:cNvPr id="175" name="Rectangle 8"/>
          <p:cNvSpPr/>
          <p:nvPr/>
        </p:nvSpPr>
        <p:spPr>
          <a:xfrm>
            <a:off x="731519" y="1965959"/>
            <a:ext cx="10698482" cy="438912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9"/>
          <p:cNvSpPr txBox="1"/>
          <p:nvPr/>
        </p:nvSpPr>
        <p:spPr>
          <a:xfrm>
            <a:off x="1051559" y="2148839"/>
            <a:ext cx="5972496" cy="390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200">
                <a:solidFill>
                  <a:schemeClr val="accent3">
                    <a:lumOff val="11470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Clone your fork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clone https://github.com/YOUR-USERNAME/hackerdojo.org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Enter the project folder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hackerdojo.org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Track the original as 'upstream'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remote add upstream https://github.com/hd-admin/hackerdojo.org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Confirm both remotes are set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remote -v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  <p:sp>
        <p:nvSpPr>
          <p:cNvPr id="177" name="TextBox 10"/>
          <p:cNvSpPr txBox="1"/>
          <p:nvPr/>
        </p:nvSpPr>
        <p:spPr>
          <a:xfrm>
            <a:off x="2016301" y="6477406"/>
            <a:ext cx="99669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D97A1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💡  </a:t>
            </a:r>
            <a:r>
              <a:t>Always clone YOUR fork, not the upstream. Cloning upstream gives you no push access and skips the PR workflow.</a:t>
            </a:r>
          </a:p>
        </p:txBody>
      </p:sp>
      <p:sp>
        <p:nvSpPr>
          <p:cNvPr id="178" name="TextBox 11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3 OF 4</a:t>
            </a:r>
          </a:p>
        </p:txBody>
      </p:sp>
      <p:sp>
        <p:nvSpPr>
          <p:cNvPr id="171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Create a branch, make your changes, and commit</a:t>
            </a:r>
          </a:p>
        </p:txBody>
      </p:sp>
      <p:sp>
        <p:nvSpPr>
          <p:cNvPr id="172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23</a:t>
            </a:r>
          </a:p>
        </p:txBody>
      </p:sp>
      <p:sp>
        <p:nvSpPr>
          <p:cNvPr id="174" name="TextBox 7"/>
          <p:cNvSpPr txBox="1"/>
          <p:nvPr/>
        </p:nvSpPr>
        <p:spPr>
          <a:xfrm>
            <a:off x="777239" y="1234439"/>
            <a:ext cx="10607042" cy="593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Work on a dedicated branch — never commit directly to main.</a:t>
            </a:r>
          </a:p>
        </p:txBody>
      </p:sp>
      <p:sp>
        <p:nvSpPr>
          <p:cNvPr id="175" name="Rectangle 8"/>
          <p:cNvSpPr/>
          <p:nvPr/>
        </p:nvSpPr>
        <p:spPr>
          <a:xfrm>
            <a:off x="731519" y="1965959"/>
            <a:ext cx="10698482" cy="438912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9"/>
          <p:cNvSpPr txBox="1"/>
          <p:nvPr/>
        </p:nvSpPr>
        <p:spPr>
          <a:xfrm>
            <a:off x="1051559" y="2148839"/>
            <a:ext cx="5972496" cy="390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200">
                <a:solidFill>
                  <a:schemeClr val="accent3">
                    <a:lumOff val="11470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Create and switch to a feature branch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checkout -b fix/update-homepage-text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Edit the file you want to change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e.g. open index.html in VS Code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Stage your changes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add index.html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Commit with a clear, descriptive message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commit -m "Update homepage welcome text"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  <p:sp>
        <p:nvSpPr>
          <p:cNvPr id="177" name="TextBox 10"/>
          <p:cNvSpPr txBox="1"/>
          <p:nvPr/>
        </p:nvSpPr>
        <p:spPr>
          <a:xfrm>
            <a:off x="2016301" y="6477406"/>
            <a:ext cx="99669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D97A1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💡  </a:t>
            </a:r>
            <a:r>
              <a:t>Branch names like fix/…, feat/…, or docs/… signal intent at a glance and keep your main branch clean.</a:t>
            </a:r>
          </a:p>
        </p:txBody>
      </p:sp>
      <p:sp>
        <p:nvSpPr>
          <p:cNvPr id="178" name="TextBox 11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-1" y="0"/>
            <a:ext cx="12188954" cy="6858000"/>
          </a:xfrm>
          <a:prstGeom prst="rect">
            <a:avLst/>
          </a:prstGeom>
          <a:solidFill>
            <a:srgbClr val="FAF8F5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9" name="Rectangle 2"/>
          <p:cNvSpPr/>
          <p:nvPr/>
        </p:nvSpPr>
        <p:spPr>
          <a:xfrm>
            <a:off x="-1" y="0"/>
            <a:ext cx="12188954" cy="50800"/>
          </a:xfrm>
          <a:prstGeom prst="rect">
            <a:avLst/>
          </a:prstGeom>
          <a:solidFill>
            <a:srgbClr val="0F766E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0" name="TextBox 3"/>
          <p:cNvSpPr txBox="1"/>
          <p:nvPr/>
        </p:nvSpPr>
        <p:spPr>
          <a:xfrm>
            <a:off x="777239" y="347472"/>
            <a:ext cx="10424161" cy="2524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1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STEP 4 OF 4</a:t>
            </a:r>
          </a:p>
        </p:txBody>
      </p:sp>
      <p:sp>
        <p:nvSpPr>
          <p:cNvPr id="171" name="TextBox 4"/>
          <p:cNvSpPr txBox="1"/>
          <p:nvPr/>
        </p:nvSpPr>
        <p:spPr>
          <a:xfrm>
            <a:off x="777239" y="502919"/>
            <a:ext cx="10424161" cy="612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3600">
                <a:solidFill>
                  <a:srgbClr val="1C1917"/>
                </a:solidFill>
                <a:latin typeface="Georgia"/>
                <a:ea typeface="Georgia"/>
                <a:cs typeface="Georgia"/>
                <a:sym typeface="Georgia"/>
              </a:defRPr>
            </a:lvl1pPr>
          </a:lstStyle>
          <a:p>
            <a:pPr/>
            <a:r>
              <a:t>Push your branch and open a Pull Request</a:t>
            </a:r>
          </a:p>
        </p:txBody>
      </p:sp>
      <p:sp>
        <p:nvSpPr>
          <p:cNvPr id="172" name="Rectangle 5"/>
          <p:cNvSpPr/>
          <p:nvPr/>
        </p:nvSpPr>
        <p:spPr>
          <a:xfrm>
            <a:off x="731519" y="1078991"/>
            <a:ext cx="10725913" cy="12701"/>
          </a:xfrm>
          <a:prstGeom prst="rect">
            <a:avLst/>
          </a:prstGeom>
          <a:solidFill>
            <a:srgbClr val="E7E5E4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TextBox 6"/>
          <p:cNvSpPr txBox="1"/>
          <p:nvPr/>
        </p:nvSpPr>
        <p:spPr>
          <a:xfrm>
            <a:off x="11567160" y="6492240"/>
            <a:ext cx="365761" cy="264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2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24</a:t>
            </a:r>
          </a:p>
        </p:txBody>
      </p:sp>
      <p:sp>
        <p:nvSpPr>
          <p:cNvPr id="174" name="TextBox 7"/>
          <p:cNvSpPr txBox="1"/>
          <p:nvPr/>
        </p:nvSpPr>
        <p:spPr>
          <a:xfrm>
            <a:off x="777239" y="1234439"/>
            <a:ext cx="10607042" cy="5933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57534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Push the branch to YOUR fork, then open a PR against the upstream repo.</a:t>
            </a:r>
          </a:p>
        </p:txBody>
      </p:sp>
      <p:sp>
        <p:nvSpPr>
          <p:cNvPr id="175" name="Rectangle 8"/>
          <p:cNvSpPr/>
          <p:nvPr/>
        </p:nvSpPr>
        <p:spPr>
          <a:xfrm>
            <a:off x="731519" y="1965959"/>
            <a:ext cx="10698482" cy="4389122"/>
          </a:xfrm>
          <a:prstGeom prst="rect">
            <a:avLst/>
          </a:prstGeom>
          <a:solidFill>
            <a:srgbClr val="131A21"/>
          </a:solidFill>
          <a:ln w="12700">
            <a:miter lim="400000"/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6" name="TextBox 9"/>
          <p:cNvSpPr txBox="1"/>
          <p:nvPr/>
        </p:nvSpPr>
        <p:spPr>
          <a:xfrm>
            <a:off x="1051559" y="2148839"/>
            <a:ext cx="5972496" cy="390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2200">
                <a:solidFill>
                  <a:schemeClr val="accent3">
                    <a:lumOff val="11470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Push the branch to your fork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git push -u origin fix/update-homepage-text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Open a PR with the GitHub CLI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gh pr create --repo hd-admin/hackerdojo.org \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--title "Update homepage welcome text" \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  --body "Improves the welcome message for new visitors."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GitHub also prints a URL after the push — open it to</a:t>
            </a:r>
          </a:p>
          <a:p>
            <a:pPr>
              <a:defRPr sz="2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# create the PR in the browser instead.</a:t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  <a:p>
            <a:pPr>
              <a:defRPr sz="2200">
                <a:solidFill>
                  <a:srgbClr val="E5C07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/>
            </a:r>
          </a:p>
        </p:txBody>
      </p:sp>
      <p:sp>
        <p:nvSpPr>
          <p:cNvPr id="177" name="TextBox 10"/>
          <p:cNvSpPr txBox="1"/>
          <p:nvPr/>
        </p:nvSpPr>
        <p:spPr>
          <a:xfrm>
            <a:off x="2016301" y="6477406"/>
            <a:ext cx="9966961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300">
                <a:solidFill>
                  <a:srgbClr val="D97A1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>
                <a:latin typeface="+mn-lt"/>
                <a:ea typeface="+mn-ea"/>
                <a:cs typeface="+mn-cs"/>
                <a:sym typeface="Helvetica"/>
              </a:rPr>
              <a:t>💡  </a:t>
            </a:r>
            <a:r>
              <a:t>After your PR is merged: git pull upstream main &amp;&amp; git push origin main  keeps your fork in sync.</a:t>
            </a:r>
          </a:p>
        </p:txBody>
      </p:sp>
      <p:sp>
        <p:nvSpPr>
          <p:cNvPr id="178" name="TextBox 11"/>
          <p:cNvSpPr txBox="1"/>
          <p:nvPr/>
        </p:nvSpPr>
        <p:spPr>
          <a:xfrm>
            <a:off x="274319" y="6492240"/>
            <a:ext cx="1540664" cy="2775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1200">
                <a:solidFill>
                  <a:srgbClr val="0F766E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https://teletrex.com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
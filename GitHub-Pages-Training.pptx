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4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1824780" y="769937"/>
            <a:ext cx="9743441" cy="1668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797994" y="2438400"/>
            <a:ext cx="4770227" cy="441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0D111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5" name="Rectangle 2"/>
          <p:cNvSpPr/>
          <p:nvPr/>
        </p:nvSpPr>
        <p:spPr>
          <a:xfrm>
            <a:off x="-2" y="0"/>
            <a:ext cx="12188956" cy="762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6" name="Rectangle 3"/>
          <p:cNvSpPr/>
          <p:nvPr/>
        </p:nvSpPr>
        <p:spPr>
          <a:xfrm>
            <a:off x="-2" y="6781800"/>
            <a:ext cx="12188956" cy="762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7" name="TextBox 4"/>
          <p:cNvSpPr txBox="1"/>
          <p:nvPr/>
        </p:nvSpPr>
        <p:spPr>
          <a:xfrm>
            <a:off x="822960" y="1920239"/>
            <a:ext cx="7223760" cy="277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200">
                <a:solidFill>
                  <a:srgbClr val="2DD4B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TRAINING SESSION</a:t>
            </a:r>
          </a:p>
        </p:txBody>
      </p:sp>
      <p:sp>
        <p:nvSpPr>
          <p:cNvPr id="98" name="TextBox 5"/>
          <p:cNvSpPr txBox="1"/>
          <p:nvPr/>
        </p:nvSpPr>
        <p:spPr>
          <a:xfrm>
            <a:off x="822960" y="2377439"/>
            <a:ext cx="9509761" cy="1767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5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Deploy Your First Website</a:t>
            </a:r>
          </a:p>
          <a:p>
            <a:pPr>
              <a:defRPr sz="58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to GitHub Pages</a:t>
            </a:r>
          </a:p>
        </p:txBody>
      </p:sp>
      <p:sp>
        <p:nvSpPr>
          <p:cNvPr id="99" name="TextBox 6"/>
          <p:cNvSpPr txBox="1"/>
          <p:nvPr/>
        </p:nvSpPr>
        <p:spPr>
          <a:xfrm>
            <a:off x="822960" y="4480560"/>
            <a:ext cx="9052561" cy="389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000">
                <a:solidFill>
                  <a:srgbClr val="A8A09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Manual deployment → automated with a Claude Code skill</a:t>
            </a:r>
          </a:p>
        </p:txBody>
      </p:sp>
      <p:sp>
        <p:nvSpPr>
          <p:cNvPr id="100" name="TextBox 7"/>
          <p:cNvSpPr txBox="1"/>
          <p:nvPr/>
        </p:nvSpPr>
        <p:spPr>
          <a:xfrm>
            <a:off x="822960" y="6126480"/>
            <a:ext cx="5394962" cy="2773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300">
                <a:solidFill>
                  <a:srgbClr val="DDDDDD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Louis Roehrs   ·  TeleTrex  ·  Mountain View, CA</a:t>
            </a:r>
          </a:p>
        </p:txBody>
      </p:sp>
      <p:sp>
        <p:nvSpPr>
          <p:cNvPr id="101" name="TextBox 8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Screenshot 2026-06-09 at 6.24.27 PM.png" descr="Screenshot 2026-06-09 at 6.24.27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60304" y="3068029"/>
            <a:ext cx="3695701" cy="37719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</p:pic>
      <p:sp>
        <p:nvSpPr>
          <p:cNvPr id="104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5" name="TextBox 3"/>
          <p:cNvSpPr txBox="1"/>
          <p:nvPr/>
        </p:nvSpPr>
        <p:spPr>
          <a:xfrm>
            <a:off x="777239" y="384048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What we'll cover today</a:t>
            </a:r>
          </a:p>
        </p:txBody>
      </p:sp>
      <p:sp>
        <p:nvSpPr>
          <p:cNvPr id="106" name="Rectangle 4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7" name="TextBox 5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08" name="Rectangle 6"/>
          <p:cNvSpPr/>
          <p:nvPr/>
        </p:nvSpPr>
        <p:spPr>
          <a:xfrm>
            <a:off x="731519" y="1371600"/>
            <a:ext cx="457202" cy="4572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9" name="TextBox 7"/>
          <p:cNvSpPr txBox="1"/>
          <p:nvPr/>
        </p:nvSpPr>
        <p:spPr>
          <a:xfrm>
            <a:off x="777238" y="1380744"/>
            <a:ext cx="365762" cy="408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2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10" name="TextBox 8"/>
          <p:cNvSpPr txBox="1"/>
          <p:nvPr/>
        </p:nvSpPr>
        <p:spPr>
          <a:xfrm>
            <a:off x="1417318" y="1371600"/>
            <a:ext cx="9509764" cy="408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2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Part 1 — Manual deployment</a:t>
            </a:r>
          </a:p>
        </p:txBody>
      </p:sp>
      <p:sp>
        <p:nvSpPr>
          <p:cNvPr id="111" name="TextBox 9"/>
          <p:cNvSpPr txBox="1"/>
          <p:nvPr/>
        </p:nvSpPr>
        <p:spPr>
          <a:xfrm>
            <a:off x="1417318" y="1792223"/>
            <a:ext cx="9509764" cy="314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Create a repo, push your code, enable GitHub Pages step by step</a:t>
            </a:r>
          </a:p>
        </p:txBody>
      </p:sp>
      <p:sp>
        <p:nvSpPr>
          <p:cNvPr id="112" name="Rectangle 10"/>
          <p:cNvSpPr/>
          <p:nvPr/>
        </p:nvSpPr>
        <p:spPr>
          <a:xfrm>
            <a:off x="731519" y="2331720"/>
            <a:ext cx="457202" cy="457202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3" name="TextBox 11"/>
          <p:cNvSpPr txBox="1"/>
          <p:nvPr/>
        </p:nvSpPr>
        <p:spPr>
          <a:xfrm>
            <a:off x="777238" y="2340865"/>
            <a:ext cx="365762" cy="408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 sz="2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14" name="TextBox 12"/>
          <p:cNvSpPr txBox="1"/>
          <p:nvPr/>
        </p:nvSpPr>
        <p:spPr>
          <a:xfrm>
            <a:off x="1417318" y="2331721"/>
            <a:ext cx="9509764" cy="408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2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Part 2 — Automate it</a:t>
            </a:r>
          </a:p>
        </p:txBody>
      </p:sp>
      <p:sp>
        <p:nvSpPr>
          <p:cNvPr id="115" name="TextBox 13"/>
          <p:cNvSpPr txBox="1"/>
          <p:nvPr/>
        </p:nvSpPr>
        <p:spPr>
          <a:xfrm>
            <a:off x="1417318" y="2752344"/>
            <a:ext cx="9509764" cy="314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Build a /deploy-github-pages Claude Code skill that does all of Part 1 in one command</a:t>
            </a:r>
          </a:p>
        </p:txBody>
      </p:sp>
      <p:sp>
        <p:nvSpPr>
          <p:cNvPr id="116" name="TextBox 14"/>
          <p:cNvSpPr txBox="1"/>
          <p:nvPr/>
        </p:nvSpPr>
        <p:spPr>
          <a:xfrm>
            <a:off x="777239" y="6035041"/>
            <a:ext cx="9966961" cy="2896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i="1" sz="14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Prerequisites: a GitHub account, Git installed, and a text editor.</a:t>
            </a:r>
          </a:p>
        </p:txBody>
      </p:sp>
      <p:sp>
        <p:nvSpPr>
          <p:cNvPr id="117" name="TextBox 15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  <p:sp>
        <p:nvSpPr>
          <p:cNvPr id="118" name="TextBox 8"/>
          <p:cNvSpPr txBox="1"/>
          <p:nvPr/>
        </p:nvSpPr>
        <p:spPr>
          <a:xfrm>
            <a:off x="3902320" y="4557328"/>
            <a:ext cx="9509763" cy="408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2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Materials at this link —&gt;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1" name="TextBox 3"/>
          <p:cNvSpPr txBox="1"/>
          <p:nvPr/>
        </p:nvSpPr>
        <p:spPr>
          <a:xfrm>
            <a:off x="822960" y="2011679"/>
            <a:ext cx="3566162" cy="1132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7200">
                <a:solidFill>
                  <a:srgbClr val="0A4A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PART 1</a:t>
            </a:r>
          </a:p>
        </p:txBody>
      </p:sp>
      <p:sp>
        <p:nvSpPr>
          <p:cNvPr id="122" name="TextBox 4"/>
          <p:cNvSpPr txBox="1"/>
          <p:nvPr/>
        </p:nvSpPr>
        <p:spPr>
          <a:xfrm>
            <a:off x="822960" y="2926079"/>
            <a:ext cx="9052561" cy="891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5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The Manual Way</a:t>
            </a:r>
          </a:p>
        </p:txBody>
      </p:sp>
      <p:sp>
        <p:nvSpPr>
          <p:cNvPr id="123" name="TextBox 5"/>
          <p:cNvSpPr txBox="1"/>
          <p:nvPr/>
        </p:nvSpPr>
        <p:spPr>
          <a:xfrm>
            <a:off x="822960" y="4114800"/>
            <a:ext cx="8138160" cy="426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200">
                <a:solidFill>
                  <a:srgbClr val="2DD4B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Six steps from zero to a live website</a:t>
            </a:r>
          </a:p>
        </p:txBody>
      </p:sp>
      <p:sp>
        <p:nvSpPr>
          <p:cNvPr id="124" name="TextBox 6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  <p:sp>
        <p:nvSpPr>
          <p:cNvPr id="125" name="TextBox 27"/>
          <p:cNvSpPr txBox="1"/>
          <p:nvPr/>
        </p:nvSpPr>
        <p:spPr>
          <a:xfrm>
            <a:off x="274319" y="6492241"/>
            <a:ext cx="1540662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FAF8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8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9" name="TextBox 3"/>
          <p:cNvSpPr txBox="1"/>
          <p:nvPr/>
        </p:nvSpPr>
        <p:spPr>
          <a:xfrm>
            <a:off x="777239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BACKGROUND</a:t>
            </a:r>
          </a:p>
        </p:txBody>
      </p:sp>
      <p:sp>
        <p:nvSpPr>
          <p:cNvPr id="130" name="TextBox 4"/>
          <p:cNvSpPr txBox="1"/>
          <p:nvPr/>
        </p:nvSpPr>
        <p:spPr>
          <a:xfrm>
            <a:off x="777239" y="502920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What is GitHub Pages?</a:t>
            </a:r>
          </a:p>
        </p:txBody>
      </p:sp>
      <p:sp>
        <p:nvSpPr>
          <p:cNvPr id="131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2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33" name="TextBox 7"/>
          <p:cNvSpPr txBox="1"/>
          <p:nvPr/>
        </p:nvSpPr>
        <p:spPr>
          <a:xfrm>
            <a:off x="700398" y="1421932"/>
            <a:ext cx="7150621" cy="254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Free static website hosting provided by GitHub</a:t>
            </a:r>
          </a:p>
          <a:p>
            <a:pPr>
              <a:spcBef>
                <a:spcPts val="1000"/>
              </a:spcBef>
              <a:defRPr sz="20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Serves HTML, CSS, JS and images directly from a repository</a:t>
            </a:r>
          </a:p>
          <a:p>
            <a:pPr>
              <a:spcBef>
                <a:spcPts val="1000"/>
              </a:spcBef>
              <a:defRPr sz="20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Instant HTTPS — no configuration needed</a:t>
            </a:r>
          </a:p>
          <a:p>
            <a:pPr>
              <a:spcBef>
                <a:spcPts val="1000"/>
              </a:spcBef>
              <a:defRPr sz="20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Custom domains supported (CNAME file)</a:t>
            </a:r>
          </a:p>
          <a:p>
            <a:pPr>
              <a:spcBef>
                <a:spcPts val="1000"/>
              </a:spcBef>
              <a:defRPr sz="20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Deploys automatically on every push to your chosen branch</a:t>
            </a:r>
          </a:p>
          <a:p>
            <a:pPr>
              <a:spcBef>
                <a:spcPts val="1000"/>
              </a:spcBef>
              <a:defRPr sz="20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Free for public repos; private repos need GitHub Pro or Team</a:t>
            </a:r>
          </a:p>
        </p:txBody>
      </p:sp>
      <p:sp>
        <p:nvSpPr>
          <p:cNvPr id="134" name="Rectangle 8"/>
          <p:cNvSpPr/>
          <p:nvPr/>
        </p:nvSpPr>
        <p:spPr>
          <a:xfrm>
            <a:off x="761263" y="4942277"/>
            <a:ext cx="10799109" cy="1388610"/>
          </a:xfrm>
          <a:prstGeom prst="rect">
            <a:avLst/>
          </a:prstGeom>
          <a:solidFill>
            <a:srgbClr val="F0FDFA"/>
          </a:solidFill>
          <a:ln>
            <a:solidFill>
              <a:srgbClr val="E7E5E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5" name="Rectangle 9"/>
          <p:cNvSpPr/>
          <p:nvPr/>
        </p:nvSpPr>
        <p:spPr>
          <a:xfrm>
            <a:off x="731611" y="4923066"/>
            <a:ext cx="45401" cy="1427031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6" name="TextBox 10"/>
          <p:cNvSpPr txBox="1"/>
          <p:nvPr/>
        </p:nvSpPr>
        <p:spPr>
          <a:xfrm>
            <a:off x="850940" y="4983511"/>
            <a:ext cx="2743201" cy="289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3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Your URL will be</a:t>
            </a:r>
          </a:p>
        </p:txBody>
      </p:sp>
      <p:sp>
        <p:nvSpPr>
          <p:cNvPr id="137" name="TextBox 11"/>
          <p:cNvSpPr txBox="1"/>
          <p:nvPr/>
        </p:nvSpPr>
        <p:spPr>
          <a:xfrm>
            <a:off x="870149" y="5311462"/>
            <a:ext cx="6296226" cy="370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0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https://username.github.io/repo-name</a:t>
            </a:r>
          </a:p>
        </p:txBody>
      </p:sp>
      <p:sp>
        <p:nvSpPr>
          <p:cNvPr id="138" name="TextBox 12"/>
          <p:cNvSpPr txBox="1"/>
          <p:nvPr/>
        </p:nvSpPr>
        <p:spPr>
          <a:xfrm>
            <a:off x="901740" y="5922105"/>
            <a:ext cx="2743201" cy="2773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i="1" sz="13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https://acme.github.io/landing</a:t>
            </a:r>
          </a:p>
        </p:txBody>
      </p:sp>
      <p:sp>
        <p:nvSpPr>
          <p:cNvPr id="139" name="TextBox 13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FAF8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2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3" name="TextBox 3"/>
          <p:cNvSpPr txBox="1"/>
          <p:nvPr/>
        </p:nvSpPr>
        <p:spPr>
          <a:xfrm>
            <a:off x="777239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PREREQUISITES</a:t>
            </a:r>
          </a:p>
        </p:txBody>
      </p:sp>
      <p:sp>
        <p:nvSpPr>
          <p:cNvPr id="144" name="TextBox 4"/>
          <p:cNvSpPr txBox="1"/>
          <p:nvPr/>
        </p:nvSpPr>
        <p:spPr>
          <a:xfrm>
            <a:off x="777239" y="502920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Before you start</a:t>
            </a:r>
          </a:p>
        </p:txBody>
      </p:sp>
      <p:sp>
        <p:nvSpPr>
          <p:cNvPr id="145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6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47" name="Rectangle 7"/>
          <p:cNvSpPr/>
          <p:nvPr/>
        </p:nvSpPr>
        <p:spPr>
          <a:xfrm>
            <a:off x="731519" y="1377173"/>
            <a:ext cx="54866" cy="274322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8" name="TextBox 8"/>
          <p:cNvSpPr txBox="1"/>
          <p:nvPr/>
        </p:nvSpPr>
        <p:spPr>
          <a:xfrm>
            <a:off x="1005839" y="1325880"/>
            <a:ext cx="3749042" cy="3769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GitHub account</a:t>
            </a:r>
          </a:p>
        </p:txBody>
      </p:sp>
      <p:sp>
        <p:nvSpPr>
          <p:cNvPr id="149" name="TextBox 9"/>
          <p:cNvSpPr txBox="1"/>
          <p:nvPr/>
        </p:nvSpPr>
        <p:spPr>
          <a:xfrm>
            <a:off x="4378356" y="1419098"/>
            <a:ext cx="6583681" cy="307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500">
                <a:solidFill>
                  <a:srgbClr val="57534E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https://github.com/signup — free</a:t>
            </a:r>
          </a:p>
        </p:txBody>
      </p:sp>
      <p:sp>
        <p:nvSpPr>
          <p:cNvPr id="150" name="Rectangle 10"/>
          <p:cNvSpPr/>
          <p:nvPr/>
        </p:nvSpPr>
        <p:spPr>
          <a:xfrm>
            <a:off x="731518" y="1764792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1" name="Rectangle 11"/>
          <p:cNvSpPr/>
          <p:nvPr/>
        </p:nvSpPr>
        <p:spPr>
          <a:xfrm>
            <a:off x="731519" y="2200133"/>
            <a:ext cx="54866" cy="274322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2" name="TextBox 12"/>
          <p:cNvSpPr txBox="1"/>
          <p:nvPr/>
        </p:nvSpPr>
        <p:spPr>
          <a:xfrm>
            <a:off x="1005839" y="2148839"/>
            <a:ext cx="3749042" cy="3769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Git</a:t>
            </a:r>
          </a:p>
        </p:txBody>
      </p:sp>
      <p:sp>
        <p:nvSpPr>
          <p:cNvPr id="153" name="TextBox 13"/>
          <p:cNvSpPr txBox="1"/>
          <p:nvPr/>
        </p:nvSpPr>
        <p:spPr>
          <a:xfrm>
            <a:off x="4378356" y="2183625"/>
            <a:ext cx="6583681" cy="307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500">
                <a:solidFill>
                  <a:srgbClr val="57534E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git-scm.com  or  brew install git</a:t>
            </a:r>
          </a:p>
        </p:txBody>
      </p:sp>
      <p:sp>
        <p:nvSpPr>
          <p:cNvPr id="154" name="Rectangle 14"/>
          <p:cNvSpPr/>
          <p:nvPr/>
        </p:nvSpPr>
        <p:spPr>
          <a:xfrm>
            <a:off x="731518" y="2587750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5" name="Rectangle 15"/>
          <p:cNvSpPr/>
          <p:nvPr/>
        </p:nvSpPr>
        <p:spPr>
          <a:xfrm>
            <a:off x="731519" y="3023093"/>
            <a:ext cx="54866" cy="274322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" name="TextBox 16"/>
          <p:cNvSpPr txBox="1"/>
          <p:nvPr/>
        </p:nvSpPr>
        <p:spPr>
          <a:xfrm>
            <a:off x="1005839" y="2971800"/>
            <a:ext cx="3749042" cy="3769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GitHub CLI (gh)</a:t>
            </a:r>
          </a:p>
        </p:txBody>
      </p:sp>
      <p:sp>
        <p:nvSpPr>
          <p:cNvPr id="157" name="TextBox 17"/>
          <p:cNvSpPr txBox="1"/>
          <p:nvPr/>
        </p:nvSpPr>
        <p:spPr>
          <a:xfrm>
            <a:off x="4332561" y="3006584"/>
            <a:ext cx="7224994" cy="307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500">
                <a:solidFill>
                  <a:srgbClr val="57534E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cli.github.com  or  brew install gh  — optional but handy</a:t>
            </a:r>
          </a:p>
        </p:txBody>
      </p:sp>
      <p:sp>
        <p:nvSpPr>
          <p:cNvPr id="158" name="Rectangle 18"/>
          <p:cNvSpPr/>
          <p:nvPr/>
        </p:nvSpPr>
        <p:spPr>
          <a:xfrm>
            <a:off x="731518" y="3410710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9" name="Rectangle 19"/>
          <p:cNvSpPr/>
          <p:nvPr/>
        </p:nvSpPr>
        <p:spPr>
          <a:xfrm>
            <a:off x="731519" y="3846054"/>
            <a:ext cx="54866" cy="274321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0" name="TextBox 20"/>
          <p:cNvSpPr txBox="1"/>
          <p:nvPr/>
        </p:nvSpPr>
        <p:spPr>
          <a:xfrm>
            <a:off x="1005839" y="3794760"/>
            <a:ext cx="3749042" cy="3769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 text editor</a:t>
            </a:r>
          </a:p>
        </p:txBody>
      </p:sp>
      <p:sp>
        <p:nvSpPr>
          <p:cNvPr id="161" name="TextBox 21"/>
          <p:cNvSpPr txBox="1"/>
          <p:nvPr/>
        </p:nvSpPr>
        <p:spPr>
          <a:xfrm>
            <a:off x="4378356" y="3829545"/>
            <a:ext cx="6583681" cy="307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500">
                <a:solidFill>
                  <a:srgbClr val="57534E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VS Code, Cursor, Notepad — anything works</a:t>
            </a:r>
          </a:p>
        </p:txBody>
      </p:sp>
      <p:sp>
        <p:nvSpPr>
          <p:cNvPr id="162" name="Rectangle 22"/>
          <p:cNvSpPr/>
          <p:nvPr/>
        </p:nvSpPr>
        <p:spPr>
          <a:xfrm>
            <a:off x="731518" y="423367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" name="Rectangle 23"/>
          <p:cNvSpPr/>
          <p:nvPr/>
        </p:nvSpPr>
        <p:spPr>
          <a:xfrm>
            <a:off x="731519" y="4669013"/>
            <a:ext cx="54866" cy="274322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" name="TextBox 24"/>
          <p:cNvSpPr txBox="1"/>
          <p:nvPr/>
        </p:nvSpPr>
        <p:spPr>
          <a:xfrm>
            <a:off x="1005839" y="4617721"/>
            <a:ext cx="3749042" cy="3769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 terminal</a:t>
            </a:r>
          </a:p>
        </p:txBody>
      </p:sp>
      <p:sp>
        <p:nvSpPr>
          <p:cNvPr id="165" name="TextBox 25"/>
          <p:cNvSpPr txBox="1"/>
          <p:nvPr/>
        </p:nvSpPr>
        <p:spPr>
          <a:xfrm>
            <a:off x="4378356" y="4652505"/>
            <a:ext cx="6583681" cy="307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500">
                <a:solidFill>
                  <a:srgbClr val="57534E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Terminal.app, iTerm, Windows Terminal</a:t>
            </a:r>
          </a:p>
        </p:txBody>
      </p:sp>
      <p:sp>
        <p:nvSpPr>
          <p:cNvPr id="166" name="Rectangle 26"/>
          <p:cNvSpPr/>
          <p:nvPr/>
        </p:nvSpPr>
        <p:spPr>
          <a:xfrm>
            <a:off x="731518" y="5056632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7" name="TextBox 27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FAF8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0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" name="TextBox 3"/>
          <p:cNvSpPr txBox="1"/>
          <p:nvPr/>
        </p:nvSpPr>
        <p:spPr>
          <a:xfrm>
            <a:off x="777239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STEP 1 OF 6</a:t>
            </a:r>
          </a:p>
        </p:txBody>
      </p:sp>
      <p:sp>
        <p:nvSpPr>
          <p:cNvPr id="172" name="TextBox 4"/>
          <p:cNvSpPr txBox="1"/>
          <p:nvPr/>
        </p:nvSpPr>
        <p:spPr>
          <a:xfrm>
            <a:off x="777239" y="502920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Create your HTML file</a:t>
            </a:r>
          </a:p>
        </p:txBody>
      </p:sp>
      <p:sp>
        <p:nvSpPr>
          <p:cNvPr id="173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4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75" name="TextBox 7"/>
          <p:cNvSpPr txBox="1"/>
          <p:nvPr/>
        </p:nvSpPr>
        <p:spPr>
          <a:xfrm>
            <a:off x="777238" y="1234439"/>
            <a:ext cx="10607044" cy="593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7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Create a folder for your project and add a file named index.html — GitHub Pages serves this as your homepage.</a:t>
            </a:r>
          </a:p>
        </p:txBody>
      </p:sp>
      <p:sp>
        <p:nvSpPr>
          <p:cNvPr id="176" name="Rectangle 8"/>
          <p:cNvSpPr/>
          <p:nvPr/>
        </p:nvSpPr>
        <p:spPr>
          <a:xfrm>
            <a:off x="731519" y="1965959"/>
            <a:ext cx="10698482" cy="4389123"/>
          </a:xfrm>
          <a:prstGeom prst="rect">
            <a:avLst/>
          </a:prstGeom>
          <a:solidFill>
            <a:srgbClr val="131A2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7" name="TextBox 9"/>
          <p:cNvSpPr txBox="1"/>
          <p:nvPr/>
        </p:nvSpPr>
        <p:spPr>
          <a:xfrm>
            <a:off x="1051558" y="2148839"/>
            <a:ext cx="5972494" cy="3901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2200">
                <a:solidFill>
                  <a:srgbClr val="B4CC8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&lt;!-- index.html --&gt;</a:t>
            </a:r>
          </a:p>
          <a:p>
            <a:pPr>
              <a:defRPr sz="2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&lt;!DOCTYPE html&gt;</a:t>
            </a:r>
          </a:p>
          <a:p>
            <a:pPr>
              <a:defRPr sz="2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&lt;html lang="en"&gt;</a:t>
            </a:r>
          </a:p>
          <a:p>
            <a:pPr>
              <a:defRPr sz="2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&lt;head&gt;</a:t>
            </a:r>
          </a:p>
          <a:p>
            <a:pPr>
              <a:defRPr sz="2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&lt;meta charset="UTF-8" /&gt;</a:t>
            </a:r>
          </a:p>
          <a:p>
            <a:pPr>
              <a:defRPr sz="2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&lt;title&gt;My First Site&lt;/title&gt;</a:t>
            </a:r>
          </a:p>
          <a:p>
            <a:pPr>
              <a:defRPr sz="2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&lt;/head&gt;</a:t>
            </a:r>
          </a:p>
          <a:p>
            <a:pPr>
              <a:defRPr sz="2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&lt;body&gt;</a:t>
            </a:r>
          </a:p>
          <a:p>
            <a:pPr>
              <a:defRPr sz="2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&lt;h1&gt;Hello from GitHub Pages!&lt;/h1&gt;</a:t>
            </a:r>
          </a:p>
          <a:p>
            <a:pPr>
              <a:defRPr sz="2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&lt;p&gt;My first live website.&lt;/p&gt;</a:t>
            </a:r>
          </a:p>
          <a:p>
            <a:pPr>
              <a:defRPr sz="2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&lt;/body&gt;</a:t>
            </a:r>
          </a:p>
          <a:p>
            <a:pPr>
              <a:defRPr sz="2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&lt;/html&gt;</a:t>
            </a:r>
          </a:p>
        </p:txBody>
      </p:sp>
      <p:sp>
        <p:nvSpPr>
          <p:cNvPr id="178" name="TextBox 10"/>
          <p:cNvSpPr txBox="1"/>
          <p:nvPr/>
        </p:nvSpPr>
        <p:spPr>
          <a:xfrm>
            <a:off x="2016301" y="6477407"/>
            <a:ext cx="9966961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300">
                <a:solidFill>
                  <a:srgbClr val="D97A16"/>
                </a:solidFill>
              </a:defRPr>
            </a:pPr>
            <a:r>
              <a:t>⚠  </a:t>
            </a:r>
            <a:r>
              <a:rPr>
                <a:latin typeface="Helvetica Neue"/>
                <a:ea typeface="Helvetica Neue"/>
                <a:cs typeface="Helvetica Neue"/>
                <a:sym typeface="Helvetica Neue"/>
              </a:rPr>
              <a:t>The file must be named exactly index.html (all lowercase). Any other name won't be served automatically.</a:t>
            </a:r>
          </a:p>
        </p:txBody>
      </p:sp>
      <p:sp>
        <p:nvSpPr>
          <p:cNvPr id="179" name="TextBox 11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FAF8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2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3" name="TextBox 3"/>
          <p:cNvSpPr txBox="1"/>
          <p:nvPr/>
        </p:nvSpPr>
        <p:spPr>
          <a:xfrm>
            <a:off x="777239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STEP 2 OF 6</a:t>
            </a:r>
          </a:p>
        </p:txBody>
      </p:sp>
      <p:sp>
        <p:nvSpPr>
          <p:cNvPr id="184" name="TextBox 4"/>
          <p:cNvSpPr txBox="1"/>
          <p:nvPr/>
        </p:nvSpPr>
        <p:spPr>
          <a:xfrm>
            <a:off x="777239" y="502920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Initialize a Git repository</a:t>
            </a:r>
          </a:p>
        </p:txBody>
      </p:sp>
      <p:sp>
        <p:nvSpPr>
          <p:cNvPr id="185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6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87" name="TextBox 7"/>
          <p:cNvSpPr txBox="1"/>
          <p:nvPr/>
        </p:nvSpPr>
        <p:spPr>
          <a:xfrm>
            <a:off x="777238" y="1234439"/>
            <a:ext cx="10607044" cy="339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7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In your terminal, navigate to your project folder and run:</a:t>
            </a:r>
          </a:p>
        </p:txBody>
      </p:sp>
      <p:sp>
        <p:nvSpPr>
          <p:cNvPr id="188" name="Rectangle 8"/>
          <p:cNvSpPr/>
          <p:nvPr/>
        </p:nvSpPr>
        <p:spPr>
          <a:xfrm>
            <a:off x="731519" y="1828799"/>
            <a:ext cx="6858001" cy="4663443"/>
          </a:xfrm>
          <a:prstGeom prst="rect">
            <a:avLst/>
          </a:prstGeom>
          <a:solidFill>
            <a:srgbClr val="131A2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9" name="TextBox 9"/>
          <p:cNvSpPr txBox="1"/>
          <p:nvPr/>
        </p:nvSpPr>
        <p:spPr>
          <a:xfrm>
            <a:off x="1051558" y="2011679"/>
            <a:ext cx="6465932" cy="4142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25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Navigate to your project folder</a:t>
            </a:r>
          </a:p>
          <a:p>
            <a:pPr>
              <a:defRPr b="1" sz="25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cd ~/projects/my-site</a:t>
            </a:r>
          </a:p>
          <a:p>
            <a:pPr>
              <a:defRPr sz="25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25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Initialise a new git repository</a:t>
            </a:r>
          </a:p>
          <a:p>
            <a:pPr>
              <a:defRPr b="1" sz="25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 init</a:t>
            </a:r>
          </a:p>
          <a:p>
            <a:pPr>
              <a:defRPr sz="25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25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Stage all files</a:t>
            </a:r>
          </a:p>
          <a:p>
            <a:pPr>
              <a:defRPr b="1" sz="25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 add .</a:t>
            </a:r>
          </a:p>
          <a:p>
            <a:pPr>
              <a:defRPr sz="25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25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Create your first commit</a:t>
            </a:r>
          </a:p>
          <a:p>
            <a:pPr>
              <a:defRPr b="1" sz="25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 commit -m "Initial commit"</a:t>
            </a:r>
          </a:p>
        </p:txBody>
      </p:sp>
      <p:sp>
        <p:nvSpPr>
          <p:cNvPr id="190" name="Rectangle 10"/>
          <p:cNvSpPr/>
          <p:nvPr/>
        </p:nvSpPr>
        <p:spPr>
          <a:xfrm>
            <a:off x="7932418" y="1828799"/>
            <a:ext cx="3520442" cy="4663443"/>
          </a:xfrm>
          <a:prstGeom prst="rect">
            <a:avLst/>
          </a:prstGeom>
          <a:solidFill>
            <a:srgbClr val="F0FDFA"/>
          </a:solidFill>
          <a:ln>
            <a:solidFill>
              <a:srgbClr val="E7E5E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1" name="Rectangle 11"/>
          <p:cNvSpPr/>
          <p:nvPr/>
        </p:nvSpPr>
        <p:spPr>
          <a:xfrm>
            <a:off x="7926462" y="1828799"/>
            <a:ext cx="47527" cy="4663443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2" name="TextBox 12"/>
          <p:cNvSpPr txBox="1"/>
          <p:nvPr/>
        </p:nvSpPr>
        <p:spPr>
          <a:xfrm>
            <a:off x="8183878" y="2057400"/>
            <a:ext cx="3017522" cy="302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4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this does</a:t>
            </a:r>
          </a:p>
        </p:txBody>
      </p:sp>
      <p:sp>
        <p:nvSpPr>
          <p:cNvPr id="193" name="TextBox 13"/>
          <p:cNvSpPr txBox="1"/>
          <p:nvPr/>
        </p:nvSpPr>
        <p:spPr>
          <a:xfrm>
            <a:off x="8183878" y="2468880"/>
            <a:ext cx="3017522" cy="3743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>
              <a:defRPr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>
              <a:defRPr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>
              <a:defRPr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git init — creates a hidden .git folder that tracks changes on your machine</a:t>
            </a:r>
          </a:p>
          <a:p>
            <a:pPr>
              <a:spcBef>
                <a:spcPts val="600"/>
              </a:spcBef>
              <a:defRPr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git add . — stages every file in the folder</a:t>
            </a:r>
          </a:p>
          <a:p>
            <a:pPr>
              <a:spcBef>
                <a:spcPts val="600"/>
              </a:spcBef>
              <a:defRPr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git commit — saves a snapshot you can push</a:t>
            </a:r>
          </a:p>
        </p:txBody>
      </p:sp>
      <p:sp>
        <p:nvSpPr>
          <p:cNvPr id="194" name="TextBox 14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FAF8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7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8" name="TextBox 3"/>
          <p:cNvSpPr txBox="1"/>
          <p:nvPr/>
        </p:nvSpPr>
        <p:spPr>
          <a:xfrm>
            <a:off x="777239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STEP 3 OF 6</a:t>
            </a:r>
          </a:p>
        </p:txBody>
      </p:sp>
      <p:sp>
        <p:nvSpPr>
          <p:cNvPr id="199" name="TextBox 4"/>
          <p:cNvSpPr txBox="1"/>
          <p:nvPr/>
        </p:nvSpPr>
        <p:spPr>
          <a:xfrm>
            <a:off x="777239" y="502920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Create a GitHub repository</a:t>
            </a:r>
          </a:p>
        </p:txBody>
      </p:sp>
      <p:sp>
        <p:nvSpPr>
          <p:cNvPr id="200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1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202" name="TextBox 7"/>
          <p:cNvSpPr txBox="1"/>
          <p:nvPr/>
        </p:nvSpPr>
        <p:spPr>
          <a:xfrm>
            <a:off x="777238" y="1261872"/>
            <a:ext cx="5212084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Option A — GitHub website (UI)</a:t>
            </a:r>
          </a:p>
        </p:txBody>
      </p:sp>
      <p:sp>
        <p:nvSpPr>
          <p:cNvPr id="203" name="TextBox 8"/>
          <p:cNvSpPr txBox="1"/>
          <p:nvPr/>
        </p:nvSpPr>
        <p:spPr>
          <a:xfrm>
            <a:off x="777238" y="1737360"/>
            <a:ext cx="4937762" cy="18061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  Go to github.com and sign in</a:t>
            </a:r>
          </a:p>
          <a:p>
            <a:pPr>
              <a:spcBef>
                <a:spcPts val="500"/>
              </a:spcBef>
              <a:defRPr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  Click  +  →  New repository</a:t>
            </a:r>
          </a:p>
          <a:p>
            <a:pPr>
              <a:spcBef>
                <a:spcPts val="500"/>
              </a:spcBef>
              <a:defRPr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  Name it  </a:t>
            </a:r>
            <a:r>
              <a:rPr b="1"/>
              <a:t>my-site </a:t>
            </a:r>
            <a:r>
              <a:t> (or anything you like)</a:t>
            </a:r>
          </a:p>
          <a:p>
            <a:pPr>
              <a:spcBef>
                <a:spcPts val="500"/>
              </a:spcBef>
              <a:defRPr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  Set visibility to Public</a:t>
            </a:r>
          </a:p>
          <a:p>
            <a:pPr>
              <a:spcBef>
                <a:spcPts val="500"/>
              </a:spcBef>
              <a:defRPr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  Do NOT initialise with a README</a:t>
            </a:r>
          </a:p>
          <a:p>
            <a:pPr>
              <a:spcBef>
                <a:spcPts val="500"/>
              </a:spcBef>
              <a:defRPr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  Click  </a:t>
            </a:r>
            <a:r>
              <a:rPr b="1"/>
              <a:t>Create repository</a:t>
            </a:r>
          </a:p>
        </p:txBody>
      </p:sp>
      <p:sp>
        <p:nvSpPr>
          <p:cNvPr id="204" name="Rectangle 9"/>
          <p:cNvSpPr/>
          <p:nvPr/>
        </p:nvSpPr>
        <p:spPr>
          <a:xfrm>
            <a:off x="6263640" y="1234438"/>
            <a:ext cx="12702" cy="5303523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5" name="TextBox 10"/>
          <p:cNvSpPr txBox="1"/>
          <p:nvPr/>
        </p:nvSpPr>
        <p:spPr>
          <a:xfrm>
            <a:off x="6537959" y="1261872"/>
            <a:ext cx="5212082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0F766E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Option B — GitHub CLI (faster)</a:t>
            </a:r>
          </a:p>
        </p:txBody>
      </p:sp>
      <p:sp>
        <p:nvSpPr>
          <p:cNvPr id="206" name="TextBox 11"/>
          <p:cNvSpPr txBox="1"/>
          <p:nvPr/>
        </p:nvSpPr>
        <p:spPr>
          <a:xfrm>
            <a:off x="6537959" y="1737361"/>
            <a:ext cx="4937762" cy="302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5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If you have gh installed and authenticated:</a:t>
            </a:r>
          </a:p>
        </p:txBody>
      </p:sp>
      <p:sp>
        <p:nvSpPr>
          <p:cNvPr id="207" name="Rectangle 12"/>
          <p:cNvSpPr/>
          <p:nvPr/>
        </p:nvSpPr>
        <p:spPr>
          <a:xfrm>
            <a:off x="6492240" y="2194560"/>
            <a:ext cx="5349242" cy="3840480"/>
          </a:xfrm>
          <a:prstGeom prst="rect">
            <a:avLst/>
          </a:prstGeom>
          <a:solidFill>
            <a:srgbClr val="131A2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8" name="TextBox 13"/>
          <p:cNvSpPr txBox="1"/>
          <p:nvPr/>
        </p:nvSpPr>
        <p:spPr>
          <a:xfrm>
            <a:off x="6812278" y="2377439"/>
            <a:ext cx="4905521" cy="3012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b="1" sz="21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gh auth login</a:t>
            </a:r>
          </a:p>
          <a:p>
            <a:pPr>
              <a:defRPr sz="21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21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One command creates the repo</a:t>
            </a:r>
          </a:p>
          <a:p>
            <a:pPr>
              <a:defRPr b="1" sz="21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gh repo create my-site \</a:t>
            </a:r>
          </a:p>
          <a:p>
            <a:pPr>
              <a:defRPr b="1" sz="21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--public \</a:t>
            </a:r>
          </a:p>
          <a:p>
            <a:pPr>
              <a:defRPr b="1" sz="21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--source=. \</a:t>
            </a:r>
          </a:p>
          <a:p>
            <a:pPr>
              <a:defRPr b="1" sz="21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--remote=origin \</a:t>
            </a:r>
          </a:p>
          <a:p>
            <a:pPr>
              <a:defRPr b="1" sz="21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--push</a:t>
            </a:r>
          </a:p>
          <a:p>
            <a:pPr>
              <a:defRPr sz="2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2100">
                <a:solidFill>
                  <a:srgbClr val="EDEDE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Then skip to slide 10!</a:t>
            </a:r>
          </a:p>
        </p:txBody>
      </p:sp>
      <p:sp>
        <p:nvSpPr>
          <p:cNvPr id="209" name="TextBox 14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Rectangle 1"/>
          <p:cNvSpPr/>
          <p:nvPr/>
        </p:nvSpPr>
        <p:spPr>
          <a:xfrm>
            <a:off x="-4828" y="0"/>
            <a:ext cx="12188956" cy="6858001"/>
          </a:xfrm>
          <a:prstGeom prst="rect">
            <a:avLst/>
          </a:prstGeom>
          <a:solidFill>
            <a:srgbClr val="FAF8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2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" name="TextBox 3"/>
          <p:cNvSpPr txBox="1"/>
          <p:nvPr/>
        </p:nvSpPr>
        <p:spPr>
          <a:xfrm>
            <a:off x="777239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STEP 2 OF 6</a:t>
            </a:r>
          </a:p>
        </p:txBody>
      </p:sp>
      <p:sp>
        <p:nvSpPr>
          <p:cNvPr id="214" name="TextBox 4"/>
          <p:cNvSpPr txBox="1"/>
          <p:nvPr/>
        </p:nvSpPr>
        <p:spPr>
          <a:xfrm>
            <a:off x="777239" y="502920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Install gh</a:t>
            </a:r>
          </a:p>
        </p:txBody>
      </p:sp>
      <p:sp>
        <p:nvSpPr>
          <p:cNvPr id="215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217" name="Rectangle 8"/>
          <p:cNvSpPr/>
          <p:nvPr/>
        </p:nvSpPr>
        <p:spPr>
          <a:xfrm>
            <a:off x="755261" y="1828799"/>
            <a:ext cx="3379987" cy="4663443"/>
          </a:xfrm>
          <a:prstGeom prst="rect">
            <a:avLst/>
          </a:prstGeom>
          <a:solidFill>
            <a:srgbClr val="131A2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" name="TextBox 9"/>
          <p:cNvSpPr txBox="1"/>
          <p:nvPr/>
        </p:nvSpPr>
        <p:spPr>
          <a:xfrm>
            <a:off x="869543" y="2011679"/>
            <a:ext cx="3151423" cy="2301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25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b="1" sz="25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brew install gh</a:t>
            </a:r>
          </a:p>
          <a:p>
            <a:pPr>
              <a:defRPr sz="25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25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verify</a:t>
            </a:r>
          </a:p>
          <a:p>
            <a:pPr>
              <a:defRPr b="1" sz="25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gh —-version</a:t>
            </a:r>
          </a:p>
        </p:txBody>
      </p:sp>
      <p:sp>
        <p:nvSpPr>
          <p:cNvPr id="219" name="TextBox 14"/>
          <p:cNvSpPr txBox="1"/>
          <p:nvPr/>
        </p:nvSpPr>
        <p:spPr>
          <a:xfrm>
            <a:off x="274319" y="6492241"/>
            <a:ext cx="1540662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  <p:sp>
        <p:nvSpPr>
          <p:cNvPr id="220" name="Rectangle 10"/>
          <p:cNvSpPr/>
          <p:nvPr/>
        </p:nvSpPr>
        <p:spPr>
          <a:xfrm>
            <a:off x="4380160" y="1155301"/>
            <a:ext cx="12702" cy="5303523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" name="Macintosh"/>
          <p:cNvSpPr txBox="1"/>
          <p:nvPr/>
        </p:nvSpPr>
        <p:spPr>
          <a:xfrm>
            <a:off x="847999" y="1224383"/>
            <a:ext cx="1171126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Macintosh</a:t>
            </a:r>
          </a:p>
        </p:txBody>
      </p:sp>
      <p:sp>
        <p:nvSpPr>
          <p:cNvPr id="222" name="Windows"/>
          <p:cNvSpPr txBox="1"/>
          <p:nvPr/>
        </p:nvSpPr>
        <p:spPr>
          <a:xfrm>
            <a:off x="4773612" y="1224383"/>
            <a:ext cx="1051020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Windows</a:t>
            </a:r>
          </a:p>
        </p:txBody>
      </p:sp>
      <p:sp>
        <p:nvSpPr>
          <p:cNvPr id="223" name="Rectangle 8"/>
          <p:cNvSpPr/>
          <p:nvPr/>
        </p:nvSpPr>
        <p:spPr>
          <a:xfrm>
            <a:off x="4625476" y="1828800"/>
            <a:ext cx="3280405" cy="4663441"/>
          </a:xfrm>
          <a:prstGeom prst="rect">
            <a:avLst/>
          </a:prstGeom>
          <a:solidFill>
            <a:srgbClr val="131A2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4" name="TextBox 9"/>
          <p:cNvSpPr txBox="1"/>
          <p:nvPr/>
        </p:nvSpPr>
        <p:spPr>
          <a:xfrm>
            <a:off x="4821530" y="2011679"/>
            <a:ext cx="3151423" cy="3774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25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b="1" sz="25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winget install --id GitHub.cli</a:t>
            </a:r>
          </a:p>
          <a:p>
            <a:pPr>
              <a:defRPr b="1" sz="25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b="1" sz="25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b="1" sz="25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b="1" sz="25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b="1" sz="25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2500">
                <a:solidFill>
                  <a:srgbClr val="DDDDD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chocolatey</a:t>
            </a:r>
          </a:p>
          <a:p>
            <a:pPr>
              <a:defRPr b="1" sz="25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choco install gh</a:t>
            </a:r>
          </a:p>
        </p:txBody>
      </p:sp>
      <p:sp>
        <p:nvSpPr>
          <p:cNvPr id="225" name="Linux"/>
          <p:cNvSpPr txBox="1"/>
          <p:nvPr/>
        </p:nvSpPr>
        <p:spPr>
          <a:xfrm>
            <a:off x="8287708" y="1224383"/>
            <a:ext cx="691042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Linux</a:t>
            </a:r>
          </a:p>
        </p:txBody>
      </p:sp>
      <p:sp>
        <p:nvSpPr>
          <p:cNvPr id="226" name="Rectangle 8"/>
          <p:cNvSpPr/>
          <p:nvPr/>
        </p:nvSpPr>
        <p:spPr>
          <a:xfrm>
            <a:off x="8337416" y="1828799"/>
            <a:ext cx="3543530" cy="4663443"/>
          </a:xfrm>
          <a:prstGeom prst="rect">
            <a:avLst/>
          </a:prstGeom>
          <a:solidFill>
            <a:srgbClr val="131A2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7" name="TextBox 9"/>
          <p:cNvSpPr txBox="1"/>
          <p:nvPr/>
        </p:nvSpPr>
        <p:spPr>
          <a:xfrm>
            <a:off x="8657456" y="2011679"/>
            <a:ext cx="3151424" cy="3037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b="1" sz="25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b="1" sz="25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https://github.com/cli/cli/blob/trunk/docs/install_linux.md</a:t>
            </a:r>
          </a:p>
          <a:p>
            <a:pPr>
              <a:defRPr b="1" sz="25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</p:txBody>
      </p:sp>
      <p:sp>
        <p:nvSpPr>
          <p:cNvPr id="228" name="Rectangle 10"/>
          <p:cNvSpPr/>
          <p:nvPr/>
        </p:nvSpPr>
        <p:spPr>
          <a:xfrm>
            <a:off x="8123756" y="1155301"/>
            <a:ext cx="12702" cy="5303523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FAF8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1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2" name="TextBox 3"/>
          <p:cNvSpPr txBox="1"/>
          <p:nvPr/>
        </p:nvSpPr>
        <p:spPr>
          <a:xfrm>
            <a:off x="777239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STEP 4 OF 6</a:t>
            </a:r>
          </a:p>
        </p:txBody>
      </p:sp>
      <p:sp>
        <p:nvSpPr>
          <p:cNvPr id="233" name="TextBox 4"/>
          <p:cNvSpPr txBox="1"/>
          <p:nvPr/>
        </p:nvSpPr>
        <p:spPr>
          <a:xfrm>
            <a:off x="777239" y="502920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Push your code to GitHub</a:t>
            </a:r>
          </a:p>
        </p:txBody>
      </p:sp>
      <p:sp>
        <p:nvSpPr>
          <p:cNvPr id="234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236" name="TextBox 7"/>
          <p:cNvSpPr txBox="1"/>
          <p:nvPr/>
        </p:nvSpPr>
        <p:spPr>
          <a:xfrm>
            <a:off x="777238" y="1234439"/>
            <a:ext cx="10607044" cy="339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7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Connect your local repo to GitHub, then push. Copy the URL from the repo page you just created.</a:t>
            </a:r>
          </a:p>
        </p:txBody>
      </p:sp>
      <p:sp>
        <p:nvSpPr>
          <p:cNvPr id="237" name="Rectangle 8"/>
          <p:cNvSpPr/>
          <p:nvPr/>
        </p:nvSpPr>
        <p:spPr>
          <a:xfrm>
            <a:off x="731520" y="1874517"/>
            <a:ext cx="8046719" cy="4480562"/>
          </a:xfrm>
          <a:prstGeom prst="rect">
            <a:avLst/>
          </a:prstGeom>
          <a:solidFill>
            <a:srgbClr val="131A2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" name="TextBox 9"/>
          <p:cNvSpPr txBox="1"/>
          <p:nvPr/>
        </p:nvSpPr>
        <p:spPr>
          <a:xfrm>
            <a:off x="1051559" y="2057400"/>
            <a:ext cx="7359559" cy="3228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17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Add GitHub as the remote named 'origin'</a:t>
            </a:r>
          </a:p>
          <a:p>
            <a:pPr>
              <a:defRPr b="1" sz="17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 remote add origin https://github.com/YOU/my-site.git</a:t>
            </a:r>
          </a:p>
          <a:p>
            <a:pPr>
              <a:defRPr sz="17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17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Rename the default branch to 'main' (GitHub's default)</a:t>
            </a:r>
          </a:p>
          <a:p>
            <a:pPr>
              <a:defRPr b="1" sz="17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 branch -M main</a:t>
            </a:r>
          </a:p>
          <a:p>
            <a:pPr>
              <a:defRPr sz="17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17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Push and set upstream tracking</a:t>
            </a:r>
          </a:p>
          <a:p>
            <a:pPr>
              <a:defRPr b="1" sz="17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 push -u origin main</a:t>
            </a:r>
          </a:p>
          <a:p>
            <a:pPr>
              <a:defRPr sz="17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17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Future pushes are just:</a:t>
            </a:r>
          </a:p>
          <a:p>
            <a:pPr>
              <a:defRPr b="1" sz="17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 push</a:t>
            </a:r>
          </a:p>
          <a:p>
            <a:pPr>
              <a:defRPr b="1" sz="17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17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after doing a</a:t>
            </a:r>
            <a:r>
              <a:rPr>
                <a:solidFill>
                  <a:srgbClr val="4EC9A0"/>
                </a:solidFill>
              </a:rPr>
              <a:t> </a:t>
            </a:r>
            <a:r>
              <a:rPr b="1">
                <a:solidFill>
                  <a:srgbClr val="4EC9A0"/>
                </a:solidFill>
              </a:rPr>
              <a:t>git add  </a:t>
            </a:r>
            <a:r>
              <a:t>and</a:t>
            </a:r>
            <a:r>
              <a:rPr b="1">
                <a:solidFill>
                  <a:srgbClr val="4EC9A0"/>
                </a:solidFill>
              </a:rPr>
              <a:t>  git commit </a:t>
            </a:r>
          </a:p>
        </p:txBody>
      </p:sp>
      <p:sp>
        <p:nvSpPr>
          <p:cNvPr id="239" name="Rectangle 10"/>
          <p:cNvSpPr/>
          <p:nvPr/>
        </p:nvSpPr>
        <p:spPr>
          <a:xfrm>
            <a:off x="9052559" y="1874517"/>
            <a:ext cx="2514602" cy="2011680"/>
          </a:xfrm>
          <a:prstGeom prst="rect">
            <a:avLst/>
          </a:prstGeom>
          <a:solidFill>
            <a:srgbClr val="F0FDFA"/>
          </a:solidFill>
          <a:ln>
            <a:solidFill>
              <a:srgbClr val="E7E5E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" name="Rectangle 11"/>
          <p:cNvSpPr/>
          <p:nvPr/>
        </p:nvSpPr>
        <p:spPr>
          <a:xfrm>
            <a:off x="9052559" y="1874517"/>
            <a:ext cx="50802" cy="201168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" name="TextBox 12"/>
          <p:cNvSpPr txBox="1"/>
          <p:nvPr/>
        </p:nvSpPr>
        <p:spPr>
          <a:xfrm>
            <a:off x="9281159" y="2103121"/>
            <a:ext cx="2057402" cy="4928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4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Replace YOU with</a:t>
            </a:r>
          </a:p>
          <a:p>
            <a:pPr>
              <a:defRPr sz="14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your GitHub username</a:t>
            </a:r>
          </a:p>
        </p:txBody>
      </p:sp>
      <p:sp>
        <p:nvSpPr>
          <p:cNvPr id="242" name="TextBox 13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FAF8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5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6" name="TextBox 3"/>
          <p:cNvSpPr txBox="1"/>
          <p:nvPr/>
        </p:nvSpPr>
        <p:spPr>
          <a:xfrm>
            <a:off x="777239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STEP 5 OF 6</a:t>
            </a:r>
          </a:p>
        </p:txBody>
      </p:sp>
      <p:sp>
        <p:nvSpPr>
          <p:cNvPr id="247" name="TextBox 4"/>
          <p:cNvSpPr txBox="1"/>
          <p:nvPr/>
        </p:nvSpPr>
        <p:spPr>
          <a:xfrm>
            <a:off x="777239" y="502920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Enable GitHub Pages</a:t>
            </a:r>
          </a:p>
        </p:txBody>
      </p:sp>
      <p:sp>
        <p:nvSpPr>
          <p:cNvPr id="248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9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250" name="TextBox 7"/>
          <p:cNvSpPr txBox="1"/>
          <p:nvPr/>
        </p:nvSpPr>
        <p:spPr>
          <a:xfrm>
            <a:off x="777238" y="1261872"/>
            <a:ext cx="5212084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Option A — GitHub website (UI)</a:t>
            </a:r>
          </a:p>
        </p:txBody>
      </p:sp>
      <p:sp>
        <p:nvSpPr>
          <p:cNvPr id="251" name="Oval 8"/>
          <p:cNvSpPr/>
          <p:nvPr/>
        </p:nvSpPr>
        <p:spPr>
          <a:xfrm>
            <a:off x="731519" y="1719071"/>
            <a:ext cx="502923" cy="502923"/>
          </a:xfrm>
          <a:prstGeom prst="ellipse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2" name="TextBox 9"/>
          <p:cNvSpPr txBox="1"/>
          <p:nvPr/>
        </p:nvSpPr>
        <p:spPr>
          <a:xfrm>
            <a:off x="786383" y="1746505"/>
            <a:ext cx="393194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53" name="TextBox 10"/>
          <p:cNvSpPr txBox="1"/>
          <p:nvPr/>
        </p:nvSpPr>
        <p:spPr>
          <a:xfrm>
            <a:off x="1417319" y="1813356"/>
            <a:ext cx="4572002" cy="314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Open your repo on github.com</a:t>
            </a:r>
          </a:p>
        </p:txBody>
      </p:sp>
      <p:sp>
        <p:nvSpPr>
          <p:cNvPr id="254" name="Oval 11"/>
          <p:cNvSpPr/>
          <p:nvPr/>
        </p:nvSpPr>
        <p:spPr>
          <a:xfrm>
            <a:off x="731519" y="2359150"/>
            <a:ext cx="502923" cy="502923"/>
          </a:xfrm>
          <a:prstGeom prst="ellipse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5" name="TextBox 12"/>
          <p:cNvSpPr txBox="1"/>
          <p:nvPr/>
        </p:nvSpPr>
        <p:spPr>
          <a:xfrm>
            <a:off x="786383" y="2386583"/>
            <a:ext cx="393194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56" name="TextBox 13"/>
          <p:cNvSpPr txBox="1"/>
          <p:nvPr/>
        </p:nvSpPr>
        <p:spPr>
          <a:xfrm>
            <a:off x="1417319" y="2453436"/>
            <a:ext cx="4572002" cy="314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Click  Settings  (top tab row)</a:t>
            </a:r>
          </a:p>
        </p:txBody>
      </p:sp>
      <p:sp>
        <p:nvSpPr>
          <p:cNvPr id="257" name="Oval 14"/>
          <p:cNvSpPr/>
          <p:nvPr/>
        </p:nvSpPr>
        <p:spPr>
          <a:xfrm>
            <a:off x="731519" y="2999232"/>
            <a:ext cx="502923" cy="502923"/>
          </a:xfrm>
          <a:prstGeom prst="ellipse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8" name="TextBox 15"/>
          <p:cNvSpPr txBox="1"/>
          <p:nvPr/>
        </p:nvSpPr>
        <p:spPr>
          <a:xfrm>
            <a:off x="786383" y="3026665"/>
            <a:ext cx="393194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59" name="TextBox 16"/>
          <p:cNvSpPr txBox="1"/>
          <p:nvPr/>
        </p:nvSpPr>
        <p:spPr>
          <a:xfrm>
            <a:off x="1417319" y="3093516"/>
            <a:ext cx="4572002" cy="314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Scroll to  Pages  in the left sidebar</a:t>
            </a:r>
          </a:p>
        </p:txBody>
      </p:sp>
      <p:sp>
        <p:nvSpPr>
          <p:cNvPr id="260" name="Oval 17"/>
          <p:cNvSpPr/>
          <p:nvPr/>
        </p:nvSpPr>
        <p:spPr>
          <a:xfrm>
            <a:off x="731519" y="3639310"/>
            <a:ext cx="502923" cy="502923"/>
          </a:xfrm>
          <a:prstGeom prst="ellipse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1" name="TextBox 18"/>
          <p:cNvSpPr txBox="1"/>
          <p:nvPr/>
        </p:nvSpPr>
        <p:spPr>
          <a:xfrm>
            <a:off x="786383" y="3666745"/>
            <a:ext cx="393194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262" name="TextBox 19"/>
          <p:cNvSpPr txBox="1"/>
          <p:nvPr/>
        </p:nvSpPr>
        <p:spPr>
          <a:xfrm>
            <a:off x="1417319" y="3733597"/>
            <a:ext cx="4572002" cy="314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Under Source, select  "Deploy from a branch"</a:t>
            </a:r>
          </a:p>
        </p:txBody>
      </p:sp>
      <p:sp>
        <p:nvSpPr>
          <p:cNvPr id="263" name="Oval 20"/>
          <p:cNvSpPr/>
          <p:nvPr/>
        </p:nvSpPr>
        <p:spPr>
          <a:xfrm>
            <a:off x="731519" y="4279391"/>
            <a:ext cx="502923" cy="502923"/>
          </a:xfrm>
          <a:prstGeom prst="ellipse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4" name="TextBox 21"/>
          <p:cNvSpPr txBox="1"/>
          <p:nvPr/>
        </p:nvSpPr>
        <p:spPr>
          <a:xfrm>
            <a:off x="786383" y="4306824"/>
            <a:ext cx="393194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65" name="TextBox 22"/>
          <p:cNvSpPr txBox="1"/>
          <p:nvPr/>
        </p:nvSpPr>
        <p:spPr>
          <a:xfrm>
            <a:off x="1417319" y="4373677"/>
            <a:ext cx="4572002" cy="314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Branch: main  /  Folder: / (root)</a:t>
            </a:r>
          </a:p>
        </p:txBody>
      </p:sp>
      <p:sp>
        <p:nvSpPr>
          <p:cNvPr id="266" name="Oval 23"/>
          <p:cNvSpPr/>
          <p:nvPr/>
        </p:nvSpPr>
        <p:spPr>
          <a:xfrm>
            <a:off x="731519" y="4919471"/>
            <a:ext cx="502923" cy="502923"/>
          </a:xfrm>
          <a:prstGeom prst="ellipse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7" name="TextBox 24"/>
          <p:cNvSpPr txBox="1"/>
          <p:nvPr/>
        </p:nvSpPr>
        <p:spPr>
          <a:xfrm>
            <a:off x="786383" y="4946904"/>
            <a:ext cx="393194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68" name="TextBox 25"/>
          <p:cNvSpPr txBox="1"/>
          <p:nvPr/>
        </p:nvSpPr>
        <p:spPr>
          <a:xfrm>
            <a:off x="1417319" y="5013757"/>
            <a:ext cx="4572002" cy="314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Click  Save</a:t>
            </a:r>
          </a:p>
        </p:txBody>
      </p:sp>
      <p:sp>
        <p:nvSpPr>
          <p:cNvPr id="269" name="Rectangle 26"/>
          <p:cNvSpPr/>
          <p:nvPr/>
        </p:nvSpPr>
        <p:spPr>
          <a:xfrm>
            <a:off x="5802593" y="1194052"/>
            <a:ext cx="12702" cy="5303524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0" name="TextBox 27"/>
          <p:cNvSpPr txBox="1"/>
          <p:nvPr/>
        </p:nvSpPr>
        <p:spPr>
          <a:xfrm>
            <a:off x="6023564" y="1261872"/>
            <a:ext cx="5212082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0F766E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Option B — GitHub CLI</a:t>
            </a:r>
          </a:p>
        </p:txBody>
      </p:sp>
      <p:sp>
        <p:nvSpPr>
          <p:cNvPr id="271" name="Rectangle 28"/>
          <p:cNvSpPr/>
          <p:nvPr/>
        </p:nvSpPr>
        <p:spPr>
          <a:xfrm>
            <a:off x="6013036" y="1783078"/>
            <a:ext cx="5828446" cy="4572003"/>
          </a:xfrm>
          <a:prstGeom prst="rect">
            <a:avLst/>
          </a:prstGeom>
          <a:solidFill>
            <a:srgbClr val="131A2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2" name="TextBox 29"/>
          <p:cNvSpPr txBox="1"/>
          <p:nvPr/>
        </p:nvSpPr>
        <p:spPr>
          <a:xfrm>
            <a:off x="6159579" y="1965960"/>
            <a:ext cx="5535360" cy="3012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21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Enable Pages via the gh CLI</a:t>
            </a:r>
          </a:p>
          <a:p>
            <a:pPr>
              <a:defRPr b="1" sz="21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gh api \</a:t>
            </a:r>
          </a:p>
          <a:p>
            <a:pPr>
              <a:defRPr b="1" sz="21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-X POST \</a:t>
            </a:r>
          </a:p>
          <a:p>
            <a:pPr>
              <a:defRPr b="1" sz="21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/repos/YOU/my-site/pages \</a:t>
            </a:r>
          </a:p>
          <a:p>
            <a:pPr>
              <a:defRPr b="1" sz="21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-f source[branch]=main \</a:t>
            </a:r>
          </a:p>
          <a:p>
            <a:pPr>
              <a:defRPr b="1" sz="21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-f source[path]=/</a:t>
            </a:r>
          </a:p>
          <a:p>
            <a:pPr>
              <a:defRPr sz="2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21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Check deployment status</a:t>
            </a:r>
          </a:p>
          <a:p>
            <a:pPr>
              <a:defRPr b="1" sz="21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gh api /repos/YOU/my-site/pages \</a:t>
            </a:r>
          </a:p>
          <a:p>
            <a:pPr>
              <a:defRPr b="1" sz="21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--jq '.html_url'</a:t>
            </a:r>
          </a:p>
        </p:txBody>
      </p:sp>
      <p:sp>
        <p:nvSpPr>
          <p:cNvPr id="273" name="TextBox 30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0D111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6" name="Rectangle 2"/>
          <p:cNvSpPr/>
          <p:nvPr/>
        </p:nvSpPr>
        <p:spPr>
          <a:xfrm>
            <a:off x="-2" y="6781800"/>
            <a:ext cx="12188956" cy="762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7" name="TextBox 3"/>
          <p:cNvSpPr txBox="1"/>
          <p:nvPr/>
        </p:nvSpPr>
        <p:spPr>
          <a:xfrm>
            <a:off x="822960" y="1645921"/>
            <a:ext cx="5394962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200">
                <a:solidFill>
                  <a:srgbClr val="2DD4B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STEP 6 OF 6</a:t>
            </a:r>
          </a:p>
        </p:txBody>
      </p:sp>
      <p:sp>
        <p:nvSpPr>
          <p:cNvPr id="278" name="TextBox 4"/>
          <p:cNvSpPr txBox="1"/>
          <p:nvPr/>
        </p:nvSpPr>
        <p:spPr>
          <a:xfrm>
            <a:off x="822960" y="2011679"/>
            <a:ext cx="9966961" cy="10947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6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Your site is live.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🎉</a:t>
            </a:r>
          </a:p>
        </p:txBody>
      </p:sp>
      <p:sp>
        <p:nvSpPr>
          <p:cNvPr id="279" name="TextBox 5"/>
          <p:cNvSpPr txBox="1"/>
          <p:nvPr/>
        </p:nvSpPr>
        <p:spPr>
          <a:xfrm>
            <a:off x="822960" y="3520441"/>
            <a:ext cx="3566162" cy="364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FAF8F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Visit it at:</a:t>
            </a:r>
          </a:p>
        </p:txBody>
      </p:sp>
      <p:sp>
        <p:nvSpPr>
          <p:cNvPr id="280" name="TextBox 6"/>
          <p:cNvSpPr txBox="1"/>
          <p:nvPr/>
        </p:nvSpPr>
        <p:spPr>
          <a:xfrm>
            <a:off x="822960" y="3977638"/>
            <a:ext cx="9052561" cy="434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24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https://YOUR-USERNAME.github.io/my-site</a:t>
            </a:r>
          </a:p>
        </p:txBody>
      </p:sp>
      <p:sp>
        <p:nvSpPr>
          <p:cNvPr id="281" name="TextBox 7"/>
          <p:cNvSpPr txBox="1"/>
          <p:nvPr/>
        </p:nvSpPr>
        <p:spPr>
          <a:xfrm>
            <a:off x="633029" y="4800600"/>
            <a:ext cx="9052561" cy="11391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>
                <a:solidFill>
                  <a:srgbClr val="FAF8F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  It takes ~60 seconds for the first deployment to go live</a:t>
            </a:r>
          </a:p>
          <a:p>
            <a:pPr>
              <a:spcBef>
                <a:spcPts val="800"/>
              </a:spcBef>
              <a:defRPr>
                <a:solidFill>
                  <a:srgbClr val="FAF8F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  Check the  </a:t>
            </a:r>
            <a:r>
              <a:rPr b="1"/>
              <a:t>Actions</a:t>
            </a:r>
            <a:r>
              <a:t>  tab in your repo to watch the deploy progress</a:t>
            </a:r>
          </a:p>
          <a:p>
            <a:pPr>
              <a:spcBef>
                <a:spcPts val="800"/>
              </a:spcBef>
              <a:defRPr>
                <a:solidFill>
                  <a:srgbClr val="FAF8F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  Every git push to main will auto-redeploy</a:t>
            </a:r>
          </a:p>
        </p:txBody>
      </p:sp>
      <p:sp>
        <p:nvSpPr>
          <p:cNvPr id="282" name="TextBox 8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  <p:sp>
        <p:nvSpPr>
          <p:cNvPr id="283" name="Rectangle 2"/>
          <p:cNvSpPr/>
          <p:nvPr/>
        </p:nvSpPr>
        <p:spPr>
          <a:xfrm>
            <a:off x="-4828" y="-9025"/>
            <a:ext cx="12188956" cy="76201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FAF8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6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7" name="TextBox 3"/>
          <p:cNvSpPr txBox="1"/>
          <p:nvPr/>
        </p:nvSpPr>
        <p:spPr>
          <a:xfrm>
            <a:off x="777239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TROUBLESHOOTING</a:t>
            </a:r>
          </a:p>
        </p:txBody>
      </p:sp>
      <p:sp>
        <p:nvSpPr>
          <p:cNvPr id="288" name="TextBox 4"/>
          <p:cNvSpPr txBox="1"/>
          <p:nvPr/>
        </p:nvSpPr>
        <p:spPr>
          <a:xfrm>
            <a:off x="777239" y="502920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Common gotchas</a:t>
            </a:r>
          </a:p>
        </p:txBody>
      </p:sp>
      <p:sp>
        <p:nvSpPr>
          <p:cNvPr id="289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0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91" name="Rectangle 7"/>
          <p:cNvSpPr/>
          <p:nvPr/>
        </p:nvSpPr>
        <p:spPr>
          <a:xfrm>
            <a:off x="731519" y="1309793"/>
            <a:ext cx="54866" cy="292610"/>
          </a:xfrm>
          <a:prstGeom prst="rect">
            <a:avLst/>
          </a:prstGeom>
          <a:solidFill>
            <a:srgbClr val="D97A1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2" name="TextBox 8"/>
          <p:cNvSpPr txBox="1"/>
          <p:nvPr/>
        </p:nvSpPr>
        <p:spPr>
          <a:xfrm>
            <a:off x="1005838" y="1280161"/>
            <a:ext cx="3383283" cy="351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7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File named wrong</a:t>
            </a:r>
          </a:p>
        </p:txBody>
      </p:sp>
      <p:sp>
        <p:nvSpPr>
          <p:cNvPr id="293" name="TextBox 9"/>
          <p:cNvSpPr txBox="1"/>
          <p:nvPr/>
        </p:nvSpPr>
        <p:spPr>
          <a:xfrm>
            <a:off x="4195093" y="1305096"/>
            <a:ext cx="6858002" cy="302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5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Must be exactly  index.html  — not  Index.html,  home.html,  or  index.htm</a:t>
            </a:r>
          </a:p>
        </p:txBody>
      </p:sp>
      <p:sp>
        <p:nvSpPr>
          <p:cNvPr id="294" name="Rectangle 10"/>
          <p:cNvSpPr/>
          <p:nvPr/>
        </p:nvSpPr>
        <p:spPr>
          <a:xfrm>
            <a:off x="731518" y="1737360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5" name="Rectangle 11"/>
          <p:cNvSpPr/>
          <p:nvPr/>
        </p:nvSpPr>
        <p:spPr>
          <a:xfrm>
            <a:off x="731519" y="2089530"/>
            <a:ext cx="54866" cy="292610"/>
          </a:xfrm>
          <a:prstGeom prst="rect">
            <a:avLst/>
          </a:prstGeom>
          <a:solidFill>
            <a:srgbClr val="D97A1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6" name="TextBox 12"/>
          <p:cNvSpPr txBox="1"/>
          <p:nvPr/>
        </p:nvSpPr>
        <p:spPr>
          <a:xfrm>
            <a:off x="1005838" y="2084833"/>
            <a:ext cx="3383283" cy="351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7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Repo is private</a:t>
            </a:r>
          </a:p>
        </p:txBody>
      </p:sp>
      <p:sp>
        <p:nvSpPr>
          <p:cNvPr id="297" name="TextBox 13"/>
          <p:cNvSpPr txBox="1"/>
          <p:nvPr/>
        </p:nvSpPr>
        <p:spPr>
          <a:xfrm>
            <a:off x="4195093" y="2109767"/>
            <a:ext cx="6858002" cy="302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5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GitHub Pages on private repos requires GitHub Pro, Team, or Enterprise</a:t>
            </a:r>
          </a:p>
        </p:txBody>
      </p:sp>
      <p:sp>
        <p:nvSpPr>
          <p:cNvPr id="298" name="Rectangle 14"/>
          <p:cNvSpPr/>
          <p:nvPr/>
        </p:nvSpPr>
        <p:spPr>
          <a:xfrm>
            <a:off x="731518" y="2542032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9" name="Rectangle 15"/>
          <p:cNvSpPr/>
          <p:nvPr/>
        </p:nvSpPr>
        <p:spPr>
          <a:xfrm>
            <a:off x="731519" y="2919137"/>
            <a:ext cx="54866" cy="292610"/>
          </a:xfrm>
          <a:prstGeom prst="rect">
            <a:avLst/>
          </a:prstGeom>
          <a:solidFill>
            <a:srgbClr val="D97A1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0" name="TextBox 16"/>
          <p:cNvSpPr txBox="1"/>
          <p:nvPr/>
        </p:nvSpPr>
        <p:spPr>
          <a:xfrm>
            <a:off x="1005838" y="2889505"/>
            <a:ext cx="3383283" cy="351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7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Site not updated yet</a:t>
            </a:r>
          </a:p>
        </p:txBody>
      </p:sp>
      <p:sp>
        <p:nvSpPr>
          <p:cNvPr id="301" name="TextBox 17"/>
          <p:cNvSpPr txBox="1"/>
          <p:nvPr/>
        </p:nvSpPr>
        <p:spPr>
          <a:xfrm>
            <a:off x="4195093" y="2914439"/>
            <a:ext cx="6858002" cy="302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5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First deploy takes ~60 s. After that, changes propagate in 1–2 minutes</a:t>
            </a:r>
          </a:p>
        </p:txBody>
      </p:sp>
      <p:sp>
        <p:nvSpPr>
          <p:cNvPr id="302" name="Rectangle 18"/>
          <p:cNvSpPr/>
          <p:nvPr/>
        </p:nvSpPr>
        <p:spPr>
          <a:xfrm>
            <a:off x="731518" y="3346703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3" name="Rectangle 19"/>
          <p:cNvSpPr/>
          <p:nvPr/>
        </p:nvSpPr>
        <p:spPr>
          <a:xfrm>
            <a:off x="731519" y="3723809"/>
            <a:ext cx="54866" cy="292610"/>
          </a:xfrm>
          <a:prstGeom prst="rect">
            <a:avLst/>
          </a:prstGeom>
          <a:solidFill>
            <a:srgbClr val="D97A1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4" name="TextBox 20"/>
          <p:cNvSpPr txBox="1"/>
          <p:nvPr/>
        </p:nvSpPr>
        <p:spPr>
          <a:xfrm>
            <a:off x="1005838" y="3694177"/>
            <a:ext cx="3383283" cy="351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7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404 on all pages</a:t>
            </a:r>
          </a:p>
        </p:txBody>
      </p:sp>
      <p:sp>
        <p:nvSpPr>
          <p:cNvPr id="305" name="TextBox 21"/>
          <p:cNvSpPr txBox="1"/>
          <p:nvPr/>
        </p:nvSpPr>
        <p:spPr>
          <a:xfrm>
            <a:off x="4155525" y="3709899"/>
            <a:ext cx="8034929" cy="320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5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Pages is enabled but pointing at the wrong branch or folder — re-check Settings → Pages</a:t>
            </a:r>
          </a:p>
        </p:txBody>
      </p:sp>
      <p:sp>
        <p:nvSpPr>
          <p:cNvPr id="306" name="Rectangle 22"/>
          <p:cNvSpPr/>
          <p:nvPr/>
        </p:nvSpPr>
        <p:spPr>
          <a:xfrm>
            <a:off x="731518" y="4151376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7" name="Rectangle 23"/>
          <p:cNvSpPr/>
          <p:nvPr/>
        </p:nvSpPr>
        <p:spPr>
          <a:xfrm>
            <a:off x="731519" y="4528482"/>
            <a:ext cx="54866" cy="292610"/>
          </a:xfrm>
          <a:prstGeom prst="rect">
            <a:avLst/>
          </a:prstGeom>
          <a:solidFill>
            <a:srgbClr val="D97A16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8" name="TextBox 24"/>
          <p:cNvSpPr txBox="1"/>
          <p:nvPr/>
        </p:nvSpPr>
        <p:spPr>
          <a:xfrm>
            <a:off x="1005838" y="4498848"/>
            <a:ext cx="3383283" cy="351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7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Authentication error on push</a:t>
            </a:r>
          </a:p>
        </p:txBody>
      </p:sp>
      <p:sp>
        <p:nvSpPr>
          <p:cNvPr id="309" name="TextBox 25"/>
          <p:cNvSpPr txBox="1"/>
          <p:nvPr/>
        </p:nvSpPr>
        <p:spPr>
          <a:xfrm>
            <a:off x="4185489" y="4523784"/>
            <a:ext cx="7522527" cy="302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5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Run  gh auth login  or create a Personal Access Token at github.com/settings/tokens</a:t>
            </a:r>
          </a:p>
        </p:txBody>
      </p:sp>
      <p:sp>
        <p:nvSpPr>
          <p:cNvPr id="310" name="Rectangle 26"/>
          <p:cNvSpPr/>
          <p:nvPr/>
        </p:nvSpPr>
        <p:spPr>
          <a:xfrm>
            <a:off x="731518" y="4956047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1" name="TextBox 27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TextBox 3"/>
          <p:cNvSpPr txBox="1"/>
          <p:nvPr/>
        </p:nvSpPr>
        <p:spPr>
          <a:xfrm>
            <a:off x="822960" y="2011679"/>
            <a:ext cx="3566162" cy="1132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7200">
                <a:solidFill>
                  <a:srgbClr val="0A4A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PART 2</a:t>
            </a:r>
          </a:p>
        </p:txBody>
      </p:sp>
      <p:sp>
        <p:nvSpPr>
          <p:cNvPr id="314" name="TextBox 4"/>
          <p:cNvSpPr txBox="1"/>
          <p:nvPr/>
        </p:nvSpPr>
        <p:spPr>
          <a:xfrm>
            <a:off x="822960" y="2880361"/>
            <a:ext cx="9966961" cy="1590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5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Automate It with</a:t>
            </a:r>
          </a:p>
          <a:p>
            <a:pPr>
              <a:defRPr sz="5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a Claude Code Skill</a:t>
            </a:r>
          </a:p>
        </p:txBody>
      </p:sp>
      <p:sp>
        <p:nvSpPr>
          <p:cNvPr id="315" name="TextBox 5"/>
          <p:cNvSpPr txBox="1"/>
          <p:nvPr/>
        </p:nvSpPr>
        <p:spPr>
          <a:xfrm>
            <a:off x="822960" y="4572000"/>
            <a:ext cx="8138160" cy="426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200">
                <a:solidFill>
                  <a:srgbClr val="4EC9A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command. All six steps. Done.</a:t>
            </a:r>
          </a:p>
        </p:txBody>
      </p:sp>
      <p:sp>
        <p:nvSpPr>
          <p:cNvPr id="316" name="TextBox 6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  <p:sp>
        <p:nvSpPr>
          <p:cNvPr id="317" name="TextBox 27"/>
          <p:cNvSpPr txBox="1"/>
          <p:nvPr/>
        </p:nvSpPr>
        <p:spPr>
          <a:xfrm>
            <a:off x="274319" y="6492241"/>
            <a:ext cx="1540662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FAF8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0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1" name="TextBox 3"/>
          <p:cNvSpPr txBox="1"/>
          <p:nvPr/>
        </p:nvSpPr>
        <p:spPr>
          <a:xfrm>
            <a:off x="777239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CONCEPT</a:t>
            </a:r>
          </a:p>
        </p:txBody>
      </p:sp>
      <p:sp>
        <p:nvSpPr>
          <p:cNvPr id="322" name="TextBox 4"/>
          <p:cNvSpPr txBox="1"/>
          <p:nvPr/>
        </p:nvSpPr>
        <p:spPr>
          <a:xfrm>
            <a:off x="777239" y="502920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What is a Claude Code skill?</a:t>
            </a:r>
          </a:p>
        </p:txBody>
      </p:sp>
      <p:sp>
        <p:nvSpPr>
          <p:cNvPr id="323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4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325" name="TextBox 7"/>
          <p:cNvSpPr txBox="1"/>
          <p:nvPr/>
        </p:nvSpPr>
        <p:spPr>
          <a:xfrm>
            <a:off x="777239" y="1298447"/>
            <a:ext cx="6766560" cy="34755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9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A custom  /slash-command  you define for Claude Code</a:t>
            </a:r>
          </a:p>
          <a:p>
            <a:pPr>
              <a:spcBef>
                <a:spcPts val="1000"/>
              </a:spcBef>
              <a:defRPr sz="19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Stored as a Markdown file in either:</a:t>
            </a:r>
          </a:p>
          <a:p>
            <a:pPr lvl="1" indent="457200">
              <a:spcBef>
                <a:spcPts val="1000"/>
              </a:spcBef>
              <a:defRPr sz="19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~/.claude/commands/  (user-wide) or </a:t>
            </a:r>
          </a:p>
          <a:p>
            <a:pPr lvl="1" indent="457200">
              <a:spcBef>
                <a:spcPts val="1000"/>
              </a:spcBef>
              <a:defRPr sz="19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.claude/commands/  (per-project)</a:t>
            </a:r>
          </a:p>
          <a:p>
            <a:pPr>
              <a:spcBef>
                <a:spcPts val="1000"/>
              </a:spcBef>
              <a:defRPr sz="19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When invoked, Claude reads the file and follows the instructions — it can run shell commands, edit files, call APIs</a:t>
            </a:r>
          </a:p>
          <a:p>
            <a:pPr>
              <a:spcBef>
                <a:spcPts val="1000"/>
              </a:spcBef>
              <a:defRPr sz="19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Accepts optional  $ARGUMENTS  so you can parameterize the command</a:t>
            </a:r>
          </a:p>
          <a:p>
            <a:pPr>
              <a:spcBef>
                <a:spcPts val="1000"/>
              </a:spcBef>
              <a:defRPr sz="19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No plugin system, no build step — just a .md file</a:t>
            </a:r>
          </a:p>
        </p:txBody>
      </p:sp>
      <p:sp>
        <p:nvSpPr>
          <p:cNvPr id="326" name="Rectangle 8"/>
          <p:cNvSpPr/>
          <p:nvPr/>
        </p:nvSpPr>
        <p:spPr>
          <a:xfrm>
            <a:off x="8138159" y="1261872"/>
            <a:ext cx="3429002" cy="3200401"/>
          </a:xfrm>
          <a:prstGeom prst="rect">
            <a:avLst/>
          </a:prstGeom>
          <a:solidFill>
            <a:srgbClr val="131A2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7" name="Rectangle 9"/>
          <p:cNvSpPr/>
          <p:nvPr/>
        </p:nvSpPr>
        <p:spPr>
          <a:xfrm>
            <a:off x="7747748" y="1261872"/>
            <a:ext cx="3819412" cy="3200401"/>
          </a:xfrm>
          <a:prstGeom prst="rect">
            <a:avLst/>
          </a:prstGeom>
          <a:solidFill>
            <a:srgbClr val="131A2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8" name="TextBox 10"/>
          <p:cNvSpPr txBox="1"/>
          <p:nvPr/>
        </p:nvSpPr>
        <p:spPr>
          <a:xfrm>
            <a:off x="7890603" y="1406331"/>
            <a:ext cx="3533697" cy="117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15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~/.claude/</a:t>
            </a:r>
          </a:p>
          <a:p>
            <a:pPr>
              <a:defRPr sz="15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└── commands/</a:t>
            </a:r>
          </a:p>
          <a:p>
            <a:pPr>
              <a:defRPr sz="15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├── deploy-github-pages.md</a:t>
            </a:r>
          </a:p>
          <a:p>
            <a:pPr>
              <a:defRPr sz="15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├── create-pr.md</a:t>
            </a:r>
          </a:p>
          <a:p>
            <a:pPr>
              <a:defRPr sz="15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└── run-tests.md</a:t>
            </a:r>
          </a:p>
        </p:txBody>
      </p:sp>
      <p:sp>
        <p:nvSpPr>
          <p:cNvPr id="329" name="TextBox 11"/>
          <p:cNvSpPr txBox="1"/>
          <p:nvPr/>
        </p:nvSpPr>
        <p:spPr>
          <a:xfrm>
            <a:off x="786128" y="5030347"/>
            <a:ext cx="9966964" cy="314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Invoke it in Claude Code:</a:t>
            </a:r>
          </a:p>
        </p:txBody>
      </p:sp>
      <p:sp>
        <p:nvSpPr>
          <p:cNvPr id="330" name="Rectangle 12"/>
          <p:cNvSpPr/>
          <p:nvPr/>
        </p:nvSpPr>
        <p:spPr>
          <a:xfrm>
            <a:off x="740409" y="5441827"/>
            <a:ext cx="10698482" cy="685802"/>
          </a:xfrm>
          <a:prstGeom prst="rect">
            <a:avLst/>
          </a:prstGeom>
          <a:solidFill>
            <a:srgbClr val="131A2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1" name="TextBox 13"/>
          <p:cNvSpPr txBox="1"/>
          <p:nvPr/>
        </p:nvSpPr>
        <p:spPr>
          <a:xfrm>
            <a:off x="965112" y="5631058"/>
            <a:ext cx="5134158" cy="307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claude$ </a:t>
            </a:r>
            <a:r>
              <a:rPr b="1">
                <a:solidFill>
                  <a:srgbClr val="4EC9A0"/>
                </a:solidFill>
              </a:rPr>
              <a:t>/deploy-github-pages my-landing-page</a:t>
            </a:r>
          </a:p>
        </p:txBody>
      </p:sp>
      <p:sp>
        <p:nvSpPr>
          <p:cNvPr id="332" name="TextBox 14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FAF8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5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6" name="TextBox 3"/>
          <p:cNvSpPr txBox="1"/>
          <p:nvPr/>
        </p:nvSpPr>
        <p:spPr>
          <a:xfrm>
            <a:off x="777239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UNDER THE HOOD</a:t>
            </a:r>
          </a:p>
        </p:txBody>
      </p:sp>
      <p:sp>
        <p:nvSpPr>
          <p:cNvPr id="337" name="TextBox 4"/>
          <p:cNvSpPr txBox="1"/>
          <p:nvPr/>
        </p:nvSpPr>
        <p:spPr>
          <a:xfrm>
            <a:off x="777239" y="502920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What the skill does — step by step</a:t>
            </a:r>
          </a:p>
        </p:txBody>
      </p:sp>
      <p:sp>
        <p:nvSpPr>
          <p:cNvPr id="338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9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15</a:t>
            </a:r>
          </a:p>
        </p:txBody>
      </p:sp>
      <p:sp>
        <p:nvSpPr>
          <p:cNvPr id="340" name="Oval 7"/>
          <p:cNvSpPr/>
          <p:nvPr/>
        </p:nvSpPr>
        <p:spPr>
          <a:xfrm>
            <a:off x="731519" y="1289302"/>
            <a:ext cx="502923" cy="502924"/>
          </a:xfrm>
          <a:prstGeom prst="ellipse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1" name="TextBox 8"/>
          <p:cNvSpPr txBox="1"/>
          <p:nvPr/>
        </p:nvSpPr>
        <p:spPr>
          <a:xfrm>
            <a:off x="786383" y="1361694"/>
            <a:ext cx="393194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42" name="TextBox 9"/>
          <p:cNvSpPr txBox="1"/>
          <p:nvPr/>
        </p:nvSpPr>
        <p:spPr>
          <a:xfrm>
            <a:off x="1435608" y="1377341"/>
            <a:ext cx="3108962" cy="326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prerequisites</a:t>
            </a:r>
          </a:p>
        </p:txBody>
      </p:sp>
      <p:sp>
        <p:nvSpPr>
          <p:cNvPr id="343" name="TextBox 10"/>
          <p:cNvSpPr txBox="1"/>
          <p:nvPr/>
        </p:nvSpPr>
        <p:spPr>
          <a:xfrm>
            <a:off x="4709159" y="1389761"/>
            <a:ext cx="6766561" cy="302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5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Verifies git and gh are installed and gh is authenticated</a:t>
            </a:r>
          </a:p>
        </p:txBody>
      </p:sp>
      <p:sp>
        <p:nvSpPr>
          <p:cNvPr id="344" name="Rectangle 11"/>
          <p:cNvSpPr/>
          <p:nvPr/>
        </p:nvSpPr>
        <p:spPr>
          <a:xfrm>
            <a:off x="726694" y="1910252"/>
            <a:ext cx="10725912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5" name="Oval 12"/>
          <p:cNvSpPr/>
          <p:nvPr/>
        </p:nvSpPr>
        <p:spPr>
          <a:xfrm>
            <a:off x="731519" y="2057399"/>
            <a:ext cx="502923" cy="502923"/>
          </a:xfrm>
          <a:prstGeom prst="ellipse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6" name="TextBox 13"/>
          <p:cNvSpPr txBox="1"/>
          <p:nvPr/>
        </p:nvSpPr>
        <p:spPr>
          <a:xfrm>
            <a:off x="786383" y="2129790"/>
            <a:ext cx="393194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47" name="TextBox 14"/>
          <p:cNvSpPr txBox="1"/>
          <p:nvPr/>
        </p:nvSpPr>
        <p:spPr>
          <a:xfrm>
            <a:off x="1435608" y="2145438"/>
            <a:ext cx="3108962" cy="3268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Git init if needed</a:t>
            </a:r>
          </a:p>
        </p:txBody>
      </p:sp>
      <p:sp>
        <p:nvSpPr>
          <p:cNvPr id="348" name="TextBox 15"/>
          <p:cNvSpPr txBox="1"/>
          <p:nvPr/>
        </p:nvSpPr>
        <p:spPr>
          <a:xfrm>
            <a:off x="4709159" y="2157857"/>
            <a:ext cx="6766561" cy="302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5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Runs git init, git add ., git commit if no repo exists yet</a:t>
            </a:r>
          </a:p>
        </p:txBody>
      </p:sp>
      <p:sp>
        <p:nvSpPr>
          <p:cNvPr id="349" name="Rectangle 16"/>
          <p:cNvSpPr/>
          <p:nvPr/>
        </p:nvSpPr>
        <p:spPr>
          <a:xfrm>
            <a:off x="726694" y="2678347"/>
            <a:ext cx="10725912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0" name="Oval 17"/>
          <p:cNvSpPr/>
          <p:nvPr/>
        </p:nvSpPr>
        <p:spPr>
          <a:xfrm>
            <a:off x="731519" y="2825495"/>
            <a:ext cx="502923" cy="502923"/>
          </a:xfrm>
          <a:prstGeom prst="ellipse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1" name="TextBox 18"/>
          <p:cNvSpPr txBox="1"/>
          <p:nvPr/>
        </p:nvSpPr>
        <p:spPr>
          <a:xfrm>
            <a:off x="786383" y="2859785"/>
            <a:ext cx="393194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52" name="TextBox 19"/>
          <p:cNvSpPr txBox="1"/>
          <p:nvPr/>
        </p:nvSpPr>
        <p:spPr>
          <a:xfrm>
            <a:off x="1435608" y="2913533"/>
            <a:ext cx="3108962" cy="326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Create GitHub repo</a:t>
            </a:r>
          </a:p>
        </p:txBody>
      </p:sp>
      <p:sp>
        <p:nvSpPr>
          <p:cNvPr id="353" name="TextBox 20"/>
          <p:cNvSpPr txBox="1"/>
          <p:nvPr/>
        </p:nvSpPr>
        <p:spPr>
          <a:xfrm>
            <a:off x="4709159" y="2887852"/>
            <a:ext cx="6766561" cy="302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5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gh repo create  — public, no README, sets origin remote</a:t>
            </a:r>
          </a:p>
        </p:txBody>
      </p:sp>
      <p:sp>
        <p:nvSpPr>
          <p:cNvPr id="354" name="Rectangle 21"/>
          <p:cNvSpPr/>
          <p:nvPr/>
        </p:nvSpPr>
        <p:spPr>
          <a:xfrm>
            <a:off x="726694" y="3422648"/>
            <a:ext cx="10725912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5" name="Oval 22"/>
          <p:cNvSpPr/>
          <p:nvPr/>
        </p:nvSpPr>
        <p:spPr>
          <a:xfrm>
            <a:off x="731519" y="3593591"/>
            <a:ext cx="502923" cy="502923"/>
          </a:xfrm>
          <a:prstGeom prst="ellipse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6" name="TextBox 23"/>
          <p:cNvSpPr txBox="1"/>
          <p:nvPr/>
        </p:nvSpPr>
        <p:spPr>
          <a:xfrm>
            <a:off x="786383" y="3627883"/>
            <a:ext cx="393194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57" name="TextBox 24"/>
          <p:cNvSpPr txBox="1"/>
          <p:nvPr/>
        </p:nvSpPr>
        <p:spPr>
          <a:xfrm>
            <a:off x="1435608" y="3681629"/>
            <a:ext cx="3108962" cy="3268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Push code</a:t>
            </a:r>
          </a:p>
        </p:txBody>
      </p:sp>
      <p:sp>
        <p:nvSpPr>
          <p:cNvPr id="358" name="TextBox 25"/>
          <p:cNvSpPr txBox="1"/>
          <p:nvPr/>
        </p:nvSpPr>
        <p:spPr>
          <a:xfrm>
            <a:off x="4709159" y="3655950"/>
            <a:ext cx="6766561" cy="302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5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git push -u origin main</a:t>
            </a:r>
          </a:p>
        </p:txBody>
      </p:sp>
      <p:sp>
        <p:nvSpPr>
          <p:cNvPr id="359" name="Rectangle 26"/>
          <p:cNvSpPr/>
          <p:nvPr/>
        </p:nvSpPr>
        <p:spPr>
          <a:xfrm>
            <a:off x="726694" y="4204934"/>
            <a:ext cx="10725912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0" name="Oval 27"/>
          <p:cNvSpPr/>
          <p:nvPr/>
        </p:nvSpPr>
        <p:spPr>
          <a:xfrm>
            <a:off x="731519" y="4361688"/>
            <a:ext cx="502923" cy="502923"/>
          </a:xfrm>
          <a:prstGeom prst="ellipse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1" name="TextBox 28"/>
          <p:cNvSpPr txBox="1"/>
          <p:nvPr/>
        </p:nvSpPr>
        <p:spPr>
          <a:xfrm>
            <a:off x="786383" y="4408679"/>
            <a:ext cx="393194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62" name="TextBox 29"/>
          <p:cNvSpPr txBox="1"/>
          <p:nvPr/>
        </p:nvSpPr>
        <p:spPr>
          <a:xfrm>
            <a:off x="1435608" y="4449726"/>
            <a:ext cx="3108962" cy="3268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Enable Pages</a:t>
            </a:r>
          </a:p>
        </p:txBody>
      </p:sp>
      <p:sp>
        <p:nvSpPr>
          <p:cNvPr id="363" name="TextBox 30"/>
          <p:cNvSpPr txBox="1"/>
          <p:nvPr/>
        </p:nvSpPr>
        <p:spPr>
          <a:xfrm>
            <a:off x="4709159" y="4436746"/>
            <a:ext cx="6766561" cy="302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5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GitHub API call via gh api to activate Pages on main /</a:t>
            </a:r>
          </a:p>
        </p:txBody>
      </p:sp>
      <p:sp>
        <p:nvSpPr>
          <p:cNvPr id="364" name="Rectangle 31"/>
          <p:cNvSpPr/>
          <p:nvPr/>
        </p:nvSpPr>
        <p:spPr>
          <a:xfrm>
            <a:off x="726694" y="5011451"/>
            <a:ext cx="10725912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5" name="Oval 32"/>
          <p:cNvSpPr/>
          <p:nvPr/>
        </p:nvSpPr>
        <p:spPr>
          <a:xfrm>
            <a:off x="731519" y="5129784"/>
            <a:ext cx="502923" cy="502923"/>
          </a:xfrm>
          <a:prstGeom prst="ellipse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6" name="TextBox 33"/>
          <p:cNvSpPr txBox="1"/>
          <p:nvPr/>
        </p:nvSpPr>
        <p:spPr>
          <a:xfrm>
            <a:off x="786383" y="5202175"/>
            <a:ext cx="393194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367" name="TextBox 34"/>
          <p:cNvSpPr txBox="1"/>
          <p:nvPr/>
        </p:nvSpPr>
        <p:spPr>
          <a:xfrm>
            <a:off x="1435608" y="5217822"/>
            <a:ext cx="3108962" cy="3268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6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Return live URL</a:t>
            </a:r>
          </a:p>
        </p:txBody>
      </p:sp>
      <p:sp>
        <p:nvSpPr>
          <p:cNvPr id="368" name="TextBox 35"/>
          <p:cNvSpPr txBox="1"/>
          <p:nvPr/>
        </p:nvSpPr>
        <p:spPr>
          <a:xfrm>
            <a:off x="4709159" y="5230241"/>
            <a:ext cx="6766561" cy="302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5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Polls until the site is live, then prints the URL</a:t>
            </a:r>
          </a:p>
        </p:txBody>
      </p:sp>
      <p:sp>
        <p:nvSpPr>
          <p:cNvPr id="369" name="TextBox 36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FAF8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2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3" name="TextBox 3"/>
          <p:cNvSpPr txBox="1"/>
          <p:nvPr/>
        </p:nvSpPr>
        <p:spPr>
          <a:xfrm>
            <a:off x="777239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SKILL</a:t>
            </a:r>
          </a:p>
        </p:txBody>
      </p:sp>
      <p:sp>
        <p:nvSpPr>
          <p:cNvPr id="374" name="TextBox 4"/>
          <p:cNvSpPr txBox="1"/>
          <p:nvPr/>
        </p:nvSpPr>
        <p:spPr>
          <a:xfrm>
            <a:off x="777239" y="502920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deploy-github-pages.md — the skill file</a:t>
            </a:r>
          </a:p>
        </p:txBody>
      </p:sp>
      <p:sp>
        <p:nvSpPr>
          <p:cNvPr id="375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6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16</a:t>
            </a:r>
          </a:p>
        </p:txBody>
      </p:sp>
      <p:sp>
        <p:nvSpPr>
          <p:cNvPr id="377" name="TextBox 7"/>
          <p:cNvSpPr txBox="1"/>
          <p:nvPr/>
        </p:nvSpPr>
        <p:spPr>
          <a:xfrm>
            <a:off x="777238" y="1188719"/>
            <a:ext cx="10607044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400">
                <a:solidFill>
                  <a:srgbClr val="0F766E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Saved to  ~/.claude/commands/deploy-github-pages.md</a:t>
            </a:r>
          </a:p>
        </p:txBody>
      </p:sp>
      <p:sp>
        <p:nvSpPr>
          <p:cNvPr id="378" name="Rectangle 8"/>
          <p:cNvSpPr/>
          <p:nvPr/>
        </p:nvSpPr>
        <p:spPr>
          <a:xfrm>
            <a:off x="731519" y="1473026"/>
            <a:ext cx="10698482" cy="5029203"/>
          </a:xfrm>
          <a:prstGeom prst="rect">
            <a:avLst/>
          </a:prstGeom>
          <a:solidFill>
            <a:srgbClr val="131A2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9" name="TextBox 9"/>
          <p:cNvSpPr txBox="1"/>
          <p:nvPr/>
        </p:nvSpPr>
        <p:spPr>
          <a:xfrm>
            <a:off x="1621070" y="1427308"/>
            <a:ext cx="8937157" cy="5120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19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---</a:t>
            </a:r>
          </a:p>
          <a:p>
            <a:pPr>
              <a:defRPr sz="19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description: Deploy the current project to GitHub Pages</a:t>
            </a:r>
          </a:p>
          <a:p>
            <a:pPr>
              <a:defRPr sz="19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---</a:t>
            </a:r>
          </a:p>
          <a:p>
            <a:pPr>
              <a:defRPr sz="1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1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Deploy this project to GitHub Pages.</a:t>
            </a:r>
          </a:p>
          <a:p>
            <a:pPr>
              <a:defRPr sz="1900">
                <a:solidFill>
                  <a:srgbClr val="61AFE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Repo name (optional): $ARGUMENTS</a:t>
            </a:r>
          </a:p>
          <a:p>
            <a:pPr>
              <a:defRPr sz="1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1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1. Verify git is installed. If not, tell the user and stop.</a:t>
            </a:r>
          </a:p>
          <a:p>
            <a:pPr>
              <a:defRPr sz="1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2. Verify gh is installed and authenticated (gh auth status).</a:t>
            </a:r>
          </a:p>
          <a:p>
            <a:pPr>
              <a:defRPr sz="1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If not authenticated, run gh auth login and wait.</a:t>
            </a:r>
          </a:p>
          <a:p>
            <a:pPr>
              <a:defRPr sz="1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3. If no .git folder exists: git init, git add ., git commit.</a:t>
            </a:r>
          </a:p>
          <a:p>
            <a:pPr>
              <a:defRPr sz="1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4. If no remote 'origin': gh repo create $ARGUMENTS --public</a:t>
            </a:r>
          </a:p>
          <a:p>
            <a:pPr>
              <a:defRPr sz="1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--source=. --remote=origin --push, then skip step 5.</a:t>
            </a:r>
          </a:p>
          <a:p>
            <a:pPr>
              <a:defRPr sz="1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5. Otherwise: git push -u origin main</a:t>
            </a:r>
          </a:p>
          <a:p>
            <a:pPr>
              <a:defRPr sz="1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6. Enable Pages: gh api -X POST /repos/{owner}/{repo}/pages</a:t>
            </a:r>
          </a:p>
          <a:p>
            <a:pPr>
              <a:defRPr sz="1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-f source[branch]=main -f source[path]=/ (ignore 409).</a:t>
            </a:r>
          </a:p>
          <a:p>
            <a:pPr>
              <a:defRPr sz="1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7. Poll gh api /repos/{owner}/{repo}/pages --jq .html_url</a:t>
            </a:r>
          </a:p>
          <a:p>
            <a:pPr>
              <a:defRPr sz="19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</a:t>
            </a:r>
            <a:r>
              <a:rPr>
                <a:solidFill>
                  <a:srgbClr val="FFFFFF"/>
                </a:solidFill>
              </a:rPr>
              <a:t>until it returns a URL. Print: 'Live at &lt;url&gt;'</a:t>
            </a:r>
          </a:p>
        </p:txBody>
      </p:sp>
      <p:sp>
        <p:nvSpPr>
          <p:cNvPr id="380" name="TextBox 10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FAF8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83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84" name="TextBox 3"/>
          <p:cNvSpPr txBox="1"/>
          <p:nvPr/>
        </p:nvSpPr>
        <p:spPr>
          <a:xfrm>
            <a:off x="777239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USAGE</a:t>
            </a:r>
          </a:p>
        </p:txBody>
      </p:sp>
      <p:sp>
        <p:nvSpPr>
          <p:cNvPr id="385" name="TextBox 4"/>
          <p:cNvSpPr txBox="1"/>
          <p:nvPr/>
        </p:nvSpPr>
        <p:spPr>
          <a:xfrm>
            <a:off x="777239" y="502920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How to use the skill</a:t>
            </a:r>
          </a:p>
        </p:txBody>
      </p:sp>
      <p:sp>
        <p:nvSpPr>
          <p:cNvPr id="386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87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17</a:t>
            </a:r>
          </a:p>
        </p:txBody>
      </p:sp>
      <p:sp>
        <p:nvSpPr>
          <p:cNvPr id="388" name="TextBox 7"/>
          <p:cNvSpPr txBox="1"/>
          <p:nvPr/>
        </p:nvSpPr>
        <p:spPr>
          <a:xfrm>
            <a:off x="777239" y="1261872"/>
            <a:ext cx="5120642" cy="408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2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1. Install the skill (once)</a:t>
            </a:r>
          </a:p>
        </p:txBody>
      </p:sp>
      <p:sp>
        <p:nvSpPr>
          <p:cNvPr id="389" name="Rectangle 8"/>
          <p:cNvSpPr/>
          <p:nvPr/>
        </p:nvSpPr>
        <p:spPr>
          <a:xfrm>
            <a:off x="731520" y="1755648"/>
            <a:ext cx="5212080" cy="2926082"/>
          </a:xfrm>
          <a:prstGeom prst="rect">
            <a:avLst/>
          </a:prstGeom>
          <a:solidFill>
            <a:srgbClr val="131A2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90" name="TextBox 9"/>
          <p:cNvSpPr txBox="1"/>
          <p:nvPr/>
        </p:nvSpPr>
        <p:spPr>
          <a:xfrm>
            <a:off x="1051558" y="1938527"/>
            <a:ext cx="3648016" cy="1386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15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Create the commands directory</a:t>
            </a:r>
          </a:p>
          <a:p>
            <a:pPr>
              <a:defRPr b="1" sz="15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mkdir -p ~/.claude/commands</a:t>
            </a:r>
          </a:p>
          <a:p>
            <a:pPr>
              <a:defRPr sz="15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15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Copy the skill file</a:t>
            </a:r>
          </a:p>
          <a:p>
            <a:pPr>
              <a:defRPr b="1" sz="15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cp deploy-github-pages.md \</a:t>
            </a:r>
          </a:p>
          <a:p>
            <a:pPr>
              <a:defRPr b="1" sz="15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~/.claude/commands/</a:t>
            </a:r>
          </a:p>
        </p:txBody>
      </p:sp>
      <p:sp>
        <p:nvSpPr>
          <p:cNvPr id="391" name="Rectangle 10"/>
          <p:cNvSpPr/>
          <p:nvPr/>
        </p:nvSpPr>
        <p:spPr>
          <a:xfrm>
            <a:off x="6263640" y="1234438"/>
            <a:ext cx="12702" cy="5303523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92" name="TextBox 11"/>
          <p:cNvSpPr txBox="1"/>
          <p:nvPr/>
        </p:nvSpPr>
        <p:spPr>
          <a:xfrm>
            <a:off x="6537959" y="1261872"/>
            <a:ext cx="5212082" cy="408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200">
                <a:solidFill>
                  <a:srgbClr val="0F766E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2. Run it from any project</a:t>
            </a:r>
          </a:p>
        </p:txBody>
      </p:sp>
      <p:sp>
        <p:nvSpPr>
          <p:cNvPr id="393" name="TextBox 12"/>
          <p:cNvSpPr txBox="1"/>
          <p:nvPr/>
        </p:nvSpPr>
        <p:spPr>
          <a:xfrm>
            <a:off x="6537959" y="1755649"/>
            <a:ext cx="5029203" cy="3143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6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In Claude Code, just type:</a:t>
            </a:r>
          </a:p>
        </p:txBody>
      </p:sp>
      <p:sp>
        <p:nvSpPr>
          <p:cNvPr id="394" name="Rectangle 13"/>
          <p:cNvSpPr/>
          <p:nvPr/>
        </p:nvSpPr>
        <p:spPr>
          <a:xfrm>
            <a:off x="6492240" y="2176272"/>
            <a:ext cx="5349242" cy="2505456"/>
          </a:xfrm>
          <a:prstGeom prst="rect">
            <a:avLst/>
          </a:prstGeom>
          <a:solidFill>
            <a:srgbClr val="131A2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95" name="TextBox 14"/>
          <p:cNvSpPr txBox="1"/>
          <p:nvPr/>
        </p:nvSpPr>
        <p:spPr>
          <a:xfrm>
            <a:off x="6812278" y="2359151"/>
            <a:ext cx="4219609" cy="1170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15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With an auto-generated name:</a:t>
            </a:r>
          </a:p>
          <a:p>
            <a:pPr>
              <a:defRPr b="1" sz="15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/deploy-github-pages</a:t>
            </a:r>
          </a:p>
          <a:p>
            <a:pPr>
              <a:defRPr sz="15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15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Or specify the repo name:</a:t>
            </a:r>
          </a:p>
          <a:p>
            <a:pPr>
              <a:defRPr b="1" sz="15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/deploy-github-pages my-landing-page</a:t>
            </a:r>
          </a:p>
        </p:txBody>
      </p:sp>
      <p:sp>
        <p:nvSpPr>
          <p:cNvPr id="396" name="TextBox 15"/>
          <p:cNvSpPr txBox="1"/>
          <p:nvPr/>
        </p:nvSpPr>
        <p:spPr>
          <a:xfrm>
            <a:off x="6560819" y="3874280"/>
            <a:ext cx="5212082" cy="7715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600">
                <a:solidFill>
                  <a:srgbClr val="FAF8F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Claude will check prerequisites, create the repo,</a:t>
            </a:r>
          </a:p>
          <a:p>
            <a:pPr>
              <a:defRPr sz="1600">
                <a:solidFill>
                  <a:srgbClr val="FAF8F5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push your code, enable Pages, and return your live URL — all without leaving your editor.</a:t>
            </a:r>
          </a:p>
        </p:txBody>
      </p:sp>
      <p:sp>
        <p:nvSpPr>
          <p:cNvPr id="397" name="Rectangle 16"/>
          <p:cNvSpPr/>
          <p:nvPr/>
        </p:nvSpPr>
        <p:spPr>
          <a:xfrm>
            <a:off x="726694" y="4846320"/>
            <a:ext cx="10725912" cy="1485151"/>
          </a:xfrm>
          <a:prstGeom prst="rect">
            <a:avLst/>
          </a:prstGeom>
          <a:solidFill>
            <a:srgbClr val="F0FDFA"/>
          </a:solidFill>
          <a:ln>
            <a:solidFill>
              <a:srgbClr val="E7E5E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98" name="Rectangle 17"/>
          <p:cNvSpPr/>
          <p:nvPr/>
        </p:nvSpPr>
        <p:spPr>
          <a:xfrm>
            <a:off x="731519" y="4846320"/>
            <a:ext cx="54828" cy="1485151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99" name="TextBox 18"/>
          <p:cNvSpPr txBox="1"/>
          <p:nvPr/>
        </p:nvSpPr>
        <p:spPr>
          <a:xfrm>
            <a:off x="1005839" y="5036500"/>
            <a:ext cx="9966961" cy="370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0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Part 1 in a single command. Part 2 is just /deploy-github-pages.</a:t>
            </a:r>
          </a:p>
        </p:txBody>
      </p:sp>
      <p:sp>
        <p:nvSpPr>
          <p:cNvPr id="400" name="TextBox 19"/>
          <p:cNvSpPr txBox="1"/>
          <p:nvPr/>
        </p:nvSpPr>
        <p:spPr>
          <a:xfrm>
            <a:off x="1005839" y="5839485"/>
            <a:ext cx="9966961" cy="3020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5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skill handles every edge case: no git repo, no remote, Pages already enabled — all gracefully.</a:t>
            </a:r>
          </a:p>
        </p:txBody>
      </p:sp>
      <p:sp>
        <p:nvSpPr>
          <p:cNvPr id="401" name="TextBox 20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TextBox 3"/>
          <p:cNvSpPr txBox="1"/>
          <p:nvPr/>
        </p:nvSpPr>
        <p:spPr>
          <a:xfrm>
            <a:off x="822960" y="1874518"/>
            <a:ext cx="5394962" cy="726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TeleTrex</a:t>
            </a:r>
          </a:p>
        </p:txBody>
      </p:sp>
      <p:sp>
        <p:nvSpPr>
          <p:cNvPr id="404" name="TextBox 4"/>
          <p:cNvSpPr txBox="1"/>
          <p:nvPr/>
        </p:nvSpPr>
        <p:spPr>
          <a:xfrm>
            <a:off x="822960" y="2560321"/>
            <a:ext cx="9052561" cy="12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8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You're live.</a:t>
            </a:r>
          </a:p>
        </p:txBody>
      </p:sp>
      <p:sp>
        <p:nvSpPr>
          <p:cNvPr id="405" name="TextBox 5"/>
          <p:cNvSpPr txBox="1"/>
          <p:nvPr/>
        </p:nvSpPr>
        <p:spPr>
          <a:xfrm>
            <a:off x="822960" y="4160521"/>
            <a:ext cx="9052561" cy="10756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>
                <a:solidFill>
                  <a:srgbClr val="2DD4B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  Manual: 6 steps, ~5 minutes, zero cost</a:t>
            </a:r>
          </a:p>
          <a:p>
            <a:pPr>
              <a:spcBef>
                <a:spcPts val="600"/>
              </a:spcBef>
              <a:defRPr>
                <a:solidFill>
                  <a:srgbClr val="2DD4B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  Automated: /deploy-github-pages, ~30 seconds</a:t>
            </a:r>
          </a:p>
          <a:p>
            <a:pPr>
              <a:spcBef>
                <a:spcPts val="600"/>
              </a:spcBef>
              <a:defRPr>
                <a:solidFill>
                  <a:srgbClr val="2DD4B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   Skill file lives in ~/.claude/commands/ — works in any project</a:t>
            </a:r>
          </a:p>
        </p:txBody>
      </p:sp>
      <p:sp>
        <p:nvSpPr>
          <p:cNvPr id="406" name="TextBox 7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  <p:sp>
        <p:nvSpPr>
          <p:cNvPr id="407" name="TextBox 27"/>
          <p:cNvSpPr txBox="1"/>
          <p:nvPr/>
        </p:nvSpPr>
        <p:spPr>
          <a:xfrm>
            <a:off x="274319" y="6492241"/>
            <a:ext cx="1540662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0" name="TextBox 3"/>
          <p:cNvSpPr txBox="1"/>
          <p:nvPr/>
        </p:nvSpPr>
        <p:spPr>
          <a:xfrm>
            <a:off x="822960" y="2011679"/>
            <a:ext cx="3566162" cy="1132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7200">
                <a:solidFill>
                  <a:srgbClr val="0A4A45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PART 3</a:t>
            </a:r>
          </a:p>
        </p:txBody>
      </p:sp>
      <p:sp>
        <p:nvSpPr>
          <p:cNvPr id="411" name="TextBox 4"/>
          <p:cNvSpPr txBox="1"/>
          <p:nvPr/>
        </p:nvSpPr>
        <p:spPr>
          <a:xfrm>
            <a:off x="822960" y="2926079"/>
            <a:ext cx="9052561" cy="8915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5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Fork, Contribute &amp; PR</a:t>
            </a:r>
          </a:p>
        </p:txBody>
      </p:sp>
      <p:sp>
        <p:nvSpPr>
          <p:cNvPr id="412" name="TextBox 5"/>
          <p:cNvSpPr txBox="1"/>
          <p:nvPr/>
        </p:nvSpPr>
        <p:spPr>
          <a:xfrm>
            <a:off x="822960" y="4114800"/>
            <a:ext cx="8138160" cy="4265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200">
                <a:solidFill>
                  <a:srgbClr val="2DD4B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Four steps from idea to merged pull request</a:t>
            </a:r>
          </a:p>
        </p:txBody>
      </p:sp>
      <p:sp>
        <p:nvSpPr>
          <p:cNvPr id="413" name="TextBox 6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  <p:sp>
        <p:nvSpPr>
          <p:cNvPr id="414" name="TextBox 27"/>
          <p:cNvSpPr txBox="1"/>
          <p:nvPr/>
        </p:nvSpPr>
        <p:spPr>
          <a:xfrm>
            <a:off x="274319" y="6492241"/>
            <a:ext cx="1540662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FAF8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7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8" name="TextBox 3"/>
          <p:cNvSpPr txBox="1"/>
          <p:nvPr/>
        </p:nvSpPr>
        <p:spPr>
          <a:xfrm>
            <a:off x="777239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CONCEPTS</a:t>
            </a:r>
          </a:p>
        </p:txBody>
      </p:sp>
      <p:sp>
        <p:nvSpPr>
          <p:cNvPr id="419" name="TextBox 4"/>
          <p:cNvSpPr txBox="1"/>
          <p:nvPr/>
        </p:nvSpPr>
        <p:spPr>
          <a:xfrm>
            <a:off x="777239" y="502920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What is Forking?</a:t>
            </a:r>
          </a:p>
        </p:txBody>
      </p:sp>
      <p:sp>
        <p:nvSpPr>
          <p:cNvPr id="420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1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</a:t>
            </a:r>
          </a:p>
        </p:txBody>
      </p:sp>
      <p:sp>
        <p:nvSpPr>
          <p:cNvPr id="422" name="TextBox 7"/>
          <p:cNvSpPr txBox="1"/>
          <p:nvPr/>
        </p:nvSpPr>
        <p:spPr>
          <a:xfrm>
            <a:off x="700398" y="1421932"/>
            <a:ext cx="8528399" cy="254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A fork is your personal copy of someone else's repository</a:t>
            </a:r>
          </a:p>
          <a:p>
            <a:pPr>
              <a:spcBef>
                <a:spcPts val="1000"/>
              </a:spcBef>
              <a:defRPr sz="20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Lives under your GitHub account — you have full write access</a:t>
            </a:r>
          </a:p>
          <a:p>
            <a:pPr>
              <a:spcBef>
                <a:spcPts val="1000"/>
              </a:spcBef>
              <a:defRPr sz="20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The original repo is called the upstream</a:t>
            </a:r>
          </a:p>
          <a:p>
            <a:pPr>
              <a:spcBef>
                <a:spcPts val="1000"/>
              </a:spcBef>
              <a:defRPr sz="20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Changes in your fork don't affect upstream until a PR is merged</a:t>
            </a:r>
          </a:p>
          <a:p>
            <a:pPr>
              <a:spcBef>
                <a:spcPts val="1000"/>
              </a:spcBef>
              <a:defRPr sz="20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Pull Requests propose your changes back to the original project</a:t>
            </a:r>
          </a:p>
          <a:p>
            <a:pPr>
              <a:spcBef>
                <a:spcPts val="1000"/>
              </a:spcBef>
              <a:defRPr sz="2000">
                <a:solidFill>
                  <a:srgbClr val="1C191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Maintainers review, discuss, and merge (or decline) your PR</a:t>
            </a:r>
          </a:p>
        </p:txBody>
      </p:sp>
      <p:sp>
        <p:nvSpPr>
          <p:cNvPr id="423" name="Rectangle 8"/>
          <p:cNvSpPr/>
          <p:nvPr/>
        </p:nvSpPr>
        <p:spPr>
          <a:xfrm>
            <a:off x="772386" y="4942277"/>
            <a:ext cx="10799108" cy="1388610"/>
          </a:xfrm>
          <a:prstGeom prst="rect">
            <a:avLst/>
          </a:prstGeom>
          <a:solidFill>
            <a:srgbClr val="F0FDFA"/>
          </a:solidFill>
          <a:ln>
            <a:solidFill>
              <a:srgbClr val="E7E5E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4" name="Rectangle 9"/>
          <p:cNvSpPr/>
          <p:nvPr/>
        </p:nvSpPr>
        <p:spPr>
          <a:xfrm>
            <a:off x="731611" y="4923066"/>
            <a:ext cx="45401" cy="1427031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5" name="TextBox 10"/>
          <p:cNvSpPr txBox="1"/>
          <p:nvPr/>
        </p:nvSpPr>
        <p:spPr>
          <a:xfrm>
            <a:off x="850940" y="4983511"/>
            <a:ext cx="2743201" cy="289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3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Example repo for today</a:t>
            </a:r>
          </a:p>
        </p:txBody>
      </p:sp>
      <p:sp>
        <p:nvSpPr>
          <p:cNvPr id="426" name="TextBox 11"/>
          <p:cNvSpPr txBox="1"/>
          <p:nvPr/>
        </p:nvSpPr>
        <p:spPr>
          <a:xfrm>
            <a:off x="870149" y="5311462"/>
            <a:ext cx="6296226" cy="370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0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https://github.com/hd-admin/hackerdojo.org</a:t>
            </a:r>
          </a:p>
        </p:txBody>
      </p:sp>
      <p:sp>
        <p:nvSpPr>
          <p:cNvPr id="427" name="TextBox 12"/>
          <p:cNvSpPr txBox="1"/>
          <p:nvPr/>
        </p:nvSpPr>
        <p:spPr>
          <a:xfrm>
            <a:off x="868372" y="5844246"/>
            <a:ext cx="5285969" cy="2773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i="1" sz="13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Your fork: https://github.com/YOUR-USERNAME/hackerdojo.org</a:t>
            </a:r>
          </a:p>
        </p:txBody>
      </p:sp>
      <p:sp>
        <p:nvSpPr>
          <p:cNvPr id="428" name="TextBox 13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FAF8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1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2" name="TextBox 3"/>
          <p:cNvSpPr txBox="1"/>
          <p:nvPr/>
        </p:nvSpPr>
        <p:spPr>
          <a:xfrm>
            <a:off x="777239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STEP 1 OF 4</a:t>
            </a:r>
          </a:p>
        </p:txBody>
      </p:sp>
      <p:sp>
        <p:nvSpPr>
          <p:cNvPr id="433" name="TextBox 4"/>
          <p:cNvSpPr txBox="1"/>
          <p:nvPr/>
        </p:nvSpPr>
        <p:spPr>
          <a:xfrm>
            <a:off x="777239" y="502920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Fork the repository on GitHub</a:t>
            </a:r>
          </a:p>
        </p:txBody>
      </p:sp>
      <p:sp>
        <p:nvSpPr>
          <p:cNvPr id="434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5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21</a:t>
            </a:r>
          </a:p>
        </p:txBody>
      </p:sp>
      <p:sp>
        <p:nvSpPr>
          <p:cNvPr id="436" name="TextBox 7"/>
          <p:cNvSpPr txBox="1"/>
          <p:nvPr/>
        </p:nvSpPr>
        <p:spPr>
          <a:xfrm>
            <a:off x="777238" y="1234439"/>
            <a:ext cx="10607044" cy="339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7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Navigate to the repo on GitHub and click Fork in the top-right corner.</a:t>
            </a:r>
          </a:p>
        </p:txBody>
      </p:sp>
      <p:sp>
        <p:nvSpPr>
          <p:cNvPr id="437" name="TextBox 10"/>
          <p:cNvSpPr txBox="1"/>
          <p:nvPr/>
        </p:nvSpPr>
        <p:spPr>
          <a:xfrm>
            <a:off x="2016301" y="6445657"/>
            <a:ext cx="9966961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300">
                <a:solidFill>
                  <a:srgbClr val="D97A16"/>
                </a:solidFill>
              </a:defRPr>
            </a:pPr>
            <a:r>
              <a:t>💡  </a:t>
            </a:r>
            <a:r>
              <a:rPr>
                <a:latin typeface="Helvetica Neue"/>
                <a:ea typeface="Helvetica Neue"/>
                <a:cs typeface="Helvetica Neue"/>
                <a:sym typeface="Helvetica Neue"/>
              </a:rPr>
              <a:t>Your fork is fully independent. Pushes go to YOUR copy only — nothing changes upstream until you open a PR.</a:t>
            </a:r>
          </a:p>
        </p:txBody>
      </p:sp>
      <p:sp>
        <p:nvSpPr>
          <p:cNvPr id="438" name="TextBox 11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  <p:pic>
        <p:nvPicPr>
          <p:cNvPr id="439" name="Screenshot 2026-06-09 at 6.05.10 PM.png" descr="Screenshot 2026-06-09 at 6.05.10 P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2873" y="1269557"/>
            <a:ext cx="12179301" cy="58796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FAF8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2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3" name="TextBox 3"/>
          <p:cNvSpPr txBox="1"/>
          <p:nvPr/>
        </p:nvSpPr>
        <p:spPr>
          <a:xfrm>
            <a:off x="777239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STEP 2 OF 4</a:t>
            </a:r>
          </a:p>
        </p:txBody>
      </p:sp>
      <p:sp>
        <p:nvSpPr>
          <p:cNvPr id="444" name="TextBox 4"/>
          <p:cNvSpPr txBox="1"/>
          <p:nvPr/>
        </p:nvSpPr>
        <p:spPr>
          <a:xfrm>
            <a:off x="777239" y="502920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Clone your fork to your machine</a:t>
            </a:r>
          </a:p>
        </p:txBody>
      </p:sp>
      <p:sp>
        <p:nvSpPr>
          <p:cNvPr id="445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6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22</a:t>
            </a:r>
          </a:p>
        </p:txBody>
      </p:sp>
      <p:sp>
        <p:nvSpPr>
          <p:cNvPr id="447" name="TextBox 7"/>
          <p:cNvSpPr txBox="1"/>
          <p:nvPr/>
        </p:nvSpPr>
        <p:spPr>
          <a:xfrm>
            <a:off x="777238" y="1234439"/>
            <a:ext cx="10607044" cy="339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7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Clone YOUR fork (not the original), then add upstream so you can pull future updates.</a:t>
            </a:r>
          </a:p>
        </p:txBody>
      </p:sp>
      <p:sp>
        <p:nvSpPr>
          <p:cNvPr id="448" name="Rectangle 8"/>
          <p:cNvSpPr/>
          <p:nvPr/>
        </p:nvSpPr>
        <p:spPr>
          <a:xfrm>
            <a:off x="731519" y="1965959"/>
            <a:ext cx="10698482" cy="4389123"/>
          </a:xfrm>
          <a:prstGeom prst="rect">
            <a:avLst/>
          </a:prstGeom>
          <a:solidFill>
            <a:srgbClr val="131A2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9" name="TextBox 9"/>
          <p:cNvSpPr txBox="1"/>
          <p:nvPr/>
        </p:nvSpPr>
        <p:spPr>
          <a:xfrm>
            <a:off x="1051558" y="2148839"/>
            <a:ext cx="11170180" cy="3901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22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Clone your fork</a:t>
            </a:r>
          </a:p>
          <a:p>
            <a:pPr>
              <a:defRPr b="1" sz="22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 clone https://github.com/YOUR-USERNAME/hackerdojo.org</a:t>
            </a:r>
          </a:p>
          <a:p>
            <a:pPr>
              <a:defRPr sz="2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22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Enter the project folder</a:t>
            </a:r>
          </a:p>
          <a:p>
            <a:pPr>
              <a:defRPr b="1" sz="22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cd hackerdojo.org</a:t>
            </a:r>
          </a:p>
          <a:p>
            <a:pPr>
              <a:defRPr sz="2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22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Track the original as 'upstream'</a:t>
            </a:r>
          </a:p>
          <a:p>
            <a:pPr>
              <a:defRPr b="1" sz="22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 remote add upstream https://github.com/hd-admin/hackerdojo.org</a:t>
            </a:r>
          </a:p>
          <a:p>
            <a:pPr>
              <a:defRPr sz="2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2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Confirm both remotes are set</a:t>
            </a:r>
          </a:p>
          <a:p>
            <a:pPr>
              <a:defRPr b="1" sz="22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 remote -v</a:t>
            </a:r>
          </a:p>
        </p:txBody>
      </p:sp>
      <p:sp>
        <p:nvSpPr>
          <p:cNvPr id="450" name="TextBox 10"/>
          <p:cNvSpPr txBox="1"/>
          <p:nvPr/>
        </p:nvSpPr>
        <p:spPr>
          <a:xfrm>
            <a:off x="2016301" y="6477407"/>
            <a:ext cx="9966961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300">
                <a:solidFill>
                  <a:srgbClr val="D97A16"/>
                </a:solidFill>
              </a:defRPr>
            </a:pPr>
            <a:r>
              <a:t>💡  </a:t>
            </a:r>
            <a:r>
              <a:rPr>
                <a:latin typeface="Helvetica Neue"/>
                <a:ea typeface="Helvetica Neue"/>
                <a:cs typeface="Helvetica Neue"/>
                <a:sym typeface="Helvetica Neue"/>
              </a:rPr>
              <a:t>Always clone YOUR fork, not the upstream. Cloning upstream gives you no push access and skips the PR workflow.</a:t>
            </a:r>
          </a:p>
        </p:txBody>
      </p:sp>
      <p:sp>
        <p:nvSpPr>
          <p:cNvPr id="451" name="TextBox 11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FAF8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4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5" name="TextBox 3"/>
          <p:cNvSpPr txBox="1"/>
          <p:nvPr/>
        </p:nvSpPr>
        <p:spPr>
          <a:xfrm>
            <a:off x="777239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STEP 3 OF 4</a:t>
            </a:r>
          </a:p>
        </p:txBody>
      </p:sp>
      <p:sp>
        <p:nvSpPr>
          <p:cNvPr id="456" name="TextBox 4"/>
          <p:cNvSpPr txBox="1"/>
          <p:nvPr/>
        </p:nvSpPr>
        <p:spPr>
          <a:xfrm>
            <a:off x="777239" y="502920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Create a branch, make your changes, and commit</a:t>
            </a:r>
          </a:p>
        </p:txBody>
      </p:sp>
      <p:sp>
        <p:nvSpPr>
          <p:cNvPr id="457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8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23</a:t>
            </a:r>
          </a:p>
        </p:txBody>
      </p:sp>
      <p:sp>
        <p:nvSpPr>
          <p:cNvPr id="459" name="TextBox 7"/>
          <p:cNvSpPr txBox="1"/>
          <p:nvPr/>
        </p:nvSpPr>
        <p:spPr>
          <a:xfrm>
            <a:off x="777238" y="1234439"/>
            <a:ext cx="10607044" cy="339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7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Work on a dedicated branch — never commit directly to main.</a:t>
            </a:r>
          </a:p>
        </p:txBody>
      </p:sp>
      <p:sp>
        <p:nvSpPr>
          <p:cNvPr id="460" name="Rectangle 8"/>
          <p:cNvSpPr/>
          <p:nvPr/>
        </p:nvSpPr>
        <p:spPr>
          <a:xfrm>
            <a:off x="731519" y="1965959"/>
            <a:ext cx="10698482" cy="4389123"/>
          </a:xfrm>
          <a:prstGeom prst="rect">
            <a:avLst/>
          </a:prstGeom>
          <a:solidFill>
            <a:srgbClr val="131A2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1" name="TextBox 9"/>
          <p:cNvSpPr txBox="1"/>
          <p:nvPr/>
        </p:nvSpPr>
        <p:spPr>
          <a:xfrm>
            <a:off x="1051558" y="2148839"/>
            <a:ext cx="7481500" cy="3901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22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Create and switch to a feature branch</a:t>
            </a:r>
          </a:p>
          <a:p>
            <a:pPr>
              <a:defRPr b="1" sz="22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 checkout -b fix/update-homepage-text</a:t>
            </a:r>
          </a:p>
          <a:p>
            <a:pPr>
              <a:defRPr sz="2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22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Edit the file you want to change</a:t>
            </a:r>
          </a:p>
          <a:p>
            <a:pPr>
              <a:defRPr sz="2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e.g. open index.html in VS Code</a:t>
            </a:r>
          </a:p>
          <a:p>
            <a:pPr>
              <a:defRPr sz="2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22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Stage your changes</a:t>
            </a:r>
          </a:p>
          <a:p>
            <a:pPr>
              <a:defRPr b="1" sz="22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 add index.html</a:t>
            </a:r>
          </a:p>
          <a:p>
            <a:pPr>
              <a:defRPr sz="2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2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Commit with a clear, descriptive message</a:t>
            </a:r>
          </a:p>
          <a:p>
            <a:pPr>
              <a:defRPr b="1" sz="22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 commit -m "Update homepage welcome text"</a:t>
            </a:r>
          </a:p>
        </p:txBody>
      </p:sp>
      <p:sp>
        <p:nvSpPr>
          <p:cNvPr id="462" name="TextBox 10"/>
          <p:cNvSpPr txBox="1"/>
          <p:nvPr/>
        </p:nvSpPr>
        <p:spPr>
          <a:xfrm>
            <a:off x="2016301" y="6477407"/>
            <a:ext cx="9966961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300">
                <a:solidFill>
                  <a:srgbClr val="D97A16"/>
                </a:solidFill>
              </a:defRPr>
            </a:pPr>
            <a:r>
              <a:t>💡  </a:t>
            </a:r>
            <a:r>
              <a:rPr>
                <a:latin typeface="Helvetica Neue"/>
                <a:ea typeface="Helvetica Neue"/>
                <a:cs typeface="Helvetica Neue"/>
                <a:sym typeface="Helvetica Neue"/>
              </a:rPr>
              <a:t>Branch names like fix/…, feat/…, or docs/… signal intent at a glance and keep your main branch clean.</a:t>
            </a:r>
          </a:p>
        </p:txBody>
      </p:sp>
      <p:sp>
        <p:nvSpPr>
          <p:cNvPr id="463" name="TextBox 11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FAF8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6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7" name="TextBox 3"/>
          <p:cNvSpPr txBox="1"/>
          <p:nvPr/>
        </p:nvSpPr>
        <p:spPr>
          <a:xfrm>
            <a:off x="777239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STEP 4 OF 4</a:t>
            </a:r>
          </a:p>
        </p:txBody>
      </p:sp>
      <p:sp>
        <p:nvSpPr>
          <p:cNvPr id="468" name="TextBox 4"/>
          <p:cNvSpPr txBox="1"/>
          <p:nvPr/>
        </p:nvSpPr>
        <p:spPr>
          <a:xfrm>
            <a:off x="777239" y="502920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Push your branch and open a Pull Request</a:t>
            </a:r>
          </a:p>
        </p:txBody>
      </p:sp>
      <p:sp>
        <p:nvSpPr>
          <p:cNvPr id="469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0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24</a:t>
            </a:r>
          </a:p>
        </p:txBody>
      </p:sp>
      <p:sp>
        <p:nvSpPr>
          <p:cNvPr id="471" name="TextBox 7"/>
          <p:cNvSpPr txBox="1"/>
          <p:nvPr/>
        </p:nvSpPr>
        <p:spPr>
          <a:xfrm>
            <a:off x="777238" y="1234439"/>
            <a:ext cx="10607044" cy="339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7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Push the branch to YOUR fork, then open a PR against the upstream repo.</a:t>
            </a:r>
          </a:p>
        </p:txBody>
      </p:sp>
      <p:sp>
        <p:nvSpPr>
          <p:cNvPr id="472" name="Rectangle 8"/>
          <p:cNvSpPr/>
          <p:nvPr/>
        </p:nvSpPr>
        <p:spPr>
          <a:xfrm>
            <a:off x="731519" y="1965959"/>
            <a:ext cx="10698482" cy="4389123"/>
          </a:xfrm>
          <a:prstGeom prst="rect">
            <a:avLst/>
          </a:prstGeom>
          <a:solidFill>
            <a:srgbClr val="131A2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3" name="TextBox 9"/>
          <p:cNvSpPr txBox="1"/>
          <p:nvPr/>
        </p:nvSpPr>
        <p:spPr>
          <a:xfrm>
            <a:off x="1051558" y="2148839"/>
            <a:ext cx="9661175" cy="3901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22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Push the branch to your fork</a:t>
            </a:r>
          </a:p>
          <a:p>
            <a:pPr>
              <a:defRPr b="1" sz="22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 push -u origin fix/update-homepage-text</a:t>
            </a:r>
          </a:p>
          <a:p>
            <a:pPr>
              <a:defRPr sz="2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22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Open a PR with the GitHub CLI</a:t>
            </a:r>
          </a:p>
          <a:p>
            <a:pPr>
              <a:defRPr b="1" sz="22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gh pr create --repo hd-admin/hackerdojo.org \</a:t>
            </a:r>
          </a:p>
          <a:p>
            <a:pPr>
              <a:defRPr b="1" sz="22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--title "Update homepage welcome text" \</a:t>
            </a:r>
          </a:p>
          <a:p>
            <a:pPr>
              <a:defRPr b="1" sz="22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--body "Improves the welcome message for new visitors."</a:t>
            </a:r>
          </a:p>
          <a:p>
            <a:pPr>
              <a:defRPr sz="2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2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GitHub also prints a URL after the push — open it to</a:t>
            </a:r>
          </a:p>
          <a:p>
            <a:pPr>
              <a:defRPr sz="2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create the PR in the browser instead.</a:t>
            </a:r>
          </a:p>
          <a:p>
            <a:pPr>
              <a:defRPr sz="2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</p:txBody>
      </p:sp>
      <p:sp>
        <p:nvSpPr>
          <p:cNvPr id="474" name="TextBox 10"/>
          <p:cNvSpPr txBox="1"/>
          <p:nvPr/>
        </p:nvSpPr>
        <p:spPr>
          <a:xfrm>
            <a:off x="2005178" y="6445657"/>
            <a:ext cx="9966961" cy="35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 sz="1300">
                <a:solidFill>
                  <a:srgbClr val="D97A16"/>
                </a:solidFill>
              </a:defRPr>
            </a:pPr>
            <a:r>
              <a:t>💡  </a:t>
            </a:r>
            <a:r>
              <a:rPr>
                <a:latin typeface="Helvetica Neue"/>
                <a:ea typeface="Helvetica Neue"/>
                <a:cs typeface="Helvetica Neue"/>
                <a:sym typeface="Helvetica Neue"/>
              </a:rPr>
              <a:t>After your PR is merged: git pull upstream main &amp;&amp; git push origin main  keeps your fork in sync.</a:t>
            </a:r>
          </a:p>
        </p:txBody>
      </p:sp>
      <p:sp>
        <p:nvSpPr>
          <p:cNvPr id="475" name="TextBox 11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Rectangle 1"/>
          <p:cNvSpPr/>
          <p:nvPr/>
        </p:nvSpPr>
        <p:spPr>
          <a:xfrm>
            <a:off x="-2" y="0"/>
            <a:ext cx="12188956" cy="6858000"/>
          </a:xfrm>
          <a:prstGeom prst="rect">
            <a:avLst/>
          </a:prstGeom>
          <a:solidFill>
            <a:srgbClr val="FAF8F5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8" name="Rectangle 2"/>
          <p:cNvSpPr/>
          <p:nvPr/>
        </p:nvSpPr>
        <p:spPr>
          <a:xfrm>
            <a:off x="-2" y="0"/>
            <a:ext cx="12188956" cy="50800"/>
          </a:xfrm>
          <a:prstGeom prst="rect">
            <a:avLst/>
          </a:prstGeom>
          <a:solidFill>
            <a:srgbClr val="0F766E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9" name="TextBox 3"/>
          <p:cNvSpPr txBox="1"/>
          <p:nvPr/>
        </p:nvSpPr>
        <p:spPr>
          <a:xfrm>
            <a:off x="777239" y="347473"/>
            <a:ext cx="10424161" cy="252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11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STEP 4 OF 4</a:t>
            </a:r>
          </a:p>
        </p:txBody>
      </p:sp>
      <p:sp>
        <p:nvSpPr>
          <p:cNvPr id="480" name="TextBox 4"/>
          <p:cNvSpPr txBox="1"/>
          <p:nvPr/>
        </p:nvSpPr>
        <p:spPr>
          <a:xfrm>
            <a:off x="777239" y="502920"/>
            <a:ext cx="10424161" cy="612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3600">
                <a:solidFill>
                  <a:srgbClr val="1C1917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After PR is merged</a:t>
            </a:r>
          </a:p>
        </p:txBody>
      </p:sp>
      <p:sp>
        <p:nvSpPr>
          <p:cNvPr id="481" name="Rectangle 5"/>
          <p:cNvSpPr/>
          <p:nvPr/>
        </p:nvSpPr>
        <p:spPr>
          <a:xfrm>
            <a:off x="731518" y="1078991"/>
            <a:ext cx="10725915" cy="12702"/>
          </a:xfrm>
          <a:prstGeom prst="rect">
            <a:avLst/>
          </a:prstGeom>
          <a:solidFill>
            <a:srgbClr val="E7E5E4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2" name="TextBox 6"/>
          <p:cNvSpPr txBox="1"/>
          <p:nvPr/>
        </p:nvSpPr>
        <p:spPr>
          <a:xfrm>
            <a:off x="11567159" y="6492241"/>
            <a:ext cx="365762" cy="264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r">
              <a:defRPr sz="12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24</a:t>
            </a:r>
          </a:p>
        </p:txBody>
      </p:sp>
      <p:sp>
        <p:nvSpPr>
          <p:cNvPr id="483" name="TextBox 7"/>
          <p:cNvSpPr txBox="1"/>
          <p:nvPr/>
        </p:nvSpPr>
        <p:spPr>
          <a:xfrm>
            <a:off x="777238" y="1234439"/>
            <a:ext cx="10607044" cy="3393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700">
                <a:solidFill>
                  <a:srgbClr val="57534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Get the latest back into your repository and on your machine.</a:t>
            </a:r>
          </a:p>
        </p:txBody>
      </p:sp>
      <p:sp>
        <p:nvSpPr>
          <p:cNvPr id="484" name="Rectangle 8"/>
          <p:cNvSpPr/>
          <p:nvPr/>
        </p:nvSpPr>
        <p:spPr>
          <a:xfrm>
            <a:off x="731519" y="1965959"/>
            <a:ext cx="10698482" cy="4389123"/>
          </a:xfrm>
          <a:prstGeom prst="rect">
            <a:avLst/>
          </a:prstGeom>
          <a:solidFill>
            <a:srgbClr val="131A21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5" name="TextBox 9"/>
          <p:cNvSpPr txBox="1"/>
          <p:nvPr/>
        </p:nvSpPr>
        <p:spPr>
          <a:xfrm>
            <a:off x="1051558" y="2148839"/>
            <a:ext cx="10331844" cy="4218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22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Get the latest code from upstream (hd-admin/hackerdojo.org)</a:t>
            </a:r>
          </a:p>
          <a:p>
            <a:pPr>
              <a:defRPr b="1" sz="22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 pull upstream main</a:t>
            </a:r>
          </a:p>
          <a:p>
            <a:pPr>
              <a:defRPr b="1" sz="22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22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Now the latest is on your machine but not in your </a:t>
            </a:r>
          </a:p>
          <a:p>
            <a:pPr>
              <a:defRPr sz="22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github.com repository.</a:t>
            </a:r>
          </a:p>
          <a:p>
            <a:pPr>
              <a:defRPr sz="22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Let’s push it there.</a:t>
            </a:r>
          </a:p>
          <a:p>
            <a:pPr>
              <a:defRPr b="1" sz="22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 push origin main</a:t>
            </a:r>
          </a:p>
          <a:p>
            <a:pPr>
              <a:defRPr sz="2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2200">
                <a:solidFill>
                  <a:srgbClr val="E5C07B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defRPr sz="22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You can also use the UI to sync your github.com repo and </a:t>
            </a:r>
          </a:p>
          <a:p>
            <a:pPr>
              <a:defRPr sz="2200">
                <a:solidFill>
                  <a:srgbClr val="FAF8F5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do:</a:t>
            </a:r>
          </a:p>
          <a:p>
            <a:pPr>
              <a:defRPr b="1" sz="2200">
                <a:solidFill>
                  <a:srgbClr val="4EC9A0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git pull origin main</a:t>
            </a:r>
            <a:endParaRPr>
              <a:solidFill>
                <a:srgbClr val="E5C07B"/>
              </a:solidFill>
            </a:endParaRPr>
          </a:p>
        </p:txBody>
      </p:sp>
      <p:sp>
        <p:nvSpPr>
          <p:cNvPr id="486" name="TextBox 10"/>
          <p:cNvSpPr txBox="1"/>
          <p:nvPr/>
        </p:nvSpPr>
        <p:spPr>
          <a:xfrm>
            <a:off x="2005178" y="6445657"/>
            <a:ext cx="9966961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300">
                <a:solidFill>
                  <a:srgbClr val="D97A16"/>
                </a:solidFill>
              </a:defRPr>
            </a:lvl1pPr>
          </a:lstStyle>
          <a:p>
            <a:pPr/>
            <a:r>
              <a:t>Now, everything is in sync and ready for the next branch.</a:t>
            </a:r>
          </a:p>
        </p:txBody>
      </p:sp>
      <p:sp>
        <p:nvSpPr>
          <p:cNvPr id="487" name="TextBox 11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7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TextBox 3"/>
          <p:cNvSpPr txBox="1"/>
          <p:nvPr/>
        </p:nvSpPr>
        <p:spPr>
          <a:xfrm>
            <a:off x="822960" y="1874518"/>
            <a:ext cx="5394962" cy="726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4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TeleTrex</a:t>
            </a:r>
          </a:p>
        </p:txBody>
      </p:sp>
      <p:sp>
        <p:nvSpPr>
          <p:cNvPr id="490" name="TextBox 4"/>
          <p:cNvSpPr txBox="1"/>
          <p:nvPr/>
        </p:nvSpPr>
        <p:spPr>
          <a:xfrm>
            <a:off x="822960" y="2560321"/>
            <a:ext cx="9052561" cy="12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8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You're ready.</a:t>
            </a:r>
          </a:p>
        </p:txBody>
      </p:sp>
      <p:sp>
        <p:nvSpPr>
          <p:cNvPr id="491" name="TextBox 5"/>
          <p:cNvSpPr txBox="1"/>
          <p:nvPr/>
        </p:nvSpPr>
        <p:spPr>
          <a:xfrm>
            <a:off x="822960" y="4160521"/>
            <a:ext cx="9052561" cy="364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>
                <a:solidFill>
                  <a:srgbClr val="2DD4B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   Now you can contribute to any open source project the right way.</a:t>
            </a:r>
          </a:p>
        </p:txBody>
      </p:sp>
      <p:sp>
        <p:nvSpPr>
          <p:cNvPr id="492" name="TextBox 7"/>
          <p:cNvSpPr txBox="1"/>
          <p:nvPr/>
        </p:nvSpPr>
        <p:spPr>
          <a:xfrm>
            <a:off x="274319" y="6492241"/>
            <a:ext cx="1540661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0F766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  <p:sp>
        <p:nvSpPr>
          <p:cNvPr id="493" name="TextBox 27"/>
          <p:cNvSpPr txBox="1"/>
          <p:nvPr/>
        </p:nvSpPr>
        <p:spPr>
          <a:xfrm>
            <a:off x="274319" y="6492241"/>
            <a:ext cx="1540662" cy="2775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https://teletrex.com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
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GitHub.com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li/cli/blob/trunk/docs/install_linux.md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D111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2" y="0"/>
            <a:ext cx="12188956" cy="762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-2" y="6781800"/>
            <a:ext cx="12188956" cy="762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822960" y="1920239"/>
            <a:ext cx="7223760" cy="277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TRAINING SESSION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822960" y="2377439"/>
            <a:ext cx="9509761" cy="176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5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Deploy Your First Website</a:t>
            </a:r>
          </a:p>
          <a:p>
            <a:pPr>
              <a:defRPr sz="5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to GitHub Pages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822960" y="4480560"/>
            <a:ext cx="9052561" cy="389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A8A09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Manual deployment → automated with a Claude Code skill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822960" y="6126480"/>
            <a:ext cx="5394962" cy="27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DDDDD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Louis Roehrs   ·  TeleTrex  ·  Mountain View, CA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"/>
          <p:cNvSpPr/>
          <p:nvPr/>
        </p:nvSpPr>
        <p:spPr>
          <a:xfrm>
            <a:off x="731519" y="3313278"/>
            <a:ext cx="457202" cy="45720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104" name="Screenshot 2026-06-09 at 6.24.27 PM.png" descr="Screenshot 2026-06-09 at 6.24.2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60304" y="3068029"/>
            <a:ext cx="3695701" cy="37719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pic>
      <p:sp>
        <p:nvSpPr>
          <p:cNvPr id="105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TextBox 3"/>
          <p:cNvSpPr txBox="1"/>
          <p:nvPr/>
        </p:nvSpPr>
        <p:spPr>
          <a:xfrm>
            <a:off x="777239" y="384048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we'll cover today</a:t>
            </a:r>
          </a:p>
        </p:txBody>
      </p:sp>
      <p:sp>
        <p:nvSpPr>
          <p:cNvPr id="107" name="Rectangle 4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TextBox 5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9" name="Rectangle 6"/>
          <p:cNvSpPr/>
          <p:nvPr/>
        </p:nvSpPr>
        <p:spPr>
          <a:xfrm>
            <a:off x="731519" y="1371600"/>
            <a:ext cx="457202" cy="4572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TextBox 7"/>
          <p:cNvSpPr txBox="1"/>
          <p:nvPr/>
        </p:nvSpPr>
        <p:spPr>
          <a:xfrm>
            <a:off x="777238" y="1380744"/>
            <a:ext cx="36576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1" name="TextBox 8"/>
          <p:cNvSpPr txBox="1"/>
          <p:nvPr/>
        </p:nvSpPr>
        <p:spPr>
          <a:xfrm>
            <a:off x="1417318" y="1371600"/>
            <a:ext cx="9509764" cy="408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1 — Manual deployment</a:t>
            </a:r>
          </a:p>
        </p:txBody>
      </p:sp>
      <p:sp>
        <p:nvSpPr>
          <p:cNvPr id="112" name="TextBox 9"/>
          <p:cNvSpPr txBox="1"/>
          <p:nvPr/>
        </p:nvSpPr>
        <p:spPr>
          <a:xfrm>
            <a:off x="1417318" y="1792223"/>
            <a:ext cx="9509764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Create a repo, push your code, enable GitHub Pages step by step</a:t>
            </a:r>
          </a:p>
        </p:txBody>
      </p:sp>
      <p:sp>
        <p:nvSpPr>
          <p:cNvPr id="113" name="Rectangle 10"/>
          <p:cNvSpPr/>
          <p:nvPr/>
        </p:nvSpPr>
        <p:spPr>
          <a:xfrm>
            <a:off x="731519" y="2316733"/>
            <a:ext cx="457202" cy="45720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TextBox 11"/>
          <p:cNvSpPr txBox="1"/>
          <p:nvPr/>
        </p:nvSpPr>
        <p:spPr>
          <a:xfrm>
            <a:off x="777238" y="2340865"/>
            <a:ext cx="36576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5" name="TextBox 12"/>
          <p:cNvSpPr txBox="1"/>
          <p:nvPr/>
        </p:nvSpPr>
        <p:spPr>
          <a:xfrm>
            <a:off x="1417318" y="2331721"/>
            <a:ext cx="9509764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2 — Automate it</a:t>
            </a:r>
          </a:p>
        </p:txBody>
      </p:sp>
      <p:sp>
        <p:nvSpPr>
          <p:cNvPr id="116" name="TextBox 13"/>
          <p:cNvSpPr txBox="1"/>
          <p:nvPr/>
        </p:nvSpPr>
        <p:spPr>
          <a:xfrm>
            <a:off x="1417318" y="2752344"/>
            <a:ext cx="9509764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Build a /deploy-github-pages Claude Code skill that does all of Part 1 in one command</a:t>
            </a:r>
          </a:p>
        </p:txBody>
      </p:sp>
      <p:sp>
        <p:nvSpPr>
          <p:cNvPr id="117" name="TextBox 14"/>
          <p:cNvSpPr txBox="1"/>
          <p:nvPr/>
        </p:nvSpPr>
        <p:spPr>
          <a:xfrm>
            <a:off x="777239" y="6035041"/>
            <a:ext cx="9966961" cy="28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4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Prerequisites: a GitHub account, Git installed, and a text editor.</a:t>
            </a:r>
          </a:p>
        </p:txBody>
      </p:sp>
      <p:sp>
        <p:nvSpPr>
          <p:cNvPr id="118" name="TextBox 15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119" name="TextBox 8"/>
          <p:cNvSpPr txBox="1"/>
          <p:nvPr/>
        </p:nvSpPr>
        <p:spPr>
          <a:xfrm>
            <a:off x="4269367" y="5402649"/>
            <a:ext cx="9509763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Materials at this link —&gt;</a:t>
            </a:r>
          </a:p>
        </p:txBody>
      </p:sp>
      <p:sp>
        <p:nvSpPr>
          <p:cNvPr id="120" name="TextBox 11"/>
          <p:cNvSpPr txBox="1"/>
          <p:nvPr/>
        </p:nvSpPr>
        <p:spPr>
          <a:xfrm>
            <a:off x="777239" y="3337410"/>
            <a:ext cx="36576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1" name="TextBox 12"/>
          <p:cNvSpPr txBox="1"/>
          <p:nvPr/>
        </p:nvSpPr>
        <p:spPr>
          <a:xfrm>
            <a:off x="1410847" y="3337410"/>
            <a:ext cx="9509763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3 — Work together</a:t>
            </a:r>
          </a:p>
        </p:txBody>
      </p:sp>
      <p:sp>
        <p:nvSpPr>
          <p:cNvPr id="122" name="TextBox 13"/>
          <p:cNvSpPr txBox="1"/>
          <p:nvPr/>
        </p:nvSpPr>
        <p:spPr>
          <a:xfrm>
            <a:off x="1410847" y="3758034"/>
            <a:ext cx="9509763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Fork a repo and make lasting changes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TextBox 3"/>
          <p:cNvSpPr txBox="1"/>
          <p:nvPr/>
        </p:nvSpPr>
        <p:spPr>
          <a:xfrm>
            <a:off x="822960" y="2011679"/>
            <a:ext cx="3566162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1</a:t>
            </a:r>
          </a:p>
        </p:txBody>
      </p:sp>
      <p:sp>
        <p:nvSpPr>
          <p:cNvPr id="126" name="TextBox 4"/>
          <p:cNvSpPr txBox="1"/>
          <p:nvPr/>
        </p:nvSpPr>
        <p:spPr>
          <a:xfrm>
            <a:off x="822960" y="2926079"/>
            <a:ext cx="9052561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Manual Way</a:t>
            </a:r>
          </a:p>
        </p:txBody>
      </p:sp>
      <p:sp>
        <p:nvSpPr>
          <p:cNvPr id="127" name="TextBox 5"/>
          <p:cNvSpPr txBox="1"/>
          <p:nvPr/>
        </p:nvSpPr>
        <p:spPr>
          <a:xfrm>
            <a:off x="822960" y="4114800"/>
            <a:ext cx="8138160" cy="426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Six steps from zero to a live website</a:t>
            </a:r>
          </a:p>
        </p:txBody>
      </p:sp>
      <p:sp>
        <p:nvSpPr>
          <p:cNvPr id="128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129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BACKGROUND</a:t>
            </a:r>
          </a:p>
        </p:txBody>
      </p:sp>
      <p:sp>
        <p:nvSpPr>
          <p:cNvPr id="13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is GitHub Pages?</a:t>
            </a:r>
          </a:p>
        </p:txBody>
      </p:sp>
      <p:sp>
        <p:nvSpPr>
          <p:cNvPr id="13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7" name="TextBox 7"/>
          <p:cNvSpPr txBox="1"/>
          <p:nvPr/>
        </p:nvSpPr>
        <p:spPr>
          <a:xfrm>
            <a:off x="700398" y="1421932"/>
            <a:ext cx="7150621" cy="254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Free static website hosting provided by GitHub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Serves HTML, CSS, JS and images directly from a repository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Instant HTTPS — no configuration needed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Custom domains supported (CNAME file)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Deploys automatically on every push to your chosen branch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Free for public repos; private repos need GitHub Pro or Team</a:t>
            </a:r>
          </a:p>
        </p:txBody>
      </p:sp>
      <p:sp>
        <p:nvSpPr>
          <p:cNvPr id="138" name="Rectangle 8"/>
          <p:cNvSpPr/>
          <p:nvPr/>
        </p:nvSpPr>
        <p:spPr>
          <a:xfrm>
            <a:off x="761263" y="4942277"/>
            <a:ext cx="10799109" cy="138861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9" name="Rectangle 9"/>
          <p:cNvSpPr/>
          <p:nvPr/>
        </p:nvSpPr>
        <p:spPr>
          <a:xfrm>
            <a:off x="731611" y="4923066"/>
            <a:ext cx="45401" cy="142703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0" name="TextBox 10"/>
          <p:cNvSpPr txBox="1"/>
          <p:nvPr/>
        </p:nvSpPr>
        <p:spPr>
          <a:xfrm>
            <a:off x="850940" y="4983511"/>
            <a:ext cx="2743201" cy="28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3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Your URL will be</a:t>
            </a:r>
          </a:p>
        </p:txBody>
      </p:sp>
      <p:sp>
        <p:nvSpPr>
          <p:cNvPr id="141" name="TextBox 11"/>
          <p:cNvSpPr txBox="1"/>
          <p:nvPr/>
        </p:nvSpPr>
        <p:spPr>
          <a:xfrm>
            <a:off x="870149" y="5311462"/>
            <a:ext cx="6296226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https://username.github.io/repo-name</a:t>
            </a:r>
          </a:p>
        </p:txBody>
      </p:sp>
      <p:sp>
        <p:nvSpPr>
          <p:cNvPr id="142" name="TextBox 12"/>
          <p:cNvSpPr txBox="1"/>
          <p:nvPr/>
        </p:nvSpPr>
        <p:spPr>
          <a:xfrm>
            <a:off x="901740" y="5922105"/>
            <a:ext cx="2743201" cy="27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3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https://acme.github.io/landing</a:t>
            </a:r>
          </a:p>
        </p:txBody>
      </p:sp>
      <p:sp>
        <p:nvSpPr>
          <p:cNvPr id="143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6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7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PREREQUISITES</a:t>
            </a:r>
          </a:p>
        </p:txBody>
      </p:sp>
      <p:sp>
        <p:nvSpPr>
          <p:cNvPr id="148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Before you start</a:t>
            </a:r>
          </a:p>
        </p:txBody>
      </p:sp>
      <p:sp>
        <p:nvSpPr>
          <p:cNvPr id="149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0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1" name="Rectangle 7"/>
          <p:cNvSpPr/>
          <p:nvPr/>
        </p:nvSpPr>
        <p:spPr>
          <a:xfrm>
            <a:off x="731519" y="1377173"/>
            <a:ext cx="54866" cy="27432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2" name="TextBox 8"/>
          <p:cNvSpPr txBox="1"/>
          <p:nvPr/>
        </p:nvSpPr>
        <p:spPr>
          <a:xfrm>
            <a:off x="1005839" y="1325880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Free GitHub account</a:t>
            </a:r>
          </a:p>
        </p:txBody>
      </p:sp>
      <p:sp>
        <p:nvSpPr>
          <p:cNvPr id="153" name="TextBox 9"/>
          <p:cNvSpPr txBox="1"/>
          <p:nvPr/>
        </p:nvSpPr>
        <p:spPr>
          <a:xfrm>
            <a:off x="4378356" y="1419098"/>
            <a:ext cx="658368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https://github.com/signup</a:t>
            </a:r>
          </a:p>
        </p:txBody>
      </p:sp>
      <p:sp>
        <p:nvSpPr>
          <p:cNvPr id="154" name="Rectangle 10"/>
          <p:cNvSpPr/>
          <p:nvPr/>
        </p:nvSpPr>
        <p:spPr>
          <a:xfrm>
            <a:off x="731518" y="1764792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" name="Rectangle 11"/>
          <p:cNvSpPr/>
          <p:nvPr/>
        </p:nvSpPr>
        <p:spPr>
          <a:xfrm>
            <a:off x="731519" y="2200133"/>
            <a:ext cx="54866" cy="27432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" name="TextBox 12"/>
          <p:cNvSpPr txBox="1"/>
          <p:nvPr/>
        </p:nvSpPr>
        <p:spPr>
          <a:xfrm>
            <a:off x="1005839" y="4617720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Install Git on your machine</a:t>
            </a:r>
          </a:p>
        </p:txBody>
      </p:sp>
      <p:sp>
        <p:nvSpPr>
          <p:cNvPr id="157" name="TextBox 13"/>
          <p:cNvSpPr txBox="1"/>
          <p:nvPr/>
        </p:nvSpPr>
        <p:spPr>
          <a:xfrm>
            <a:off x="4378356" y="4652504"/>
            <a:ext cx="658368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git-scm.com  or  brew install git</a:t>
            </a:r>
          </a:p>
        </p:txBody>
      </p:sp>
      <p:sp>
        <p:nvSpPr>
          <p:cNvPr id="158" name="Rectangle 14"/>
          <p:cNvSpPr/>
          <p:nvPr/>
        </p:nvSpPr>
        <p:spPr>
          <a:xfrm>
            <a:off x="731518" y="2587750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9" name="Rectangle 15"/>
          <p:cNvSpPr/>
          <p:nvPr/>
        </p:nvSpPr>
        <p:spPr>
          <a:xfrm>
            <a:off x="731519" y="3023093"/>
            <a:ext cx="54866" cy="27432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" name="TextBox 16"/>
          <p:cNvSpPr txBox="1"/>
          <p:nvPr/>
        </p:nvSpPr>
        <p:spPr>
          <a:xfrm>
            <a:off x="1005839" y="2971800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Install GitHub CLI (gh)</a:t>
            </a:r>
          </a:p>
        </p:txBody>
      </p:sp>
      <p:sp>
        <p:nvSpPr>
          <p:cNvPr id="161" name="TextBox 17"/>
          <p:cNvSpPr txBox="1"/>
          <p:nvPr/>
        </p:nvSpPr>
        <p:spPr>
          <a:xfrm>
            <a:off x="4332561" y="3006584"/>
            <a:ext cx="7224994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cli.github.com  or  brew install gh  — optional but handy</a:t>
            </a:r>
          </a:p>
        </p:txBody>
      </p:sp>
      <p:sp>
        <p:nvSpPr>
          <p:cNvPr id="162" name="Rectangle 18"/>
          <p:cNvSpPr/>
          <p:nvPr/>
        </p:nvSpPr>
        <p:spPr>
          <a:xfrm>
            <a:off x="731518" y="3410710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" name="Rectangle 19"/>
          <p:cNvSpPr/>
          <p:nvPr/>
        </p:nvSpPr>
        <p:spPr>
          <a:xfrm>
            <a:off x="731519" y="3846054"/>
            <a:ext cx="54866" cy="27432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" name="TextBox 20"/>
          <p:cNvSpPr txBox="1"/>
          <p:nvPr/>
        </p:nvSpPr>
        <p:spPr>
          <a:xfrm>
            <a:off x="1005839" y="3794760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text editor</a:t>
            </a:r>
          </a:p>
        </p:txBody>
      </p:sp>
      <p:sp>
        <p:nvSpPr>
          <p:cNvPr id="165" name="TextBox 21"/>
          <p:cNvSpPr txBox="1"/>
          <p:nvPr/>
        </p:nvSpPr>
        <p:spPr>
          <a:xfrm>
            <a:off x="4378356" y="3829545"/>
            <a:ext cx="658368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VS Code, Cursor, Notepad — anything works</a:t>
            </a:r>
          </a:p>
        </p:txBody>
      </p:sp>
      <p:sp>
        <p:nvSpPr>
          <p:cNvPr id="166" name="Rectangle 22"/>
          <p:cNvSpPr/>
          <p:nvPr/>
        </p:nvSpPr>
        <p:spPr>
          <a:xfrm>
            <a:off x="731518" y="423367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Rectangle 23"/>
          <p:cNvSpPr/>
          <p:nvPr/>
        </p:nvSpPr>
        <p:spPr>
          <a:xfrm>
            <a:off x="731519" y="4669013"/>
            <a:ext cx="54866" cy="27432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" name="TextBox 24"/>
          <p:cNvSpPr txBox="1"/>
          <p:nvPr/>
        </p:nvSpPr>
        <p:spPr>
          <a:xfrm>
            <a:off x="1005839" y="2148840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Open a terminal window</a:t>
            </a:r>
          </a:p>
        </p:txBody>
      </p:sp>
      <p:sp>
        <p:nvSpPr>
          <p:cNvPr id="169" name="TextBox 25"/>
          <p:cNvSpPr txBox="1"/>
          <p:nvPr/>
        </p:nvSpPr>
        <p:spPr>
          <a:xfrm>
            <a:off x="4378356" y="2183624"/>
            <a:ext cx="658368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Terminal.app, iTerm, Windows Terminal</a:t>
            </a:r>
          </a:p>
        </p:txBody>
      </p:sp>
      <p:sp>
        <p:nvSpPr>
          <p:cNvPr id="170" name="Rectangle 26"/>
          <p:cNvSpPr/>
          <p:nvPr/>
        </p:nvSpPr>
        <p:spPr>
          <a:xfrm>
            <a:off x="731518" y="5056632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" name="TextBox 27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5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1 OF 6</a:t>
            </a:r>
          </a:p>
        </p:txBody>
      </p:sp>
      <p:sp>
        <p:nvSpPr>
          <p:cNvPr id="176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Create your HTML file</a:t>
            </a:r>
          </a:p>
        </p:txBody>
      </p:sp>
      <p:sp>
        <p:nvSpPr>
          <p:cNvPr id="177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9" name="TextBox 7"/>
          <p:cNvSpPr txBox="1"/>
          <p:nvPr/>
        </p:nvSpPr>
        <p:spPr>
          <a:xfrm>
            <a:off x="777238" y="1234439"/>
            <a:ext cx="10607044" cy="59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Create a folder for your project and add a file named index.html — GitHub Pages serves this as your homepage.</a:t>
            </a:r>
          </a:p>
        </p:txBody>
      </p:sp>
      <p:sp>
        <p:nvSpPr>
          <p:cNvPr id="180" name="Rectangle 8"/>
          <p:cNvSpPr/>
          <p:nvPr/>
        </p:nvSpPr>
        <p:spPr>
          <a:xfrm>
            <a:off x="731519" y="1965959"/>
            <a:ext cx="10698482" cy="438912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1" name="TextBox 9"/>
          <p:cNvSpPr txBox="1"/>
          <p:nvPr/>
        </p:nvSpPr>
        <p:spPr>
          <a:xfrm>
            <a:off x="1051558" y="2148839"/>
            <a:ext cx="5439008" cy="3596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000">
                <a:solidFill>
                  <a:srgbClr val="B4CC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&lt;!-- index.html --&gt;</a:t>
            </a:r>
          </a:p>
          <a:p>
            <a:pPr>
              <a:defRPr sz="2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&lt;!DOCTYPE html&gt;</a:t>
            </a:r>
          </a:p>
          <a:p>
            <a:pPr>
              <a:defRPr sz="2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&lt;html lang="en"&gt;</a:t>
            </a:r>
          </a:p>
          <a:p>
            <a:pPr>
              <a:defRPr sz="2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&lt;head&gt;</a:t>
            </a:r>
          </a:p>
          <a:p>
            <a:pPr>
              <a:defRPr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&lt;meta charset="UTF-8" /&gt;</a:t>
            </a:r>
          </a:p>
          <a:p>
            <a:pPr>
              <a:defRPr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&lt;title&gt;My First Site&lt;/title&gt;</a:t>
            </a:r>
          </a:p>
          <a:p>
            <a:pPr>
              <a:defRPr sz="2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&lt;/head&gt;</a:t>
            </a:r>
          </a:p>
          <a:p>
            <a:pPr>
              <a:defRPr sz="2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&lt;body&gt;</a:t>
            </a:r>
          </a:p>
          <a:p>
            <a:pPr>
              <a:defRPr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&lt;h1&gt;Hello from GitHub Pages!&lt;/h1&gt;</a:t>
            </a:r>
          </a:p>
          <a:p>
            <a:pPr>
              <a:defRPr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&lt;p&gt;My first live website.&lt;/p&gt;</a:t>
            </a:r>
          </a:p>
          <a:p>
            <a:pPr>
              <a:defRPr sz="2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&lt;/body&gt;</a:t>
            </a:r>
          </a:p>
          <a:p>
            <a:pPr>
              <a:defRPr sz="2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&lt;/html&gt;</a:t>
            </a:r>
          </a:p>
        </p:txBody>
      </p:sp>
      <p:sp>
        <p:nvSpPr>
          <p:cNvPr id="182" name="TextBox 10"/>
          <p:cNvSpPr txBox="1"/>
          <p:nvPr/>
        </p:nvSpPr>
        <p:spPr>
          <a:xfrm>
            <a:off x="2016301" y="6477407"/>
            <a:ext cx="9966961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⚠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The file must be named exactly index.html (all lowercase). Any other name won't be served automatically.</a:t>
            </a:r>
          </a:p>
        </p:txBody>
      </p:sp>
      <p:sp>
        <p:nvSpPr>
          <p:cNvPr id="183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6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7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2 OF 6</a:t>
            </a:r>
          </a:p>
        </p:txBody>
      </p:sp>
      <p:sp>
        <p:nvSpPr>
          <p:cNvPr id="188" name="TextBox 4"/>
          <p:cNvSpPr txBox="1"/>
          <p:nvPr/>
        </p:nvSpPr>
        <p:spPr>
          <a:xfrm>
            <a:off x="777239" y="491797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Initialize a local Git repository on your machine</a:t>
            </a:r>
          </a:p>
        </p:txBody>
      </p:sp>
      <p:sp>
        <p:nvSpPr>
          <p:cNvPr id="189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0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91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 your terminal, navigate to your project folder and run:</a:t>
            </a:r>
          </a:p>
        </p:txBody>
      </p:sp>
      <p:sp>
        <p:nvSpPr>
          <p:cNvPr id="192" name="Rectangle 8"/>
          <p:cNvSpPr/>
          <p:nvPr/>
        </p:nvSpPr>
        <p:spPr>
          <a:xfrm>
            <a:off x="731519" y="1828799"/>
            <a:ext cx="6858001" cy="466344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3" name="TextBox 9"/>
          <p:cNvSpPr txBox="1"/>
          <p:nvPr/>
        </p:nvSpPr>
        <p:spPr>
          <a:xfrm>
            <a:off x="1051558" y="2011679"/>
            <a:ext cx="6465932" cy="414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Navigate to your project folder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~/projects/my-site</a:t>
            </a:r>
          </a:p>
          <a:p>
            <a:pPr>
              <a:defRPr sz="2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Initialise a new git repository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init</a:t>
            </a:r>
          </a:p>
          <a:p>
            <a:pPr>
              <a:defRPr sz="2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Stage all files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add .</a:t>
            </a:r>
          </a:p>
          <a:p>
            <a:pPr>
              <a:defRPr sz="2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Create your first commit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commit -m "Initial commit"</a:t>
            </a:r>
          </a:p>
        </p:txBody>
      </p:sp>
      <p:sp>
        <p:nvSpPr>
          <p:cNvPr id="194" name="Rectangle 10"/>
          <p:cNvSpPr/>
          <p:nvPr/>
        </p:nvSpPr>
        <p:spPr>
          <a:xfrm>
            <a:off x="7932418" y="1828799"/>
            <a:ext cx="3520442" cy="4663443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5" name="Rectangle 11"/>
          <p:cNvSpPr/>
          <p:nvPr/>
        </p:nvSpPr>
        <p:spPr>
          <a:xfrm>
            <a:off x="7926462" y="1828799"/>
            <a:ext cx="47527" cy="4663443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6" name="TextBox 12"/>
          <p:cNvSpPr txBox="1"/>
          <p:nvPr/>
        </p:nvSpPr>
        <p:spPr>
          <a:xfrm>
            <a:off x="8183878" y="2057400"/>
            <a:ext cx="3017522" cy="302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4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this does</a:t>
            </a:r>
          </a:p>
        </p:txBody>
      </p:sp>
      <p:sp>
        <p:nvSpPr>
          <p:cNvPr id="197" name="TextBox 13"/>
          <p:cNvSpPr txBox="1"/>
          <p:nvPr/>
        </p:nvSpPr>
        <p:spPr>
          <a:xfrm>
            <a:off x="8183878" y="2468880"/>
            <a:ext cx="3017522" cy="3743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git init — creates a hidden .git folder that tracks changes on your machine</a:t>
            </a: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git add . — stages every file in the folder</a:t>
            </a: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git commit — saves a snapshot you can push</a:t>
            </a:r>
          </a:p>
        </p:txBody>
      </p:sp>
      <p:sp>
        <p:nvSpPr>
          <p:cNvPr id="198" name="TextBox 14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2"/>
          <p:cNvSpPr/>
          <p:nvPr/>
        </p:nvSpPr>
        <p:spPr>
          <a:xfrm>
            <a:off x="-4828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1" name="TextBox 3"/>
          <p:cNvSpPr txBox="1"/>
          <p:nvPr/>
        </p:nvSpPr>
        <p:spPr>
          <a:xfrm>
            <a:off x="772413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3 OF 6</a:t>
            </a:r>
          </a:p>
        </p:txBody>
      </p:sp>
      <p:sp>
        <p:nvSpPr>
          <p:cNvPr id="202" name="TextBox 4"/>
          <p:cNvSpPr txBox="1"/>
          <p:nvPr/>
        </p:nvSpPr>
        <p:spPr>
          <a:xfrm>
            <a:off x="772413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Create a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GitHub.com</a:t>
            </a:r>
            <a:r>
              <a:t> repository</a:t>
            </a:r>
          </a:p>
        </p:txBody>
      </p:sp>
      <p:sp>
        <p:nvSpPr>
          <p:cNvPr id="203" name="Rectangle 5"/>
          <p:cNvSpPr/>
          <p:nvPr/>
        </p:nvSpPr>
        <p:spPr>
          <a:xfrm>
            <a:off x="726692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4" name="TextBox 6"/>
          <p:cNvSpPr txBox="1"/>
          <p:nvPr/>
        </p:nvSpPr>
        <p:spPr>
          <a:xfrm>
            <a:off x="11562333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05" name="TextBox 7"/>
          <p:cNvSpPr txBox="1"/>
          <p:nvPr/>
        </p:nvSpPr>
        <p:spPr>
          <a:xfrm>
            <a:off x="772412" y="1261872"/>
            <a:ext cx="521208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Option A — GitHub website (UI)</a:t>
            </a:r>
          </a:p>
        </p:txBody>
      </p:sp>
      <p:sp>
        <p:nvSpPr>
          <p:cNvPr id="206" name="TextBox 8"/>
          <p:cNvSpPr txBox="1"/>
          <p:nvPr/>
        </p:nvSpPr>
        <p:spPr>
          <a:xfrm>
            <a:off x="494346" y="2539482"/>
            <a:ext cx="5425512" cy="286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2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Go to github.com and sign in</a:t>
            </a:r>
          </a:p>
          <a:p>
            <a:pPr>
              <a:spcBef>
                <a:spcPts val="500"/>
              </a:spcBef>
              <a:defRPr sz="22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Click  New      for new repository</a:t>
            </a:r>
          </a:p>
          <a:p>
            <a:pPr>
              <a:spcBef>
                <a:spcPts val="500"/>
              </a:spcBef>
              <a:defRPr sz="22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Give it a name</a:t>
            </a:r>
          </a:p>
          <a:p>
            <a:pPr>
              <a:spcBef>
                <a:spcPts val="500"/>
              </a:spcBef>
              <a:defRPr sz="22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Add a description</a:t>
            </a:r>
          </a:p>
          <a:p>
            <a:pPr>
              <a:spcBef>
                <a:spcPts val="500"/>
              </a:spcBef>
              <a:defRPr sz="22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Set visibility to Public</a:t>
            </a:r>
          </a:p>
          <a:p>
            <a:pPr>
              <a:spcBef>
                <a:spcPts val="500"/>
              </a:spcBef>
              <a:defRPr sz="22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Do NOT initialize with a README</a:t>
            </a:r>
          </a:p>
          <a:p>
            <a:pPr>
              <a:spcBef>
                <a:spcPts val="500"/>
              </a:spcBef>
              <a:defRPr sz="22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Click  </a:t>
            </a:r>
            <a:r>
              <a:rPr b="1"/>
              <a:t>Create</a:t>
            </a:r>
          </a:p>
        </p:txBody>
      </p:sp>
      <p:sp>
        <p:nvSpPr>
          <p:cNvPr id="207" name="Rectangle 9"/>
          <p:cNvSpPr/>
          <p:nvPr/>
        </p:nvSpPr>
        <p:spPr>
          <a:xfrm>
            <a:off x="6258814" y="1234438"/>
            <a:ext cx="12702" cy="5303523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8" name="TextBox 10"/>
          <p:cNvSpPr txBox="1"/>
          <p:nvPr/>
        </p:nvSpPr>
        <p:spPr>
          <a:xfrm>
            <a:off x="6533133" y="1261872"/>
            <a:ext cx="521208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0F766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Option B — GitHub CLI (faster)</a:t>
            </a:r>
          </a:p>
        </p:txBody>
      </p:sp>
      <p:sp>
        <p:nvSpPr>
          <p:cNvPr id="209" name="TextBox 11"/>
          <p:cNvSpPr txBox="1"/>
          <p:nvPr/>
        </p:nvSpPr>
        <p:spPr>
          <a:xfrm>
            <a:off x="6533133" y="1737361"/>
            <a:ext cx="4937762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If you have gh installed and authenticated:</a:t>
            </a:r>
          </a:p>
        </p:txBody>
      </p:sp>
      <p:sp>
        <p:nvSpPr>
          <p:cNvPr id="210" name="Rectangle 12"/>
          <p:cNvSpPr/>
          <p:nvPr/>
        </p:nvSpPr>
        <p:spPr>
          <a:xfrm>
            <a:off x="6487414" y="2194560"/>
            <a:ext cx="5349242" cy="3840480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1" name="TextBox 13"/>
          <p:cNvSpPr txBox="1"/>
          <p:nvPr/>
        </p:nvSpPr>
        <p:spPr>
          <a:xfrm>
            <a:off x="6807452" y="2377439"/>
            <a:ext cx="4905521" cy="301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auth login</a:t>
            </a:r>
          </a:p>
          <a:p>
            <a:pPr>
              <a:defRPr sz="21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1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One command creates the repo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repo create my-site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--public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--source=.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--remote=origin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--push</a:t>
            </a:r>
          </a:p>
          <a:p>
            <a:pPr>
              <a:defRPr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100">
                <a:solidFill>
                  <a:srgbClr val="EDEDE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Then skip to slide 10!</a:t>
            </a:r>
          </a:p>
        </p:txBody>
      </p:sp>
      <p:sp>
        <p:nvSpPr>
          <p:cNvPr id="212" name="TextBox 14"/>
          <p:cNvSpPr txBox="1"/>
          <p:nvPr/>
        </p:nvSpPr>
        <p:spPr>
          <a:xfrm>
            <a:off x="269493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pic>
        <p:nvPicPr>
          <p:cNvPr id="213" name="Screenshot 2026-06-27 at 3.09.05 AM.png" descr="Screenshot 2026-06-27 at 3.09.0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91299" y="2977226"/>
            <a:ext cx="9398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Screenshot 2026-06-27 at 3.11.49 AM.png" descr="Screenshot 2026-06-27 at 3.11.49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50692" y="4981819"/>
            <a:ext cx="2032001" cy="469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-4828" y="0"/>
            <a:ext cx="12188956" cy="6858001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2 OF 6</a:t>
            </a:r>
          </a:p>
        </p:txBody>
      </p:sp>
      <p:sp>
        <p:nvSpPr>
          <p:cNvPr id="219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Install gh</a:t>
            </a:r>
          </a:p>
        </p:txBody>
      </p:sp>
      <p:sp>
        <p:nvSpPr>
          <p:cNvPr id="220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2" name="Rectangle 8"/>
          <p:cNvSpPr/>
          <p:nvPr/>
        </p:nvSpPr>
        <p:spPr>
          <a:xfrm>
            <a:off x="755261" y="1828799"/>
            <a:ext cx="3379987" cy="466344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3" name="TextBox 9"/>
          <p:cNvSpPr txBox="1"/>
          <p:nvPr/>
        </p:nvSpPr>
        <p:spPr>
          <a:xfrm>
            <a:off x="869543" y="2011679"/>
            <a:ext cx="3151423" cy="2301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brew install gh</a:t>
            </a:r>
          </a:p>
          <a:p>
            <a:pPr>
              <a:defRPr sz="2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verify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—-version</a:t>
            </a:r>
          </a:p>
        </p:txBody>
      </p:sp>
      <p:sp>
        <p:nvSpPr>
          <p:cNvPr id="224" name="TextBox 14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225" name="Rectangle 10"/>
          <p:cNvSpPr/>
          <p:nvPr/>
        </p:nvSpPr>
        <p:spPr>
          <a:xfrm>
            <a:off x="4380160" y="1155301"/>
            <a:ext cx="12702" cy="5303523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" name="Macintosh"/>
          <p:cNvSpPr txBox="1"/>
          <p:nvPr/>
        </p:nvSpPr>
        <p:spPr>
          <a:xfrm>
            <a:off x="714528" y="1224383"/>
            <a:ext cx="2842370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Macintosh</a:t>
            </a:r>
          </a:p>
        </p:txBody>
      </p:sp>
      <p:sp>
        <p:nvSpPr>
          <p:cNvPr id="227" name="Windows"/>
          <p:cNvSpPr txBox="1"/>
          <p:nvPr/>
        </p:nvSpPr>
        <p:spPr>
          <a:xfrm>
            <a:off x="4662385" y="1224383"/>
            <a:ext cx="2431416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Windows</a:t>
            </a:r>
          </a:p>
        </p:txBody>
      </p:sp>
      <p:sp>
        <p:nvSpPr>
          <p:cNvPr id="228" name="Rectangle 8"/>
          <p:cNvSpPr/>
          <p:nvPr/>
        </p:nvSpPr>
        <p:spPr>
          <a:xfrm>
            <a:off x="4625476" y="1828800"/>
            <a:ext cx="7251532" cy="2116789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" name="TextBox 9"/>
          <p:cNvSpPr txBox="1"/>
          <p:nvPr/>
        </p:nvSpPr>
        <p:spPr>
          <a:xfrm>
            <a:off x="4821530" y="1824172"/>
            <a:ext cx="6250098" cy="1932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winget install --id GitHub.cli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chocolatey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choco install gh</a:t>
            </a:r>
          </a:p>
        </p:txBody>
      </p:sp>
      <p:sp>
        <p:nvSpPr>
          <p:cNvPr id="230" name="Linux"/>
          <p:cNvSpPr txBox="1"/>
          <p:nvPr/>
        </p:nvSpPr>
        <p:spPr>
          <a:xfrm>
            <a:off x="4673504" y="4372093"/>
            <a:ext cx="263163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Linux</a:t>
            </a:r>
          </a:p>
        </p:txBody>
      </p:sp>
      <p:sp>
        <p:nvSpPr>
          <p:cNvPr id="231" name="Rectangle 8"/>
          <p:cNvSpPr/>
          <p:nvPr/>
        </p:nvSpPr>
        <p:spPr>
          <a:xfrm>
            <a:off x="4621537" y="4904701"/>
            <a:ext cx="7259409" cy="1587541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2" name="TextBox 9"/>
          <p:cNvSpPr txBox="1"/>
          <p:nvPr/>
        </p:nvSpPr>
        <p:spPr>
          <a:xfrm>
            <a:off x="4752994" y="4843228"/>
            <a:ext cx="7456301" cy="1856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3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u="sng"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https://github.com/cli/cli/blob/trunk/docs/install_linux.md</a:t>
            </a:r>
            <a:endParaRPr sz="2500">
              <a:solidFill>
                <a:srgbClr val="FAF8F5"/>
              </a:solidFill>
            </a:endParaR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4 OF 6</a:t>
            </a:r>
          </a:p>
        </p:txBody>
      </p:sp>
      <p:sp>
        <p:nvSpPr>
          <p:cNvPr id="237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Push your code to GitHub</a:t>
            </a:r>
          </a:p>
        </p:txBody>
      </p:sp>
      <p:sp>
        <p:nvSpPr>
          <p:cNvPr id="238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40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Connect your local repo to GitHub, then push. Copy the URL from the repo page you just created.</a:t>
            </a:r>
          </a:p>
        </p:txBody>
      </p:sp>
      <p:sp>
        <p:nvSpPr>
          <p:cNvPr id="241" name="Rectangle 8"/>
          <p:cNvSpPr/>
          <p:nvPr/>
        </p:nvSpPr>
        <p:spPr>
          <a:xfrm>
            <a:off x="731520" y="1874517"/>
            <a:ext cx="8046719" cy="4480562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TextBox 9"/>
          <p:cNvSpPr txBox="1"/>
          <p:nvPr/>
        </p:nvSpPr>
        <p:spPr>
          <a:xfrm>
            <a:off x="1051559" y="2057400"/>
            <a:ext cx="7359559" cy="3228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Add GitHub as the remote named 'origin'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remote add origin https://github.com/YOU/my-site.git</a:t>
            </a:r>
          </a:p>
          <a:p>
            <a:pPr>
              <a:defRPr sz="1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Rename the default branch to 'main' (GitHub's default)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branch -M main</a:t>
            </a:r>
          </a:p>
          <a:p>
            <a:pPr>
              <a:defRPr sz="1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Push and set upstream tracking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 -u origin main</a:t>
            </a:r>
          </a:p>
          <a:p>
            <a:pPr>
              <a:defRPr sz="1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Future pushes are just: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</p:txBody>
      </p:sp>
      <p:sp>
        <p:nvSpPr>
          <p:cNvPr id="243" name="Rectangle 10"/>
          <p:cNvSpPr/>
          <p:nvPr/>
        </p:nvSpPr>
        <p:spPr>
          <a:xfrm>
            <a:off x="9052559" y="1874517"/>
            <a:ext cx="2514602" cy="201168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Rectangle 11"/>
          <p:cNvSpPr/>
          <p:nvPr/>
        </p:nvSpPr>
        <p:spPr>
          <a:xfrm>
            <a:off x="9052559" y="1874517"/>
            <a:ext cx="50802" cy="201168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TextBox 12"/>
          <p:cNvSpPr txBox="1"/>
          <p:nvPr/>
        </p:nvSpPr>
        <p:spPr>
          <a:xfrm>
            <a:off x="9281159" y="2103121"/>
            <a:ext cx="2057402" cy="492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Replace YOU with</a:t>
            </a:r>
          </a:p>
          <a:p>
            <a:pPr>
              <a:defRPr sz="14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your GitHub username</a:t>
            </a:r>
          </a:p>
        </p:txBody>
      </p:sp>
      <p:sp>
        <p:nvSpPr>
          <p:cNvPr id="246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4 OF 6</a:t>
            </a:r>
          </a:p>
        </p:txBody>
      </p:sp>
      <p:sp>
        <p:nvSpPr>
          <p:cNvPr id="251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Development cycle</a:t>
            </a:r>
          </a:p>
        </p:txBody>
      </p:sp>
      <p:sp>
        <p:nvSpPr>
          <p:cNvPr id="252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54" name="Rectangle 8"/>
          <p:cNvSpPr/>
          <p:nvPr/>
        </p:nvSpPr>
        <p:spPr>
          <a:xfrm>
            <a:off x="764887" y="1251649"/>
            <a:ext cx="10739200" cy="5124738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TextBox 9"/>
          <p:cNvSpPr txBox="1"/>
          <p:nvPr/>
        </p:nvSpPr>
        <p:spPr>
          <a:xfrm>
            <a:off x="1084927" y="1434531"/>
            <a:ext cx="10009447" cy="443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Make edits</a:t>
            </a: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View in the browser, if you don’t like, edit until you like:</a:t>
            </a: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See what files changed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status   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See what exactly changed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diff</a:t>
            </a: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If you like the result, add files to the change list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add &lt;files&gt; 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add —all</a:t>
            </a:r>
          </a:p>
          <a:p>
            <a:pPr>
              <a:defRPr sz="1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1">
              <a:solidFill>
                <a:srgbClr val="4EC9A0"/>
              </a:solidFill>
            </a:endParaR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If you like the result, add files to the change list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commit -m “Added a pretty icon to the home page”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Publish the changes to your site.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 -u origin main</a:t>
            </a:r>
          </a:p>
        </p:txBody>
      </p:sp>
      <p:sp>
        <p:nvSpPr>
          <p:cNvPr id="256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3 OF 6</a:t>
            </a:r>
          </a:p>
        </p:txBody>
      </p:sp>
      <p:sp>
        <p:nvSpPr>
          <p:cNvPr id="261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Syncing</a:t>
            </a:r>
          </a:p>
        </p:txBody>
      </p:sp>
      <p:sp>
        <p:nvSpPr>
          <p:cNvPr id="262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64" name="TextBox 14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265" name="Local repository on your machine in the .git directory of your project."/>
          <p:cNvSpPr/>
          <p:nvPr/>
        </p:nvSpPr>
        <p:spPr>
          <a:xfrm>
            <a:off x="887892" y="3124543"/>
            <a:ext cx="3267233" cy="212159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Local repository on your machine in the .git directory of your project.</a:t>
            </a:r>
          </a:p>
        </p:txBody>
      </p:sp>
      <p:sp>
        <p:nvSpPr>
          <p:cNvPr id="266" name="https://github.com repository"/>
          <p:cNvSpPr/>
          <p:nvPr/>
        </p:nvSpPr>
        <p:spPr>
          <a:xfrm>
            <a:off x="7799707" y="3124543"/>
            <a:ext cx="3267234" cy="212159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https://github.com repository</a:t>
            </a:r>
          </a:p>
        </p:txBody>
      </p:sp>
      <p:sp>
        <p:nvSpPr>
          <p:cNvPr id="267" name="git add…"/>
          <p:cNvSpPr txBox="1"/>
          <p:nvPr/>
        </p:nvSpPr>
        <p:spPr>
          <a:xfrm>
            <a:off x="916396" y="1571048"/>
            <a:ext cx="1145676" cy="65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git add</a:t>
            </a:r>
          </a:p>
          <a:p>
            <a:pPr/>
            <a:r>
              <a:t>git commit</a:t>
            </a:r>
          </a:p>
        </p:txBody>
      </p:sp>
      <p:sp>
        <p:nvSpPr>
          <p:cNvPr id="268" name="git push"/>
          <p:cNvSpPr txBox="1"/>
          <p:nvPr/>
        </p:nvSpPr>
        <p:spPr>
          <a:xfrm>
            <a:off x="5637251" y="3433182"/>
            <a:ext cx="904798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git push</a:t>
            </a:r>
          </a:p>
        </p:txBody>
      </p:sp>
      <p:sp>
        <p:nvSpPr>
          <p:cNvPr id="269" name="git pull"/>
          <p:cNvSpPr txBox="1"/>
          <p:nvPr/>
        </p:nvSpPr>
        <p:spPr>
          <a:xfrm>
            <a:off x="5707182" y="4494484"/>
            <a:ext cx="764936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git pull</a:t>
            </a:r>
          </a:p>
        </p:txBody>
      </p:sp>
      <p:cxnSp>
        <p:nvCxnSpPr>
          <p:cNvPr id="270" name="Connection Line"/>
          <p:cNvCxnSpPr>
            <a:stCxn id="265" idx="0"/>
            <a:endCxn id="266" idx="0"/>
          </p:cNvCxnSpPr>
          <p:nvPr/>
        </p:nvCxnSpPr>
        <p:spPr>
          <a:xfrm>
            <a:off x="2521508" y="4185340"/>
            <a:ext cx="6911817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cxnSp>
      <p:cxnSp>
        <p:nvCxnSpPr>
          <p:cNvPr id="271" name="Connection Line"/>
          <p:cNvCxnSpPr>
            <a:stCxn id="266" idx="0"/>
            <a:endCxn id="265" idx="0"/>
          </p:cNvCxnSpPr>
          <p:nvPr/>
        </p:nvCxnSpPr>
        <p:spPr>
          <a:xfrm flipH="1" flipV="1">
            <a:off x="2521508" y="4185340"/>
            <a:ext cx="6911817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cxnSp>
      <p:sp>
        <p:nvSpPr>
          <p:cNvPr id="273" name="Connection Line"/>
          <p:cNvSpPr/>
          <p:nvPr/>
        </p:nvSpPr>
        <p:spPr>
          <a:xfrm>
            <a:off x="1540202" y="2221286"/>
            <a:ext cx="139551" cy="8901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chemeClr val="accent1"/>
            </a:solidFill>
            <a:head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5 OF 6</a:t>
            </a:r>
          </a:p>
        </p:txBody>
      </p:sp>
      <p:sp>
        <p:nvSpPr>
          <p:cNvPr id="278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Enable GitHub Pages</a:t>
            </a:r>
          </a:p>
        </p:txBody>
      </p:sp>
      <p:sp>
        <p:nvSpPr>
          <p:cNvPr id="279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81" name="TextBox 7"/>
          <p:cNvSpPr txBox="1"/>
          <p:nvPr/>
        </p:nvSpPr>
        <p:spPr>
          <a:xfrm>
            <a:off x="777238" y="1261872"/>
            <a:ext cx="521208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Option A — GitHub website (UI)</a:t>
            </a:r>
          </a:p>
        </p:txBody>
      </p:sp>
      <p:sp>
        <p:nvSpPr>
          <p:cNvPr id="282" name="Oval 8"/>
          <p:cNvSpPr/>
          <p:nvPr/>
        </p:nvSpPr>
        <p:spPr>
          <a:xfrm>
            <a:off x="731519" y="1719071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TextBox 9"/>
          <p:cNvSpPr txBox="1"/>
          <p:nvPr/>
        </p:nvSpPr>
        <p:spPr>
          <a:xfrm>
            <a:off x="786383" y="174650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4" name="TextBox 10"/>
          <p:cNvSpPr txBox="1"/>
          <p:nvPr/>
        </p:nvSpPr>
        <p:spPr>
          <a:xfrm>
            <a:off x="1417319" y="1813356"/>
            <a:ext cx="4572002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Open your repo on github.com</a:t>
            </a:r>
          </a:p>
        </p:txBody>
      </p:sp>
      <p:sp>
        <p:nvSpPr>
          <p:cNvPr id="285" name="Oval 11"/>
          <p:cNvSpPr/>
          <p:nvPr/>
        </p:nvSpPr>
        <p:spPr>
          <a:xfrm>
            <a:off x="731519" y="2359150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TextBox 12"/>
          <p:cNvSpPr txBox="1"/>
          <p:nvPr/>
        </p:nvSpPr>
        <p:spPr>
          <a:xfrm>
            <a:off x="786383" y="2386583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7" name="TextBox 13"/>
          <p:cNvSpPr txBox="1"/>
          <p:nvPr/>
        </p:nvSpPr>
        <p:spPr>
          <a:xfrm>
            <a:off x="1417319" y="2453436"/>
            <a:ext cx="4572002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Click  Settings  (top tab row)</a:t>
            </a:r>
          </a:p>
        </p:txBody>
      </p:sp>
      <p:sp>
        <p:nvSpPr>
          <p:cNvPr id="288" name="Oval 14"/>
          <p:cNvSpPr/>
          <p:nvPr/>
        </p:nvSpPr>
        <p:spPr>
          <a:xfrm>
            <a:off x="731519" y="2999232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TextBox 15"/>
          <p:cNvSpPr txBox="1"/>
          <p:nvPr/>
        </p:nvSpPr>
        <p:spPr>
          <a:xfrm>
            <a:off x="786383" y="302666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0" name="TextBox 16"/>
          <p:cNvSpPr txBox="1"/>
          <p:nvPr/>
        </p:nvSpPr>
        <p:spPr>
          <a:xfrm>
            <a:off x="1417319" y="3093516"/>
            <a:ext cx="4572002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Scroll to  Pages  in the left sidebar</a:t>
            </a:r>
          </a:p>
        </p:txBody>
      </p:sp>
      <p:sp>
        <p:nvSpPr>
          <p:cNvPr id="291" name="Oval 17"/>
          <p:cNvSpPr/>
          <p:nvPr/>
        </p:nvSpPr>
        <p:spPr>
          <a:xfrm>
            <a:off x="731519" y="3639310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TextBox 18"/>
          <p:cNvSpPr txBox="1"/>
          <p:nvPr/>
        </p:nvSpPr>
        <p:spPr>
          <a:xfrm>
            <a:off x="786383" y="366674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3" name="TextBox 19"/>
          <p:cNvSpPr txBox="1"/>
          <p:nvPr/>
        </p:nvSpPr>
        <p:spPr>
          <a:xfrm>
            <a:off x="1417319" y="3733597"/>
            <a:ext cx="4572002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Under Source, select  "Deploy from a branch"</a:t>
            </a:r>
          </a:p>
        </p:txBody>
      </p:sp>
      <p:sp>
        <p:nvSpPr>
          <p:cNvPr id="294" name="Oval 20"/>
          <p:cNvSpPr/>
          <p:nvPr/>
        </p:nvSpPr>
        <p:spPr>
          <a:xfrm>
            <a:off x="731519" y="4279391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TextBox 21"/>
          <p:cNvSpPr txBox="1"/>
          <p:nvPr/>
        </p:nvSpPr>
        <p:spPr>
          <a:xfrm>
            <a:off x="786383" y="4306824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96" name="TextBox 22"/>
          <p:cNvSpPr txBox="1"/>
          <p:nvPr/>
        </p:nvSpPr>
        <p:spPr>
          <a:xfrm>
            <a:off x="1417319" y="4373677"/>
            <a:ext cx="4572002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Branch: main  /  Folder: / (root)</a:t>
            </a:r>
          </a:p>
        </p:txBody>
      </p:sp>
      <p:sp>
        <p:nvSpPr>
          <p:cNvPr id="297" name="Oval 23"/>
          <p:cNvSpPr/>
          <p:nvPr/>
        </p:nvSpPr>
        <p:spPr>
          <a:xfrm>
            <a:off x="731519" y="4919471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TextBox 24"/>
          <p:cNvSpPr txBox="1"/>
          <p:nvPr/>
        </p:nvSpPr>
        <p:spPr>
          <a:xfrm>
            <a:off x="786383" y="4946904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99" name="TextBox 25"/>
          <p:cNvSpPr txBox="1"/>
          <p:nvPr/>
        </p:nvSpPr>
        <p:spPr>
          <a:xfrm>
            <a:off x="1417319" y="5013757"/>
            <a:ext cx="4572002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Click  Save</a:t>
            </a:r>
          </a:p>
        </p:txBody>
      </p:sp>
      <p:sp>
        <p:nvSpPr>
          <p:cNvPr id="300" name="Rectangle 26"/>
          <p:cNvSpPr/>
          <p:nvPr/>
        </p:nvSpPr>
        <p:spPr>
          <a:xfrm>
            <a:off x="5802593" y="1194052"/>
            <a:ext cx="12702" cy="5303524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TextBox 27"/>
          <p:cNvSpPr txBox="1"/>
          <p:nvPr/>
        </p:nvSpPr>
        <p:spPr>
          <a:xfrm>
            <a:off x="6023564" y="1261872"/>
            <a:ext cx="521208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0F766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Option B — GitHub CLI</a:t>
            </a:r>
          </a:p>
        </p:txBody>
      </p:sp>
      <p:sp>
        <p:nvSpPr>
          <p:cNvPr id="302" name="Rectangle 28"/>
          <p:cNvSpPr/>
          <p:nvPr/>
        </p:nvSpPr>
        <p:spPr>
          <a:xfrm>
            <a:off x="6013036" y="1783078"/>
            <a:ext cx="5828446" cy="457200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TextBox 29"/>
          <p:cNvSpPr txBox="1"/>
          <p:nvPr/>
        </p:nvSpPr>
        <p:spPr>
          <a:xfrm>
            <a:off x="6159579" y="1965960"/>
            <a:ext cx="5535360" cy="301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1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Enable Pages via the gh CLI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api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-X POST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/repos/YOU/my-site/pages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-f source[branch]=main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-f source[path]=/</a:t>
            </a:r>
          </a:p>
          <a:p>
            <a:pPr>
              <a:defRPr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1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Check deployment status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api /repos/YOU/my-site/pages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--jq '.html_url'</a:t>
            </a:r>
          </a:p>
        </p:txBody>
      </p:sp>
      <p:sp>
        <p:nvSpPr>
          <p:cNvPr id="304" name="TextBox 30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D111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Rectangle 2"/>
          <p:cNvSpPr/>
          <p:nvPr/>
        </p:nvSpPr>
        <p:spPr>
          <a:xfrm>
            <a:off x="-2" y="6781800"/>
            <a:ext cx="12188956" cy="762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TextBox 3"/>
          <p:cNvSpPr txBox="1"/>
          <p:nvPr/>
        </p:nvSpPr>
        <p:spPr>
          <a:xfrm>
            <a:off x="822960" y="1645921"/>
            <a:ext cx="53949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6 OF 6</a:t>
            </a:r>
          </a:p>
        </p:txBody>
      </p:sp>
      <p:sp>
        <p:nvSpPr>
          <p:cNvPr id="309" name="TextBox 4"/>
          <p:cNvSpPr txBox="1"/>
          <p:nvPr/>
        </p:nvSpPr>
        <p:spPr>
          <a:xfrm>
            <a:off x="822960" y="2011679"/>
            <a:ext cx="9966961" cy="109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6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Your site is live.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🎉</a:t>
            </a:r>
          </a:p>
        </p:txBody>
      </p:sp>
      <p:sp>
        <p:nvSpPr>
          <p:cNvPr id="310" name="TextBox 5"/>
          <p:cNvSpPr txBox="1"/>
          <p:nvPr/>
        </p:nvSpPr>
        <p:spPr>
          <a:xfrm>
            <a:off x="822960" y="3520441"/>
            <a:ext cx="3566162" cy="364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Visit it at:</a:t>
            </a:r>
          </a:p>
        </p:txBody>
      </p:sp>
      <p:sp>
        <p:nvSpPr>
          <p:cNvPr id="311" name="TextBox 6"/>
          <p:cNvSpPr txBox="1"/>
          <p:nvPr/>
        </p:nvSpPr>
        <p:spPr>
          <a:xfrm>
            <a:off x="822960" y="3977638"/>
            <a:ext cx="9052561" cy="43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4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https://YOUR-USERNAME.github.io/my-site</a:t>
            </a:r>
          </a:p>
        </p:txBody>
      </p:sp>
      <p:sp>
        <p:nvSpPr>
          <p:cNvPr id="312" name="TextBox 7"/>
          <p:cNvSpPr txBox="1"/>
          <p:nvPr/>
        </p:nvSpPr>
        <p:spPr>
          <a:xfrm>
            <a:off x="633029" y="4800600"/>
            <a:ext cx="9052561" cy="113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It takes ~60 seconds for the first deployment to go live</a:t>
            </a:r>
          </a:p>
          <a:p>
            <a:pPr>
              <a:spcBef>
                <a:spcPts val="800"/>
              </a:spcBef>
              <a:defRPr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Check the  </a:t>
            </a:r>
            <a:r>
              <a:rPr b="1"/>
              <a:t>Actions</a:t>
            </a:r>
            <a:r>
              <a:t>  tab in your repo to watch the deploy progress</a:t>
            </a:r>
          </a:p>
          <a:p>
            <a:pPr>
              <a:spcBef>
                <a:spcPts val="800"/>
              </a:spcBef>
              <a:defRPr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Every git push to main will auto-redeploy</a:t>
            </a:r>
          </a:p>
        </p:txBody>
      </p:sp>
      <p:sp>
        <p:nvSpPr>
          <p:cNvPr id="313" name="TextBox 8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314" name="Rectangle 2"/>
          <p:cNvSpPr/>
          <p:nvPr/>
        </p:nvSpPr>
        <p:spPr>
          <a:xfrm>
            <a:off x="-4828" y="-9025"/>
            <a:ext cx="12188956" cy="7620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TROUBLESHOOTING</a:t>
            </a:r>
          </a:p>
        </p:txBody>
      </p:sp>
      <p:sp>
        <p:nvSpPr>
          <p:cNvPr id="319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Common gotchas</a:t>
            </a:r>
          </a:p>
        </p:txBody>
      </p:sp>
      <p:sp>
        <p:nvSpPr>
          <p:cNvPr id="320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22" name="Rectangle 7"/>
          <p:cNvSpPr/>
          <p:nvPr/>
        </p:nvSpPr>
        <p:spPr>
          <a:xfrm>
            <a:off x="731519" y="1309793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TextBox 8"/>
          <p:cNvSpPr txBox="1"/>
          <p:nvPr/>
        </p:nvSpPr>
        <p:spPr>
          <a:xfrm>
            <a:off x="1005838" y="1280161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File named wrong</a:t>
            </a:r>
          </a:p>
        </p:txBody>
      </p:sp>
      <p:sp>
        <p:nvSpPr>
          <p:cNvPr id="324" name="TextBox 9"/>
          <p:cNvSpPr txBox="1"/>
          <p:nvPr/>
        </p:nvSpPr>
        <p:spPr>
          <a:xfrm>
            <a:off x="4195093" y="1305096"/>
            <a:ext cx="6858002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Must be exactly  index.html  — not  Index.html,  home.html,  or  index.htm</a:t>
            </a:r>
          </a:p>
        </p:txBody>
      </p:sp>
      <p:sp>
        <p:nvSpPr>
          <p:cNvPr id="325" name="Rectangle 10"/>
          <p:cNvSpPr/>
          <p:nvPr/>
        </p:nvSpPr>
        <p:spPr>
          <a:xfrm>
            <a:off x="731518" y="1737360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Rectangle 11"/>
          <p:cNvSpPr/>
          <p:nvPr/>
        </p:nvSpPr>
        <p:spPr>
          <a:xfrm>
            <a:off x="731519" y="2089530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TextBox 12"/>
          <p:cNvSpPr txBox="1"/>
          <p:nvPr/>
        </p:nvSpPr>
        <p:spPr>
          <a:xfrm>
            <a:off x="1005838" y="2084833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Repo is private</a:t>
            </a:r>
          </a:p>
        </p:txBody>
      </p:sp>
      <p:sp>
        <p:nvSpPr>
          <p:cNvPr id="328" name="TextBox 13"/>
          <p:cNvSpPr txBox="1"/>
          <p:nvPr/>
        </p:nvSpPr>
        <p:spPr>
          <a:xfrm>
            <a:off x="4195093" y="2109767"/>
            <a:ext cx="6858002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GitHub Pages on private repos requires GitHub Pro, Team, or Enterprise</a:t>
            </a:r>
          </a:p>
        </p:txBody>
      </p:sp>
      <p:sp>
        <p:nvSpPr>
          <p:cNvPr id="329" name="Rectangle 14"/>
          <p:cNvSpPr/>
          <p:nvPr/>
        </p:nvSpPr>
        <p:spPr>
          <a:xfrm>
            <a:off x="731518" y="2542032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Rectangle 15"/>
          <p:cNvSpPr/>
          <p:nvPr/>
        </p:nvSpPr>
        <p:spPr>
          <a:xfrm>
            <a:off x="731519" y="2919137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TextBox 16"/>
          <p:cNvSpPr txBox="1"/>
          <p:nvPr/>
        </p:nvSpPr>
        <p:spPr>
          <a:xfrm>
            <a:off x="1005838" y="2889505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Site not updated yet</a:t>
            </a:r>
          </a:p>
        </p:txBody>
      </p:sp>
      <p:sp>
        <p:nvSpPr>
          <p:cNvPr id="332" name="TextBox 17"/>
          <p:cNvSpPr txBox="1"/>
          <p:nvPr/>
        </p:nvSpPr>
        <p:spPr>
          <a:xfrm>
            <a:off x="4195093" y="2914439"/>
            <a:ext cx="6858002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First deploy takes ~60 s. After that, changes propagate in 1–2 minutes</a:t>
            </a:r>
          </a:p>
        </p:txBody>
      </p:sp>
      <p:sp>
        <p:nvSpPr>
          <p:cNvPr id="333" name="Rectangle 18"/>
          <p:cNvSpPr/>
          <p:nvPr/>
        </p:nvSpPr>
        <p:spPr>
          <a:xfrm>
            <a:off x="731518" y="3346703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Rectangle 19"/>
          <p:cNvSpPr/>
          <p:nvPr/>
        </p:nvSpPr>
        <p:spPr>
          <a:xfrm>
            <a:off x="731519" y="3723809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TextBox 20"/>
          <p:cNvSpPr txBox="1"/>
          <p:nvPr/>
        </p:nvSpPr>
        <p:spPr>
          <a:xfrm>
            <a:off x="1005838" y="3694177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404 on all pages</a:t>
            </a:r>
          </a:p>
        </p:txBody>
      </p:sp>
      <p:sp>
        <p:nvSpPr>
          <p:cNvPr id="336" name="TextBox 21"/>
          <p:cNvSpPr txBox="1"/>
          <p:nvPr/>
        </p:nvSpPr>
        <p:spPr>
          <a:xfrm>
            <a:off x="4155525" y="3709899"/>
            <a:ext cx="8034929" cy="320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Pages is enabled but pointing at the wrong branch or folder — re-check Settings → Pages</a:t>
            </a:r>
          </a:p>
        </p:txBody>
      </p:sp>
      <p:sp>
        <p:nvSpPr>
          <p:cNvPr id="337" name="Rectangle 22"/>
          <p:cNvSpPr/>
          <p:nvPr/>
        </p:nvSpPr>
        <p:spPr>
          <a:xfrm>
            <a:off x="731518" y="4151376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Rectangle 23"/>
          <p:cNvSpPr/>
          <p:nvPr/>
        </p:nvSpPr>
        <p:spPr>
          <a:xfrm>
            <a:off x="731519" y="4528482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TextBox 24"/>
          <p:cNvSpPr txBox="1"/>
          <p:nvPr/>
        </p:nvSpPr>
        <p:spPr>
          <a:xfrm>
            <a:off x="1005838" y="4498848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Authentication error on push</a:t>
            </a:r>
          </a:p>
        </p:txBody>
      </p:sp>
      <p:sp>
        <p:nvSpPr>
          <p:cNvPr id="340" name="TextBox 25"/>
          <p:cNvSpPr txBox="1"/>
          <p:nvPr/>
        </p:nvSpPr>
        <p:spPr>
          <a:xfrm>
            <a:off x="4185489" y="4523784"/>
            <a:ext cx="7522527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Run  gh auth login  or create a Personal Access Token at github.com/settings/tokens</a:t>
            </a:r>
          </a:p>
        </p:txBody>
      </p:sp>
      <p:sp>
        <p:nvSpPr>
          <p:cNvPr id="341" name="Rectangle 26"/>
          <p:cNvSpPr/>
          <p:nvPr/>
        </p:nvSpPr>
        <p:spPr>
          <a:xfrm>
            <a:off x="731518" y="4956047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TextBox 27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Box 3"/>
          <p:cNvSpPr txBox="1"/>
          <p:nvPr/>
        </p:nvSpPr>
        <p:spPr>
          <a:xfrm>
            <a:off x="822960" y="2011679"/>
            <a:ext cx="3566162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2</a:t>
            </a:r>
          </a:p>
        </p:txBody>
      </p:sp>
      <p:sp>
        <p:nvSpPr>
          <p:cNvPr id="345" name="TextBox 4"/>
          <p:cNvSpPr txBox="1"/>
          <p:nvPr/>
        </p:nvSpPr>
        <p:spPr>
          <a:xfrm>
            <a:off x="822960" y="2880361"/>
            <a:ext cx="9966961" cy="159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5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Automate It with</a:t>
            </a:r>
          </a:p>
          <a:p>
            <a:pPr>
              <a:defRPr sz="5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a Claude Code Skill</a:t>
            </a:r>
          </a:p>
        </p:txBody>
      </p:sp>
      <p:sp>
        <p:nvSpPr>
          <p:cNvPr id="346" name="TextBox 5"/>
          <p:cNvSpPr txBox="1"/>
          <p:nvPr/>
        </p:nvSpPr>
        <p:spPr>
          <a:xfrm>
            <a:off x="822960" y="4572000"/>
            <a:ext cx="8138160" cy="426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4EC9A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command. All six steps. Done.</a:t>
            </a:r>
          </a:p>
        </p:txBody>
      </p:sp>
      <p:sp>
        <p:nvSpPr>
          <p:cNvPr id="347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348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353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is a Claude Code skill?</a:t>
            </a:r>
          </a:p>
        </p:txBody>
      </p:sp>
      <p:sp>
        <p:nvSpPr>
          <p:cNvPr id="354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56" name="TextBox 7"/>
          <p:cNvSpPr txBox="1"/>
          <p:nvPr/>
        </p:nvSpPr>
        <p:spPr>
          <a:xfrm>
            <a:off x="766116" y="1298447"/>
            <a:ext cx="6766561" cy="3475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 custom  /slash-command  you define for Claude Code</a:t>
            </a:r>
          </a:p>
          <a:p>
            <a:pPr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Stored as a Markdown file in either:</a:t>
            </a:r>
          </a:p>
          <a:p>
            <a:pPr lvl="1" indent="457200"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~/.claude/commands/  (user-wide) or </a:t>
            </a:r>
          </a:p>
          <a:p>
            <a:pPr lvl="1" indent="457200"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.claude/commands/  (per-project)</a:t>
            </a:r>
          </a:p>
          <a:p>
            <a:pPr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When invoked, Claude reads the file and follows the instructions — it can run shell commands, edit files, call APIs</a:t>
            </a:r>
          </a:p>
          <a:p>
            <a:pPr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Accepts optional  $ARGUMENTS  so you can parameterize the command</a:t>
            </a:r>
          </a:p>
          <a:p>
            <a:pPr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No plugin system, no build step — just a .md file</a:t>
            </a:r>
          </a:p>
        </p:txBody>
      </p:sp>
      <p:sp>
        <p:nvSpPr>
          <p:cNvPr id="357" name="Rectangle 8"/>
          <p:cNvSpPr/>
          <p:nvPr/>
        </p:nvSpPr>
        <p:spPr>
          <a:xfrm>
            <a:off x="8138159" y="1261872"/>
            <a:ext cx="3429002" cy="3200401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Rectangle 9"/>
          <p:cNvSpPr/>
          <p:nvPr/>
        </p:nvSpPr>
        <p:spPr>
          <a:xfrm>
            <a:off x="7747748" y="1261872"/>
            <a:ext cx="3819412" cy="3200401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TextBox 10"/>
          <p:cNvSpPr txBox="1"/>
          <p:nvPr/>
        </p:nvSpPr>
        <p:spPr>
          <a:xfrm>
            <a:off x="7890603" y="1406331"/>
            <a:ext cx="3533697" cy="117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~/.claude/</a:t>
            </a:r>
          </a:p>
          <a:p>
            <a:pPr>
              <a:defRPr sz="15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└── commands/</a:t>
            </a:r>
          </a:p>
          <a:p>
            <a:pPr>
              <a:defRPr sz="1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├── deploy-github-pages.md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├── create-pr.md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└── run-tests.md</a:t>
            </a:r>
          </a:p>
        </p:txBody>
      </p:sp>
      <p:sp>
        <p:nvSpPr>
          <p:cNvPr id="360" name="TextBox 11"/>
          <p:cNvSpPr txBox="1"/>
          <p:nvPr/>
        </p:nvSpPr>
        <p:spPr>
          <a:xfrm>
            <a:off x="786128" y="5030347"/>
            <a:ext cx="9966964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Invoke it in Claude Code:</a:t>
            </a:r>
          </a:p>
        </p:txBody>
      </p:sp>
      <p:sp>
        <p:nvSpPr>
          <p:cNvPr id="361" name="Rectangle 12"/>
          <p:cNvSpPr/>
          <p:nvPr/>
        </p:nvSpPr>
        <p:spPr>
          <a:xfrm>
            <a:off x="740409" y="5441827"/>
            <a:ext cx="10698482" cy="685802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TextBox 13"/>
          <p:cNvSpPr txBox="1"/>
          <p:nvPr/>
        </p:nvSpPr>
        <p:spPr>
          <a:xfrm>
            <a:off x="965112" y="5631058"/>
            <a:ext cx="1933237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claude$ </a:t>
            </a:r>
            <a:r>
              <a:rPr b="1">
                <a:solidFill>
                  <a:srgbClr val="4EC9A0"/>
                </a:solidFill>
              </a:rPr>
              <a:t>/myskill</a:t>
            </a:r>
          </a:p>
        </p:txBody>
      </p:sp>
      <p:sp>
        <p:nvSpPr>
          <p:cNvPr id="363" name="TextBox 14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SKILL</a:t>
            </a:r>
          </a:p>
        </p:txBody>
      </p:sp>
      <p:sp>
        <p:nvSpPr>
          <p:cNvPr id="368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deploy-github-pages.md — the skill file</a:t>
            </a:r>
          </a:p>
        </p:txBody>
      </p:sp>
      <p:sp>
        <p:nvSpPr>
          <p:cNvPr id="369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71" name="TextBox 9"/>
          <p:cNvSpPr txBox="1"/>
          <p:nvPr/>
        </p:nvSpPr>
        <p:spPr>
          <a:xfrm>
            <a:off x="753277" y="1209614"/>
            <a:ext cx="8937157" cy="5120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---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description: Deploy the current project to GitHub Pages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---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Deploy this project to GitHub Pages.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Repo name (optional): $ARGUMENTS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1. Verify git is installed. If not, tell the user and stop.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2. Verify gh is installed and authenticated (gh auth status).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If not authenticated, run gh auth login and wait.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3. If no .git folder exists: git init, git add ., git commit.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4. If no remote 'origin': gh repo create $ARGUMENTS --public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--source=. --remote=origin --push, then skip step 5.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5. Otherwise: git push -u origin main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6. Enable Pages: gh api -X POST /repos/{owner}/{repo}/pages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-f source[branch]=main -f source[path]=/ (ignore 409).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7. Poll gh api /repos/{owner}/{repo}/pages --jq .html_url</a:t>
            </a:r>
          </a:p>
          <a:p>
            <a:pPr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until it returns a URL. Print: 'Live at &lt;url&gt;'</a:t>
            </a:r>
          </a:p>
        </p:txBody>
      </p:sp>
      <p:sp>
        <p:nvSpPr>
          <p:cNvPr id="372" name="TextBox 10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377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Install /deploy-github-pages skill for all sites</a:t>
            </a:r>
          </a:p>
        </p:txBody>
      </p:sp>
      <p:sp>
        <p:nvSpPr>
          <p:cNvPr id="378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9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80" name="Rectangle 8"/>
          <p:cNvSpPr/>
          <p:nvPr/>
        </p:nvSpPr>
        <p:spPr>
          <a:xfrm>
            <a:off x="725091" y="1277957"/>
            <a:ext cx="10729118" cy="5097636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1" name="TextBox 14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382" name="Text"/>
          <p:cNvSpPr txBox="1"/>
          <p:nvPr/>
        </p:nvSpPr>
        <p:spPr>
          <a:xfrm>
            <a:off x="5954956" y="3372918"/>
            <a:ext cx="523388" cy="3708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/>
          <a:p>
            <a:pPr/>
          </a:p>
        </p:txBody>
      </p:sp>
      <p:sp>
        <p:nvSpPr>
          <p:cNvPr id="383" name="mkdir -p ~/.claude/commands…"/>
          <p:cNvSpPr txBox="1"/>
          <p:nvPr/>
        </p:nvSpPr>
        <p:spPr>
          <a:xfrm>
            <a:off x="892413" y="1970136"/>
            <a:ext cx="10193813" cy="2707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rgbClr val="4EC9A0"/>
                </a:solidFill>
              </a:rPr>
              <a:t>mkdir -p ~/.claude/commands</a:t>
            </a:r>
            <a:endParaRPr b="1">
              <a:solidFill>
                <a:srgbClr val="4EC9A0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1">
              <a:solidFill>
                <a:srgbClr val="4EC9A0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rgbClr val="4EC9A0"/>
                </a:solidFill>
              </a:rPr>
              <a:t>curl </a:t>
            </a:r>
            <a:r>
              <a:rPr b="1">
                <a:solidFill>
                  <a:srgbClr val="4EC9A0"/>
                </a:solidFill>
              </a:rPr>
              <a:t>https://raw.githubusercontent.com/louisroehrs/github-pages-training/refs/heads/main/deploy-github-pages.md</a:t>
            </a:r>
            <a:r>
              <a:rPr b="1">
                <a:solidFill>
                  <a:srgbClr val="4EC9A0"/>
                </a:solidFill>
              </a:rPr>
              <a:t> -O</a:t>
            </a:r>
            <a:endParaRPr b="1">
              <a:solidFill>
                <a:srgbClr val="4EC9A0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1">
              <a:solidFill>
                <a:srgbClr val="4EC9A0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1">
                <a:solidFill>
                  <a:srgbClr val="4EC9A0"/>
                </a:solidFill>
              </a:rPr>
              <a:t>cp deploy-github-pages.md ~/.claude/commands/</a:t>
            </a:r>
            <a:endParaRPr b="1">
              <a:solidFill>
                <a:srgbClr val="4EC9A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6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7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USAGE</a:t>
            </a:r>
          </a:p>
        </p:txBody>
      </p:sp>
      <p:sp>
        <p:nvSpPr>
          <p:cNvPr id="388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How to use the skill</a:t>
            </a:r>
          </a:p>
        </p:txBody>
      </p:sp>
      <p:sp>
        <p:nvSpPr>
          <p:cNvPr id="389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0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91" name="TextBox 11"/>
          <p:cNvSpPr txBox="1"/>
          <p:nvPr/>
        </p:nvSpPr>
        <p:spPr>
          <a:xfrm>
            <a:off x="731519" y="1217382"/>
            <a:ext cx="521208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0F766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Run it from any project</a:t>
            </a:r>
          </a:p>
        </p:txBody>
      </p:sp>
      <p:sp>
        <p:nvSpPr>
          <p:cNvPr id="392" name="TextBox 12"/>
          <p:cNvSpPr txBox="1"/>
          <p:nvPr/>
        </p:nvSpPr>
        <p:spPr>
          <a:xfrm>
            <a:off x="731937" y="1844630"/>
            <a:ext cx="5029202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 Claude Code, just type:</a:t>
            </a:r>
          </a:p>
        </p:txBody>
      </p:sp>
      <p:sp>
        <p:nvSpPr>
          <p:cNvPr id="393" name="Rectangle 13"/>
          <p:cNvSpPr/>
          <p:nvPr/>
        </p:nvSpPr>
        <p:spPr>
          <a:xfrm>
            <a:off x="741964" y="2176272"/>
            <a:ext cx="11099518" cy="86675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4" name="TextBox 14"/>
          <p:cNvSpPr txBox="1"/>
          <p:nvPr/>
        </p:nvSpPr>
        <p:spPr>
          <a:xfrm>
            <a:off x="995133" y="2348029"/>
            <a:ext cx="4219609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Specify the repo name:</a:t>
            </a:r>
          </a:p>
          <a:p>
            <a:pPr>
              <a:defRPr b="1" sz="1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/deploy-github-pages my-landing-page</a:t>
            </a:r>
          </a:p>
        </p:txBody>
      </p:sp>
      <p:sp>
        <p:nvSpPr>
          <p:cNvPr id="395" name="Rectangle 16"/>
          <p:cNvSpPr/>
          <p:nvPr/>
        </p:nvSpPr>
        <p:spPr>
          <a:xfrm>
            <a:off x="726694" y="4846320"/>
            <a:ext cx="10725912" cy="1485151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6" name="Rectangle 17"/>
          <p:cNvSpPr/>
          <p:nvPr/>
        </p:nvSpPr>
        <p:spPr>
          <a:xfrm>
            <a:off x="731519" y="4846320"/>
            <a:ext cx="54828" cy="148515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7" name="TextBox 19"/>
          <p:cNvSpPr txBox="1"/>
          <p:nvPr/>
        </p:nvSpPr>
        <p:spPr>
          <a:xfrm>
            <a:off x="1005839" y="5839485"/>
            <a:ext cx="99669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skill handles every edge case: no git repo, no remote, Pages already enabled — all gracefully.</a:t>
            </a:r>
          </a:p>
        </p:txBody>
      </p:sp>
      <p:sp>
        <p:nvSpPr>
          <p:cNvPr id="398" name="TextBox 20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399" name="TextBox 15"/>
          <p:cNvSpPr txBox="1"/>
          <p:nvPr/>
        </p:nvSpPr>
        <p:spPr>
          <a:xfrm>
            <a:off x="973117" y="5042158"/>
            <a:ext cx="11013888" cy="542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Claude will check prerequisites, create the repo,</a:t>
            </a:r>
          </a:p>
          <a:p>
            <a:pPr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push your code, enable Pages, and return your live URL — all without leaving your editor/claude code.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UNDER THE HOOD</a:t>
            </a:r>
          </a:p>
        </p:txBody>
      </p:sp>
      <p:sp>
        <p:nvSpPr>
          <p:cNvPr id="40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the skill does — step by step</a:t>
            </a:r>
          </a:p>
        </p:txBody>
      </p:sp>
      <p:sp>
        <p:nvSpPr>
          <p:cNvPr id="40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407" name="Oval 7"/>
          <p:cNvSpPr/>
          <p:nvPr/>
        </p:nvSpPr>
        <p:spPr>
          <a:xfrm>
            <a:off x="731519" y="1289302"/>
            <a:ext cx="502923" cy="502924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8" name="TextBox 8"/>
          <p:cNvSpPr txBox="1"/>
          <p:nvPr/>
        </p:nvSpPr>
        <p:spPr>
          <a:xfrm>
            <a:off x="786383" y="1361694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09" name="TextBox 9"/>
          <p:cNvSpPr txBox="1"/>
          <p:nvPr/>
        </p:nvSpPr>
        <p:spPr>
          <a:xfrm>
            <a:off x="1435608" y="1377341"/>
            <a:ext cx="3108962" cy="326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prerequisites</a:t>
            </a:r>
          </a:p>
        </p:txBody>
      </p:sp>
      <p:sp>
        <p:nvSpPr>
          <p:cNvPr id="410" name="TextBox 10"/>
          <p:cNvSpPr txBox="1"/>
          <p:nvPr/>
        </p:nvSpPr>
        <p:spPr>
          <a:xfrm>
            <a:off x="4709159" y="1389761"/>
            <a:ext cx="67665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Verifies git and gh are installed and gh is authenticated</a:t>
            </a:r>
          </a:p>
        </p:txBody>
      </p:sp>
      <p:sp>
        <p:nvSpPr>
          <p:cNvPr id="411" name="Rectangle 11"/>
          <p:cNvSpPr/>
          <p:nvPr/>
        </p:nvSpPr>
        <p:spPr>
          <a:xfrm>
            <a:off x="726694" y="1910252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Oval 12"/>
          <p:cNvSpPr/>
          <p:nvPr/>
        </p:nvSpPr>
        <p:spPr>
          <a:xfrm>
            <a:off x="731519" y="2057399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3" name="TextBox 13"/>
          <p:cNvSpPr txBox="1"/>
          <p:nvPr/>
        </p:nvSpPr>
        <p:spPr>
          <a:xfrm>
            <a:off x="786383" y="2129790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4" name="TextBox 14"/>
          <p:cNvSpPr txBox="1"/>
          <p:nvPr/>
        </p:nvSpPr>
        <p:spPr>
          <a:xfrm>
            <a:off x="1435608" y="2145438"/>
            <a:ext cx="3108962" cy="32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 init if needed</a:t>
            </a:r>
          </a:p>
        </p:txBody>
      </p:sp>
      <p:sp>
        <p:nvSpPr>
          <p:cNvPr id="415" name="TextBox 15"/>
          <p:cNvSpPr txBox="1"/>
          <p:nvPr/>
        </p:nvSpPr>
        <p:spPr>
          <a:xfrm>
            <a:off x="4709159" y="2157857"/>
            <a:ext cx="67665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Runs git init, git add ., git commit if no repo exists yet</a:t>
            </a:r>
          </a:p>
        </p:txBody>
      </p:sp>
      <p:sp>
        <p:nvSpPr>
          <p:cNvPr id="416" name="Rectangle 16"/>
          <p:cNvSpPr/>
          <p:nvPr/>
        </p:nvSpPr>
        <p:spPr>
          <a:xfrm>
            <a:off x="726694" y="2678347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7" name="Oval 17"/>
          <p:cNvSpPr/>
          <p:nvPr/>
        </p:nvSpPr>
        <p:spPr>
          <a:xfrm>
            <a:off x="731519" y="2825495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TextBox 18"/>
          <p:cNvSpPr txBox="1"/>
          <p:nvPr/>
        </p:nvSpPr>
        <p:spPr>
          <a:xfrm>
            <a:off x="786383" y="285978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9" name="TextBox 19"/>
          <p:cNvSpPr txBox="1"/>
          <p:nvPr/>
        </p:nvSpPr>
        <p:spPr>
          <a:xfrm>
            <a:off x="1435608" y="2913533"/>
            <a:ext cx="3108962" cy="326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Create GitHub repo</a:t>
            </a:r>
          </a:p>
        </p:txBody>
      </p:sp>
      <p:sp>
        <p:nvSpPr>
          <p:cNvPr id="420" name="TextBox 20"/>
          <p:cNvSpPr txBox="1"/>
          <p:nvPr/>
        </p:nvSpPr>
        <p:spPr>
          <a:xfrm>
            <a:off x="4709159" y="2887852"/>
            <a:ext cx="6766561" cy="302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gh repo create  — public, no README, sets origin remote</a:t>
            </a:r>
          </a:p>
        </p:txBody>
      </p:sp>
      <p:sp>
        <p:nvSpPr>
          <p:cNvPr id="421" name="Rectangle 21"/>
          <p:cNvSpPr/>
          <p:nvPr/>
        </p:nvSpPr>
        <p:spPr>
          <a:xfrm>
            <a:off x="726694" y="3422648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22"/>
          <p:cNvSpPr/>
          <p:nvPr/>
        </p:nvSpPr>
        <p:spPr>
          <a:xfrm>
            <a:off x="731519" y="3593591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TextBox 23"/>
          <p:cNvSpPr txBox="1"/>
          <p:nvPr/>
        </p:nvSpPr>
        <p:spPr>
          <a:xfrm>
            <a:off x="786383" y="3627883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24" name="TextBox 24"/>
          <p:cNvSpPr txBox="1"/>
          <p:nvPr/>
        </p:nvSpPr>
        <p:spPr>
          <a:xfrm>
            <a:off x="1435608" y="3681629"/>
            <a:ext cx="3108962" cy="32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Push code</a:t>
            </a:r>
          </a:p>
        </p:txBody>
      </p:sp>
      <p:sp>
        <p:nvSpPr>
          <p:cNvPr id="425" name="TextBox 25"/>
          <p:cNvSpPr txBox="1"/>
          <p:nvPr/>
        </p:nvSpPr>
        <p:spPr>
          <a:xfrm>
            <a:off x="4709159" y="3655950"/>
            <a:ext cx="67665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 push -u origin main</a:t>
            </a:r>
          </a:p>
        </p:txBody>
      </p:sp>
      <p:sp>
        <p:nvSpPr>
          <p:cNvPr id="426" name="Rectangle 26"/>
          <p:cNvSpPr/>
          <p:nvPr/>
        </p:nvSpPr>
        <p:spPr>
          <a:xfrm>
            <a:off x="726694" y="4204934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7"/>
          <p:cNvSpPr/>
          <p:nvPr/>
        </p:nvSpPr>
        <p:spPr>
          <a:xfrm>
            <a:off x="731519" y="4361688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TextBox 28"/>
          <p:cNvSpPr txBox="1"/>
          <p:nvPr/>
        </p:nvSpPr>
        <p:spPr>
          <a:xfrm>
            <a:off x="786383" y="4408679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29" name="TextBox 29"/>
          <p:cNvSpPr txBox="1"/>
          <p:nvPr/>
        </p:nvSpPr>
        <p:spPr>
          <a:xfrm>
            <a:off x="1435608" y="4449726"/>
            <a:ext cx="3108962" cy="32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Enable Pages</a:t>
            </a:r>
          </a:p>
        </p:txBody>
      </p:sp>
      <p:sp>
        <p:nvSpPr>
          <p:cNvPr id="430" name="TextBox 30"/>
          <p:cNvSpPr txBox="1"/>
          <p:nvPr/>
        </p:nvSpPr>
        <p:spPr>
          <a:xfrm>
            <a:off x="4709159" y="4436746"/>
            <a:ext cx="67665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GitHub API call via gh api to activate Pages on main /</a:t>
            </a:r>
          </a:p>
        </p:txBody>
      </p:sp>
      <p:sp>
        <p:nvSpPr>
          <p:cNvPr id="431" name="Rectangle 31"/>
          <p:cNvSpPr/>
          <p:nvPr/>
        </p:nvSpPr>
        <p:spPr>
          <a:xfrm>
            <a:off x="726694" y="5011451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32"/>
          <p:cNvSpPr/>
          <p:nvPr/>
        </p:nvSpPr>
        <p:spPr>
          <a:xfrm>
            <a:off x="731519" y="5129784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TextBox 33"/>
          <p:cNvSpPr txBox="1"/>
          <p:nvPr/>
        </p:nvSpPr>
        <p:spPr>
          <a:xfrm>
            <a:off x="786383" y="520217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34" name="TextBox 34"/>
          <p:cNvSpPr txBox="1"/>
          <p:nvPr/>
        </p:nvSpPr>
        <p:spPr>
          <a:xfrm>
            <a:off x="1435608" y="5217822"/>
            <a:ext cx="3108962" cy="32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Return live URL</a:t>
            </a:r>
          </a:p>
        </p:txBody>
      </p:sp>
      <p:sp>
        <p:nvSpPr>
          <p:cNvPr id="435" name="TextBox 35"/>
          <p:cNvSpPr txBox="1"/>
          <p:nvPr/>
        </p:nvSpPr>
        <p:spPr>
          <a:xfrm>
            <a:off x="4709159" y="5230241"/>
            <a:ext cx="6766561" cy="302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Polls until the site is live, then prints the URL</a:t>
            </a:r>
          </a:p>
        </p:txBody>
      </p:sp>
      <p:sp>
        <p:nvSpPr>
          <p:cNvPr id="436" name="TextBox 3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Box 3"/>
          <p:cNvSpPr txBox="1"/>
          <p:nvPr/>
        </p:nvSpPr>
        <p:spPr>
          <a:xfrm>
            <a:off x="822960" y="1874518"/>
            <a:ext cx="5394962" cy="72643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439" name="TextBox 4"/>
          <p:cNvSpPr txBox="1"/>
          <p:nvPr/>
        </p:nvSpPr>
        <p:spPr>
          <a:xfrm>
            <a:off x="822960" y="2560321"/>
            <a:ext cx="9052561" cy="12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You're live.</a:t>
            </a:r>
          </a:p>
        </p:txBody>
      </p:sp>
      <p:sp>
        <p:nvSpPr>
          <p:cNvPr id="440" name="TextBox 5"/>
          <p:cNvSpPr txBox="1"/>
          <p:nvPr/>
        </p:nvSpPr>
        <p:spPr>
          <a:xfrm>
            <a:off x="822960" y="4160521"/>
            <a:ext cx="9052561" cy="1075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Manual: 6 steps, ~5 minutes, zero cost</a:t>
            </a:r>
          </a:p>
          <a:p>
            <a:pPr>
              <a:spcBef>
                <a:spcPts val="600"/>
              </a:spcBef>
              <a:defRPr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Automated: /deploy-github-pages, ~30 seconds</a:t>
            </a:r>
          </a:p>
          <a:p>
            <a:pPr>
              <a:spcBef>
                <a:spcPts val="600"/>
              </a:spcBef>
              <a:defRPr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Skill file lives in ~/.claude/commands/ — works in any project</a:t>
            </a:r>
          </a:p>
        </p:txBody>
      </p:sp>
      <p:sp>
        <p:nvSpPr>
          <p:cNvPr id="441" name="TextBox 7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442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1"/>
          <p:cNvSpPr/>
          <p:nvPr/>
        </p:nvSpPr>
        <p:spPr>
          <a:xfrm>
            <a:off x="-4828" y="0"/>
            <a:ext cx="13442824" cy="685800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TextBox 3"/>
          <p:cNvSpPr txBox="1"/>
          <p:nvPr/>
        </p:nvSpPr>
        <p:spPr>
          <a:xfrm>
            <a:off x="822960" y="2011679"/>
            <a:ext cx="7583613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3 Concept</a:t>
            </a:r>
          </a:p>
        </p:txBody>
      </p:sp>
      <p:sp>
        <p:nvSpPr>
          <p:cNvPr id="446" name="TextBox 4"/>
          <p:cNvSpPr txBox="1"/>
          <p:nvPr/>
        </p:nvSpPr>
        <p:spPr>
          <a:xfrm>
            <a:off x="822960" y="2926079"/>
            <a:ext cx="12295756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Fork, Edit, &amp; Pull Request (PR)</a:t>
            </a:r>
          </a:p>
        </p:txBody>
      </p:sp>
      <p:sp>
        <p:nvSpPr>
          <p:cNvPr id="447" name="TextBox 5"/>
          <p:cNvSpPr txBox="1"/>
          <p:nvPr/>
        </p:nvSpPr>
        <p:spPr>
          <a:xfrm>
            <a:off x="822960" y="4114800"/>
            <a:ext cx="8138160" cy="426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concept</a:t>
            </a:r>
          </a:p>
        </p:txBody>
      </p:sp>
      <p:sp>
        <p:nvSpPr>
          <p:cNvPr id="448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449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CONCEPTS</a:t>
            </a:r>
          </a:p>
        </p:txBody>
      </p:sp>
      <p:sp>
        <p:nvSpPr>
          <p:cNvPr id="45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is Forking?</a:t>
            </a:r>
          </a:p>
        </p:txBody>
      </p:sp>
      <p:sp>
        <p:nvSpPr>
          <p:cNvPr id="45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57" name="TextBox 7"/>
          <p:cNvSpPr txBox="1"/>
          <p:nvPr/>
        </p:nvSpPr>
        <p:spPr>
          <a:xfrm>
            <a:off x="700398" y="1421931"/>
            <a:ext cx="10778505" cy="2548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 fork is your personal copy of someone else's repository.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Lives under your GitHub account — you have full write access.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The original repo is called the upstream.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Changes in your fork don't affect the upstream repo until a Pull Request (PR) is merged.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You create a </a:t>
            </a:r>
            <a:r>
              <a:t>Pull Request to  propose your changes back to the original project.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Maintainers review, discuss, and merge (or decline) your PR.</a:t>
            </a:r>
          </a:p>
        </p:txBody>
      </p:sp>
      <p:sp>
        <p:nvSpPr>
          <p:cNvPr id="458" name="Rectangle 8"/>
          <p:cNvSpPr/>
          <p:nvPr/>
        </p:nvSpPr>
        <p:spPr>
          <a:xfrm>
            <a:off x="772386" y="4942277"/>
            <a:ext cx="10799108" cy="138861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Rectangle 9"/>
          <p:cNvSpPr/>
          <p:nvPr/>
        </p:nvSpPr>
        <p:spPr>
          <a:xfrm>
            <a:off x="731611" y="4923066"/>
            <a:ext cx="45401" cy="142703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TextBox 10"/>
          <p:cNvSpPr txBox="1"/>
          <p:nvPr/>
        </p:nvSpPr>
        <p:spPr>
          <a:xfrm>
            <a:off x="850940" y="4983511"/>
            <a:ext cx="2743201" cy="28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3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Example repo for today</a:t>
            </a:r>
          </a:p>
        </p:txBody>
      </p:sp>
      <p:sp>
        <p:nvSpPr>
          <p:cNvPr id="461" name="TextBox 11"/>
          <p:cNvSpPr txBox="1"/>
          <p:nvPr/>
        </p:nvSpPr>
        <p:spPr>
          <a:xfrm>
            <a:off x="870149" y="5311462"/>
            <a:ext cx="6296226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https://github.com/hd-admin/hackerdojo.org</a:t>
            </a:r>
          </a:p>
        </p:txBody>
      </p:sp>
      <p:sp>
        <p:nvSpPr>
          <p:cNvPr id="462" name="TextBox 12"/>
          <p:cNvSpPr txBox="1"/>
          <p:nvPr/>
        </p:nvSpPr>
        <p:spPr>
          <a:xfrm>
            <a:off x="868372" y="5844246"/>
            <a:ext cx="5285969" cy="27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3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Your fork: https://github.com/YOUR-USERNAME/hackerdojo.org</a:t>
            </a:r>
          </a:p>
        </p:txBody>
      </p:sp>
      <p:sp>
        <p:nvSpPr>
          <p:cNvPr id="463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CONCEPTS</a:t>
            </a:r>
          </a:p>
        </p:txBody>
      </p:sp>
      <p:sp>
        <p:nvSpPr>
          <p:cNvPr id="467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Process visualized: Fork the repo</a:t>
            </a:r>
          </a:p>
        </p:txBody>
      </p:sp>
      <p:sp>
        <p:nvSpPr>
          <p:cNvPr id="468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70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471" name="github.com/hd-admin/hackerdojo.org"/>
          <p:cNvSpPr/>
          <p:nvPr/>
        </p:nvSpPr>
        <p:spPr>
          <a:xfrm>
            <a:off x="754420" y="1555251"/>
            <a:ext cx="4297782" cy="394446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github.com/hd-admin/hackerdojo.org</a:t>
            </a:r>
          </a:p>
        </p:txBody>
      </p:sp>
      <p:pic>
        <p:nvPicPr>
          <p:cNvPr id="472" name="Screenshot 2026-06-27 at 3.33.51 AM.png" descr="Screenshot 2026-06-27 at 3.33.5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70683" y="2024715"/>
            <a:ext cx="1993901" cy="4064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pic>
      <p:sp>
        <p:nvSpPr>
          <p:cNvPr id="473" name="github.com/louisroehrs/hackerdojo.org"/>
          <p:cNvSpPr/>
          <p:nvPr/>
        </p:nvSpPr>
        <p:spPr>
          <a:xfrm>
            <a:off x="6872774" y="1566373"/>
            <a:ext cx="4698998" cy="132285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github.com/louisroehrs/hackerdojo.org</a:t>
            </a:r>
          </a:p>
        </p:txBody>
      </p:sp>
      <p:cxnSp>
        <p:nvCxnSpPr>
          <p:cNvPr id="474" name="Connection Line"/>
          <p:cNvCxnSpPr>
            <a:stCxn id="471" idx="0"/>
            <a:endCxn id="473" idx="0"/>
          </p:cNvCxnSpPr>
          <p:nvPr/>
        </p:nvCxnSpPr>
        <p:spPr>
          <a:xfrm flipV="1">
            <a:off x="2903310" y="2227801"/>
            <a:ext cx="6318964" cy="1299682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cxnSp>
      <p:sp>
        <p:nvSpPr>
          <p:cNvPr id="475" name="cd /Users/lroehrs/awork…"/>
          <p:cNvSpPr/>
          <p:nvPr/>
        </p:nvSpPr>
        <p:spPr>
          <a:xfrm>
            <a:off x="5275468" y="3304514"/>
            <a:ext cx="6583916" cy="3124951"/>
          </a:xfrm>
          <a:prstGeom prst="rect">
            <a:avLst/>
          </a:prstGeom>
          <a:solidFill>
            <a:srgbClr val="000000"/>
          </a:solidFill>
          <a:ln w="3810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/Users/lroehrs/awork</a:t>
            </a:r>
          </a:p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clone https://github.com/louisroehrs/hackerdojo.org.git</a:t>
            </a: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>
                <a:solidFill>
                  <a:srgbClr val="FAF8F5"/>
                </a:solidFill>
              </a:defRPr>
            </a:pPr>
            <a:r>
              <a:t># creates /Users/lroehrs/awork/hackerdojo.org</a:t>
            </a: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 b="1">
                <a:solidFill>
                  <a:srgbClr val="4EC9A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git remote add upstream https://github.com/&lt;original-owner&gt;/project.git</a:t>
            </a:r>
          </a:p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remote -v</a:t>
            </a:r>
          </a:p>
          <a:p>
            <a:pPr>
              <a:defRPr sz="1300">
                <a:solidFill>
                  <a:srgbClr val="4EC9A0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defRPr sz="1300">
                <a:solidFill>
                  <a:srgbClr val="4EC9A0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>
                <a:solidFill>
                  <a:srgbClr val="4EC9A0"/>
                </a:solidFill>
              </a:defRPr>
            </a:pPr>
          </a:p>
          <a:p>
            <a:pPr>
              <a:defRPr>
                <a:solidFill>
                  <a:srgbClr val="4EC9A0"/>
                </a:solidFill>
              </a:defRPr>
            </a:pPr>
          </a:p>
        </p:txBody>
      </p:sp>
      <p:cxnSp>
        <p:nvCxnSpPr>
          <p:cNvPr id="476" name="Connection Line"/>
          <p:cNvCxnSpPr>
            <a:stCxn id="473" idx="0"/>
            <a:endCxn id="475" idx="0"/>
          </p:cNvCxnSpPr>
          <p:nvPr/>
        </p:nvCxnSpPr>
        <p:spPr>
          <a:xfrm flipH="1">
            <a:off x="8567425" y="2227801"/>
            <a:ext cx="654849" cy="2639189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cxn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CONCEPTS</a:t>
            </a:r>
          </a:p>
        </p:txBody>
      </p:sp>
      <p:sp>
        <p:nvSpPr>
          <p:cNvPr id="480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Process visualized: Make a cool change</a:t>
            </a:r>
          </a:p>
        </p:txBody>
      </p:sp>
      <p:sp>
        <p:nvSpPr>
          <p:cNvPr id="481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83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484" name="github.com/hd-admin/hackerdojo.org"/>
          <p:cNvSpPr/>
          <p:nvPr/>
        </p:nvSpPr>
        <p:spPr>
          <a:xfrm>
            <a:off x="754420" y="1555251"/>
            <a:ext cx="4116974" cy="394446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github.com/hd-admin/hackerdojo.org</a:t>
            </a:r>
          </a:p>
        </p:txBody>
      </p:sp>
      <p:pic>
        <p:nvPicPr>
          <p:cNvPr id="485" name="Screenshot 2026-06-27 at 3.33.51 AM.png" descr="Screenshot 2026-06-27 at 3.33.5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70683" y="2024715"/>
            <a:ext cx="1993901" cy="4064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pic>
      <p:sp>
        <p:nvSpPr>
          <p:cNvPr id="486" name="github.com/louisroehrs/hackerdojo.org"/>
          <p:cNvSpPr/>
          <p:nvPr/>
        </p:nvSpPr>
        <p:spPr>
          <a:xfrm>
            <a:off x="7397130" y="1566373"/>
            <a:ext cx="4174642" cy="90234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github.com/louisroehrs/hackerdojo.org</a:t>
            </a:r>
          </a:p>
        </p:txBody>
      </p:sp>
      <p:cxnSp>
        <p:nvCxnSpPr>
          <p:cNvPr id="487" name="Connection Line"/>
          <p:cNvCxnSpPr>
            <a:stCxn id="484" idx="0"/>
            <a:endCxn id="486" idx="0"/>
          </p:cNvCxnSpPr>
          <p:nvPr/>
        </p:nvCxnSpPr>
        <p:spPr>
          <a:xfrm flipV="1">
            <a:off x="2812906" y="2017544"/>
            <a:ext cx="6671546" cy="1509939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cxnSp>
      <p:sp>
        <p:nvSpPr>
          <p:cNvPr id="488" name="git checkout -b my-feature-name…"/>
          <p:cNvSpPr/>
          <p:nvPr/>
        </p:nvSpPr>
        <p:spPr>
          <a:xfrm>
            <a:off x="5275467" y="3304514"/>
            <a:ext cx="6583917" cy="3124951"/>
          </a:xfrm>
          <a:prstGeom prst="rect">
            <a:avLst/>
          </a:prstGeom>
          <a:solidFill>
            <a:srgbClr val="000000"/>
          </a:solidFill>
          <a:ln w="3810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checkout -b my-feature-name</a:t>
            </a:r>
          </a:p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edit edit debug edit edit debug say things edit edit got it</a:t>
            </a:r>
          </a:p>
          <a:p>
            <a:pPr>
              <a:defRPr b="1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add .</a:t>
            </a:r>
          </a:p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commit -m “What changed and why”</a:t>
            </a:r>
          </a:p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push to your fork</a:t>
            </a:r>
          </a:p>
          <a:p>
            <a:pPr>
              <a:defRPr b="1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 origin fix-login-bug</a:t>
            </a:r>
          </a:p>
        </p:txBody>
      </p:sp>
      <p:cxnSp>
        <p:nvCxnSpPr>
          <p:cNvPr id="489" name="Connection Line"/>
          <p:cNvCxnSpPr>
            <a:stCxn id="486" idx="0"/>
            <a:endCxn id="488" idx="0"/>
          </p:cNvCxnSpPr>
          <p:nvPr/>
        </p:nvCxnSpPr>
        <p:spPr>
          <a:xfrm flipH="1">
            <a:off x="8567425" y="2017544"/>
            <a:ext cx="917027" cy="2849446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cxnSp>
      <p:sp>
        <p:nvSpPr>
          <p:cNvPr id="490" name="Never work on main!"/>
          <p:cNvSpPr txBox="1"/>
          <p:nvPr/>
        </p:nvSpPr>
        <p:spPr>
          <a:xfrm>
            <a:off x="5316802" y="2872398"/>
            <a:ext cx="2200383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Never work on main!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CONCEPTS</a:t>
            </a:r>
          </a:p>
        </p:txBody>
      </p:sp>
      <p:sp>
        <p:nvSpPr>
          <p:cNvPr id="49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Process visualized: Make a pull request</a:t>
            </a:r>
          </a:p>
        </p:txBody>
      </p:sp>
      <p:sp>
        <p:nvSpPr>
          <p:cNvPr id="49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97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498" name="github.com/hd-admin/hackerdojo.org"/>
          <p:cNvSpPr/>
          <p:nvPr/>
        </p:nvSpPr>
        <p:spPr>
          <a:xfrm>
            <a:off x="754420" y="1555251"/>
            <a:ext cx="3905537" cy="394446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github.com/hd-admin/hackerdojo.org</a:t>
            </a:r>
          </a:p>
        </p:txBody>
      </p:sp>
      <p:pic>
        <p:nvPicPr>
          <p:cNvPr id="499" name="Screenshot 2026-06-27 at 3.44.31 AM.png" descr="Screenshot 2026-06-27 at 3.44.3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30189" y="2325957"/>
            <a:ext cx="1968501" cy="469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1"/>
          <p:cNvSpPr/>
          <p:nvPr/>
        </p:nvSpPr>
        <p:spPr>
          <a:xfrm>
            <a:off x="-4828" y="0"/>
            <a:ext cx="13442824" cy="685800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TextBox 3"/>
          <p:cNvSpPr txBox="1"/>
          <p:nvPr/>
        </p:nvSpPr>
        <p:spPr>
          <a:xfrm>
            <a:off x="822960" y="2011679"/>
            <a:ext cx="8964331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3 Action</a:t>
            </a:r>
          </a:p>
        </p:txBody>
      </p:sp>
      <p:sp>
        <p:nvSpPr>
          <p:cNvPr id="503" name="TextBox 4"/>
          <p:cNvSpPr txBox="1"/>
          <p:nvPr/>
        </p:nvSpPr>
        <p:spPr>
          <a:xfrm>
            <a:off x="822960" y="2926079"/>
            <a:ext cx="12295756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Fork, Edit, &amp; Pull Request (PR)</a:t>
            </a:r>
          </a:p>
        </p:txBody>
      </p:sp>
      <p:sp>
        <p:nvSpPr>
          <p:cNvPr id="504" name="TextBox 5"/>
          <p:cNvSpPr txBox="1"/>
          <p:nvPr/>
        </p:nvSpPr>
        <p:spPr>
          <a:xfrm>
            <a:off x="822960" y="4114800"/>
            <a:ext cx="8138160" cy="426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Now, let’s do it.</a:t>
            </a:r>
          </a:p>
        </p:txBody>
      </p:sp>
      <p:sp>
        <p:nvSpPr>
          <p:cNvPr id="505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506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1 OF 4</a:t>
            </a:r>
          </a:p>
        </p:txBody>
      </p:sp>
      <p:sp>
        <p:nvSpPr>
          <p:cNvPr id="511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Fork the repository on GitHub</a:t>
            </a:r>
          </a:p>
        </p:txBody>
      </p:sp>
      <p:sp>
        <p:nvSpPr>
          <p:cNvPr id="512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514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Navigate to the repo on GitHub and click Fork in the top-right corner.</a:t>
            </a:r>
          </a:p>
        </p:txBody>
      </p:sp>
      <p:sp>
        <p:nvSpPr>
          <p:cNvPr id="515" name="TextBox 10"/>
          <p:cNvSpPr txBox="1"/>
          <p:nvPr/>
        </p:nvSpPr>
        <p:spPr>
          <a:xfrm>
            <a:off x="2016301" y="6445657"/>
            <a:ext cx="996696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💡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Your fork is fully independent. Pushes go to YOUR copy only — nothing changes upstream until you open a PR.</a:t>
            </a:r>
          </a:p>
        </p:txBody>
      </p:sp>
      <p:sp>
        <p:nvSpPr>
          <p:cNvPr id="516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pic>
        <p:nvPicPr>
          <p:cNvPr id="517" name="Screenshot 2026-06-09 at 6.05.10 PM.png" descr="Screenshot 2026-06-09 at 6.05.1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873" y="1269557"/>
            <a:ext cx="12179301" cy="5879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2 OF 4</a:t>
            </a:r>
          </a:p>
        </p:txBody>
      </p:sp>
      <p:sp>
        <p:nvSpPr>
          <p:cNvPr id="522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Clone your fork to your machine</a:t>
            </a:r>
          </a:p>
        </p:txBody>
      </p:sp>
      <p:sp>
        <p:nvSpPr>
          <p:cNvPr id="523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525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Clone YOUR fork (not the original), then add upstream so you can pull future updates.</a:t>
            </a:r>
          </a:p>
        </p:txBody>
      </p:sp>
      <p:sp>
        <p:nvSpPr>
          <p:cNvPr id="526" name="Rectangle 8"/>
          <p:cNvSpPr/>
          <p:nvPr/>
        </p:nvSpPr>
        <p:spPr>
          <a:xfrm>
            <a:off x="230999" y="1721260"/>
            <a:ext cx="11717302" cy="4633822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TextBox 9"/>
          <p:cNvSpPr txBox="1"/>
          <p:nvPr/>
        </p:nvSpPr>
        <p:spPr>
          <a:xfrm>
            <a:off x="773492" y="2087451"/>
            <a:ext cx="11170180" cy="390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Clone your fork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clone https://github.com/YOUR-USERNAME/hackerdojo.org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Enter the project folder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hackerdojo.org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Track the original as 'upstream'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remote add upstream https://github.com/hd-admin/hackerdojo.org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Confirm both remotes are set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remote -v</a:t>
            </a:r>
          </a:p>
        </p:txBody>
      </p:sp>
      <p:sp>
        <p:nvSpPr>
          <p:cNvPr id="528" name="TextBox 10"/>
          <p:cNvSpPr txBox="1"/>
          <p:nvPr/>
        </p:nvSpPr>
        <p:spPr>
          <a:xfrm>
            <a:off x="2016301" y="6477407"/>
            <a:ext cx="996696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💡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Always clone YOUR fork, not the upstream. Cloning upstream gives you no push access and skips the PR workflow.</a:t>
            </a:r>
          </a:p>
        </p:txBody>
      </p:sp>
      <p:sp>
        <p:nvSpPr>
          <p:cNvPr id="529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3 OF 4</a:t>
            </a:r>
          </a:p>
        </p:txBody>
      </p:sp>
      <p:sp>
        <p:nvSpPr>
          <p:cNvPr id="53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Create a branch, make your changes, and commit</a:t>
            </a:r>
          </a:p>
        </p:txBody>
      </p:sp>
      <p:sp>
        <p:nvSpPr>
          <p:cNvPr id="53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537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on a dedicated branch — never commit directly to main.</a:t>
            </a:r>
          </a:p>
        </p:txBody>
      </p:sp>
      <p:sp>
        <p:nvSpPr>
          <p:cNvPr id="538" name="Rectangle 8"/>
          <p:cNvSpPr/>
          <p:nvPr/>
        </p:nvSpPr>
        <p:spPr>
          <a:xfrm>
            <a:off x="731519" y="1701636"/>
            <a:ext cx="11289047" cy="4653446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TextBox 9"/>
          <p:cNvSpPr txBox="1"/>
          <p:nvPr/>
        </p:nvSpPr>
        <p:spPr>
          <a:xfrm>
            <a:off x="984823" y="2077639"/>
            <a:ext cx="9325839" cy="390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Create and switch to a feature branch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checkout -b fix/update-homepage-text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Edit the file you want to change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e.g. open index.html in your favorite editor or agent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Stage your changes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add index.html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Commit with a clear, descriptive message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commit -m "Update homepage welcome text"</a:t>
            </a:r>
          </a:p>
        </p:txBody>
      </p:sp>
      <p:sp>
        <p:nvSpPr>
          <p:cNvPr id="540" name="TextBox 10"/>
          <p:cNvSpPr txBox="1"/>
          <p:nvPr/>
        </p:nvSpPr>
        <p:spPr>
          <a:xfrm>
            <a:off x="2016301" y="6477407"/>
            <a:ext cx="996696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💡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Branch names like fix/…, feat/…, or docs/… signal intent at a glance and keep your main branch clean.</a:t>
            </a:r>
          </a:p>
        </p:txBody>
      </p:sp>
      <p:sp>
        <p:nvSpPr>
          <p:cNvPr id="541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4 OF 4</a:t>
            </a:r>
          </a:p>
        </p:txBody>
      </p:sp>
      <p:sp>
        <p:nvSpPr>
          <p:cNvPr id="546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Push your branch and open a Pull Request</a:t>
            </a:r>
          </a:p>
        </p:txBody>
      </p:sp>
      <p:sp>
        <p:nvSpPr>
          <p:cNvPr id="547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549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Push the branch to YOUR fork, then open a PR against the upstream repo.</a:t>
            </a:r>
          </a:p>
        </p:txBody>
      </p:sp>
      <p:sp>
        <p:nvSpPr>
          <p:cNvPr id="550" name="Rectangle 8"/>
          <p:cNvSpPr/>
          <p:nvPr/>
        </p:nvSpPr>
        <p:spPr>
          <a:xfrm>
            <a:off x="731519" y="1965959"/>
            <a:ext cx="10698482" cy="438912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TextBox 9"/>
          <p:cNvSpPr txBox="1"/>
          <p:nvPr/>
        </p:nvSpPr>
        <p:spPr>
          <a:xfrm>
            <a:off x="1051558" y="2148839"/>
            <a:ext cx="9661175" cy="390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Push the branch to your fork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 -u origin fix/update-homepage-text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Open a PR with the GitHub CLI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pr create --repo hd-admin/hackerdojo.org \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--title "Update homepage welcome text" \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--body "Improves the welcome message for new visitors."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GitHub also prints a URL after the push — open it to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create the PR in the browser instead.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</p:txBody>
      </p:sp>
      <p:sp>
        <p:nvSpPr>
          <p:cNvPr id="552" name="TextBox 10"/>
          <p:cNvSpPr txBox="1"/>
          <p:nvPr/>
        </p:nvSpPr>
        <p:spPr>
          <a:xfrm>
            <a:off x="2005178" y="6445657"/>
            <a:ext cx="996696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💡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After your PR is merged: git pull upstream main &amp;&amp; git push origin main  keeps your fork in sync.</a:t>
            </a:r>
          </a:p>
        </p:txBody>
      </p:sp>
      <p:sp>
        <p:nvSpPr>
          <p:cNvPr id="553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6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7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4 OF 4</a:t>
            </a:r>
          </a:p>
        </p:txBody>
      </p:sp>
      <p:sp>
        <p:nvSpPr>
          <p:cNvPr id="558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After PR is merged</a:t>
            </a:r>
          </a:p>
        </p:txBody>
      </p:sp>
      <p:sp>
        <p:nvSpPr>
          <p:cNvPr id="559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0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561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Get the latest back into your repository and on your machine.</a:t>
            </a:r>
          </a:p>
        </p:txBody>
      </p:sp>
      <p:sp>
        <p:nvSpPr>
          <p:cNvPr id="562" name="Rectangle 8"/>
          <p:cNvSpPr/>
          <p:nvPr/>
        </p:nvSpPr>
        <p:spPr>
          <a:xfrm>
            <a:off x="731519" y="1624380"/>
            <a:ext cx="10698482" cy="4730702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3" name="TextBox 9"/>
          <p:cNvSpPr txBox="1"/>
          <p:nvPr/>
        </p:nvSpPr>
        <p:spPr>
          <a:xfrm>
            <a:off x="1040436" y="1880261"/>
            <a:ext cx="10331843" cy="421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Get the latest code from upstream (hd-admin/hackerdojo.org)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pull upstream main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Now the latest is on your machine but not in your </a:t>
            </a: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github.com repository.</a:t>
            </a: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Let’s push it there.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 origin main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You can also use the UI to sync your github.com repo and </a:t>
            </a: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do: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pull origin main</a:t>
            </a:r>
            <a:endParaRPr>
              <a:solidFill>
                <a:srgbClr val="E5C07B"/>
              </a:solidFill>
            </a:endParaRPr>
          </a:p>
        </p:txBody>
      </p:sp>
      <p:sp>
        <p:nvSpPr>
          <p:cNvPr id="564" name="TextBox 10"/>
          <p:cNvSpPr txBox="1"/>
          <p:nvPr/>
        </p:nvSpPr>
        <p:spPr>
          <a:xfrm>
            <a:off x="2005178" y="6445657"/>
            <a:ext cx="9966961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D97A16"/>
                </a:solidFill>
              </a:defRPr>
            </a:lvl1pPr>
          </a:lstStyle>
          <a:p>
            <a:pPr/>
            <a:r>
              <a:t>Now, everything is in sync and ready for the next branch.</a:t>
            </a:r>
          </a:p>
        </p:txBody>
      </p:sp>
      <p:sp>
        <p:nvSpPr>
          <p:cNvPr id="565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Rectangle 1"/>
          <p:cNvSpPr/>
          <p:nvPr/>
        </p:nvSpPr>
        <p:spPr>
          <a:xfrm>
            <a:off x="-4828" y="0"/>
            <a:ext cx="13442824" cy="685800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8" name="TextBox 3"/>
          <p:cNvSpPr txBox="1"/>
          <p:nvPr/>
        </p:nvSpPr>
        <p:spPr>
          <a:xfrm>
            <a:off x="822960" y="2011679"/>
            <a:ext cx="9976619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4 Domain Name</a:t>
            </a:r>
          </a:p>
        </p:txBody>
      </p:sp>
      <p:sp>
        <p:nvSpPr>
          <p:cNvPr id="569" name="TextBox 4"/>
          <p:cNvSpPr txBox="1"/>
          <p:nvPr/>
        </p:nvSpPr>
        <p:spPr>
          <a:xfrm>
            <a:off x="822960" y="2926079"/>
            <a:ext cx="12295756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Git yer CNAME in lights</a:t>
            </a:r>
          </a:p>
        </p:txBody>
      </p:sp>
      <p:sp>
        <p:nvSpPr>
          <p:cNvPr id="570" name="TextBox 5"/>
          <p:cNvSpPr txBox="1"/>
          <p:nvPr/>
        </p:nvSpPr>
        <p:spPr>
          <a:xfrm>
            <a:off x="822960" y="4114799"/>
            <a:ext cx="9474085" cy="426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 one of those domains you registered years ago for your new site!</a:t>
            </a:r>
          </a:p>
        </p:txBody>
      </p:sp>
      <p:sp>
        <p:nvSpPr>
          <p:cNvPr id="571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572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5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6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1 OF 4</a:t>
            </a:r>
          </a:p>
        </p:txBody>
      </p:sp>
      <p:sp>
        <p:nvSpPr>
          <p:cNvPr id="577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Add a CNAME file to the root of your site.</a:t>
            </a:r>
          </a:p>
        </p:txBody>
      </p:sp>
      <p:sp>
        <p:nvSpPr>
          <p:cNvPr id="578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9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580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directory as your index.html. It contains your domain name.</a:t>
            </a:r>
          </a:p>
        </p:txBody>
      </p:sp>
      <p:sp>
        <p:nvSpPr>
          <p:cNvPr id="581" name="Rectangle 8"/>
          <p:cNvSpPr/>
          <p:nvPr/>
        </p:nvSpPr>
        <p:spPr>
          <a:xfrm>
            <a:off x="701192" y="2643591"/>
            <a:ext cx="11247109" cy="1570818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2" name="TextBox 9"/>
          <p:cNvSpPr txBox="1"/>
          <p:nvPr/>
        </p:nvSpPr>
        <p:spPr>
          <a:xfrm>
            <a:off x="873596" y="2907031"/>
            <a:ext cx="2116147" cy="104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teletrex.com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</p:txBody>
      </p:sp>
      <p:sp>
        <p:nvSpPr>
          <p:cNvPr id="583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584" name="TextBox 7"/>
          <p:cNvSpPr txBox="1"/>
          <p:nvPr/>
        </p:nvSpPr>
        <p:spPr>
          <a:xfrm>
            <a:off x="786128" y="2195638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CNAME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Screenshot 2026-06-27 at 7.53.20 AM.png" descr="Screenshot 2026-06-27 at 7.53.2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98668" y="1728339"/>
            <a:ext cx="7381964" cy="490905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pic>
      <p:sp>
        <p:nvSpPr>
          <p:cNvPr id="587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8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2 OF 4</a:t>
            </a:r>
          </a:p>
        </p:txBody>
      </p:sp>
      <p:sp>
        <p:nvSpPr>
          <p:cNvPr id="589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Tell Github Pages about it.</a:t>
            </a:r>
          </a:p>
        </p:txBody>
      </p:sp>
      <p:sp>
        <p:nvSpPr>
          <p:cNvPr id="590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1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592" name="TextBox 7"/>
          <p:cNvSpPr txBox="1"/>
          <p:nvPr/>
        </p:nvSpPr>
        <p:spPr>
          <a:xfrm>
            <a:off x="786128" y="1301175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Settings -&gt; Pages   https://github.com/&lt;username&gt;/&lt;repository name&gt;/settings/pages</a:t>
            </a:r>
          </a:p>
        </p:txBody>
      </p:sp>
      <p:sp>
        <p:nvSpPr>
          <p:cNvPr id="593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6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3 OF 4</a:t>
            </a:r>
          </a:p>
        </p:txBody>
      </p:sp>
      <p:sp>
        <p:nvSpPr>
          <p:cNvPr id="597" name="TextBox 4"/>
          <p:cNvSpPr txBox="1"/>
          <p:nvPr/>
        </p:nvSpPr>
        <p:spPr>
          <a:xfrm>
            <a:off x="777239" y="518922"/>
            <a:ext cx="11428790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Tell your domain registrar where to point your domain.</a:t>
            </a:r>
          </a:p>
        </p:txBody>
      </p:sp>
      <p:sp>
        <p:nvSpPr>
          <p:cNvPr id="598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9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600" name="TextBox 7"/>
          <p:cNvSpPr txBox="1"/>
          <p:nvPr/>
        </p:nvSpPr>
        <p:spPr>
          <a:xfrm>
            <a:off x="697147" y="1674339"/>
            <a:ext cx="5040219" cy="4657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Varies by domain registrar.  GoDaddy shown here.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Login to Domain Registar where your domain name is registered.  GoDaddy, Network Solutions, etc.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Look for Domain management.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Look for DNS Records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Set A records to github domains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Set CNAME www record.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Check back tomorrow.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601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pic>
        <p:nvPicPr>
          <p:cNvPr id="602" name="Screenshot 2026-06-27 at 7.59.50 AM.png" descr="Screenshot 2026-06-27 at 7.59.5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99077" y="1610517"/>
            <a:ext cx="5726627" cy="478503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5" name="TextBox 3"/>
          <p:cNvSpPr txBox="1"/>
          <p:nvPr/>
        </p:nvSpPr>
        <p:spPr>
          <a:xfrm>
            <a:off x="788362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4 OF 4</a:t>
            </a:r>
          </a:p>
        </p:txBody>
      </p:sp>
      <p:sp>
        <p:nvSpPr>
          <p:cNvPr id="606" name="TextBox 4"/>
          <p:cNvSpPr txBox="1"/>
          <p:nvPr/>
        </p:nvSpPr>
        <p:spPr>
          <a:xfrm>
            <a:off x="777239" y="518922"/>
            <a:ext cx="11428790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Take a break.</a:t>
            </a:r>
          </a:p>
        </p:txBody>
      </p:sp>
      <p:sp>
        <p:nvSpPr>
          <p:cNvPr id="607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8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609" name="TextBox 7"/>
          <p:cNvSpPr txBox="1"/>
          <p:nvPr/>
        </p:nvSpPr>
        <p:spPr>
          <a:xfrm>
            <a:off x="741638" y="1474131"/>
            <a:ext cx="3340844" cy="414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The domain will take overnight to propagate.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Check github to see if your domain was validated.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If so, enforce https.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Github will set up a certificate so that your site will work at https in addition to http giving your site more social web cred.</a:t>
            </a: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610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pic>
        <p:nvPicPr>
          <p:cNvPr id="611" name="Screenshot 2026-06-27 at 7.53.20 AM.png" descr="Screenshot 2026-06-27 at 7.53.2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00745" y="1472518"/>
            <a:ext cx="7381964" cy="490905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TextBox 4"/>
          <p:cNvSpPr txBox="1"/>
          <p:nvPr/>
        </p:nvSpPr>
        <p:spPr>
          <a:xfrm>
            <a:off x="822960" y="2560321"/>
            <a:ext cx="9052561" cy="12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You're ready.</a:t>
            </a:r>
          </a:p>
        </p:txBody>
      </p:sp>
      <p:sp>
        <p:nvSpPr>
          <p:cNvPr id="614" name="TextBox 5"/>
          <p:cNvSpPr txBox="1"/>
          <p:nvPr/>
        </p:nvSpPr>
        <p:spPr>
          <a:xfrm>
            <a:off x="822960" y="4160521"/>
            <a:ext cx="9052561" cy="364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   Now you can contribute to any open source project the right way.</a:t>
            </a:r>
          </a:p>
        </p:txBody>
      </p:sp>
      <p:sp>
        <p:nvSpPr>
          <p:cNvPr id="615" name="TextBox 7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616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9" name="TextBox 3"/>
          <p:cNvSpPr txBox="1"/>
          <p:nvPr/>
        </p:nvSpPr>
        <p:spPr>
          <a:xfrm>
            <a:off x="822960" y="2011679"/>
            <a:ext cx="8472180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Next session</a:t>
            </a:r>
          </a:p>
        </p:txBody>
      </p:sp>
      <p:sp>
        <p:nvSpPr>
          <p:cNvPr id="620" name="TextBox 4"/>
          <p:cNvSpPr txBox="1"/>
          <p:nvPr/>
        </p:nvSpPr>
        <p:spPr>
          <a:xfrm>
            <a:off x="822960" y="2926079"/>
            <a:ext cx="9052561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How to chat with your site.</a:t>
            </a:r>
          </a:p>
        </p:txBody>
      </p:sp>
      <p:sp>
        <p:nvSpPr>
          <p:cNvPr id="621" name="TextBox 5"/>
          <p:cNvSpPr txBox="1"/>
          <p:nvPr/>
        </p:nvSpPr>
        <p:spPr>
          <a:xfrm>
            <a:off x="822960" y="4114800"/>
            <a:ext cx="8138160" cy="111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QR Code to get on the list.</a:t>
            </a:r>
          </a:p>
          <a:p>
            <a:pPr>
              <a:defRPr sz="2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622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623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